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6"/>
  </p:notesMasterIdLst>
  <p:handoutMasterIdLst>
    <p:handoutMasterId r:id="rId17"/>
  </p:handoutMasterIdLst>
  <p:sldIdLst>
    <p:sldId id="256" r:id="rId2"/>
    <p:sldId id="289" r:id="rId3"/>
    <p:sldId id="290" r:id="rId4"/>
    <p:sldId id="300" r:id="rId5"/>
    <p:sldId id="301" r:id="rId6"/>
    <p:sldId id="304" r:id="rId7"/>
    <p:sldId id="302" r:id="rId8"/>
    <p:sldId id="295" r:id="rId9"/>
    <p:sldId id="303" r:id="rId10"/>
    <p:sldId id="296" r:id="rId11"/>
    <p:sldId id="293" r:id="rId12"/>
    <p:sldId id="299" r:id="rId13"/>
    <p:sldId id="298" r:id="rId14"/>
    <p:sldId id="288" r:id="rId15"/>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5033" autoAdjust="0"/>
  </p:normalViewPr>
  <p:slideViewPr>
    <p:cSldViewPr>
      <p:cViewPr>
        <p:scale>
          <a:sx n="66" d="100"/>
          <a:sy n="66" d="100"/>
        </p:scale>
        <p:origin x="1284" y="126"/>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16/03/2026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16/03/2026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2FE488-4E66-AF04-A35A-BCA49383BB7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B485F94-8FAB-447E-E341-32CA1FCEFD4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EBD403A0-7CB2-7918-1493-CCD360CFFBC4}"/>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A389E9D-397F-6C32-926C-A9D04CF3E67A}"/>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32849326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8975C8-8149-A7E2-71C2-53FFB8A3804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266304E-DCC3-3C88-7DEE-29A5D9EC27E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4E6E9CE3-F1A8-CD1C-C5C9-8A7144DAF87B}"/>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0A09B51C-BE01-676E-7D38-AEF1C18E326F}"/>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234478064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65839-8CE1-5283-E691-8B831E64A04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FE68D19-98F5-44C9-F03B-99887395EB6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0106AE8-49BD-5392-FD40-39CBFCC44D95}"/>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C6BB8905-9351-4C18-1512-01B7D2E2D7C8}"/>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13671614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EC1C31-4D3D-513B-5024-3611E0FCBC5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0C18478-92BE-9A29-2CB6-0CEC1336BC24}"/>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BB4B91D-4EA7-3A1A-D66A-48B274B2BF4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60D14FB1-F995-68C3-1ED4-67F8AEB9C9FC}"/>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33011204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2B2A21-C6A2-C5B9-2DCA-3754617037C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BC95D30-E081-8AAE-817B-40A03306A70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A6FC665-BCC5-C316-DC0F-D9DFBC4440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4DB17553-B500-6323-E98B-E84BE727295F}"/>
              </a:ext>
            </a:extLst>
          </p:cNvPr>
          <p:cNvSpPr>
            <a:spLocks noGrp="1"/>
          </p:cNvSpPr>
          <p:nvPr>
            <p:ph type="sldNum" sz="quarter" idx="5"/>
          </p:nvPr>
        </p:nvSpPr>
        <p:spPr/>
        <p:txBody>
          <a:bodyPr/>
          <a:lstStyle/>
          <a:p>
            <a:fld id="{676223B9-C868-4436-87D9-1A3152E1157A}" type="slidenum">
              <a:rPr lang="es-ES" smtClean="0"/>
              <a:t>8</a:t>
            </a:fld>
            <a:endParaRPr lang="es-ES"/>
          </a:p>
        </p:txBody>
      </p:sp>
    </p:spTree>
    <p:extLst>
      <p:ext uri="{BB962C8B-B14F-4D97-AF65-F5344CB8AC3E}">
        <p14:creationId xmlns:p14="http://schemas.microsoft.com/office/powerpoint/2010/main" val="25376748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2DD022-CC09-7035-2671-68750B4D2060}"/>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01D861D4-5E6C-75E1-44E5-BEB6C115667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0301FA4-F973-C7E2-7522-BA1A3F792D3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AFA5614-7030-373E-360F-9F03C8EE7B73}"/>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111234270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DDBC6-7EB2-AE62-0F4B-A0A0672ADDB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98084C1-6F54-16C8-7D2F-21346675C89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E869975-D523-6D26-7FF4-105B03035773}"/>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0561EB6-B461-33D1-E122-96F4761D22F7}"/>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10737731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291738271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F0654B-42E1-EAF4-BE89-36C7316061F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A1E3869-9EA1-0926-9172-65F71C48285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A21554DC-1EF0-8487-96AC-9AA712B92800}"/>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4CB821DD-D99C-C540-5F48-3C4B0E5289C8}"/>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34505900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500804-44DC-B533-9400-CDECF2673A5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D762BE2-355B-23B5-1152-51B7EF9E84F8}"/>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046D4F4-20D0-D01D-088C-44F6ACC356A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DFF46F51-99CF-52E5-4414-92D337DCB687}"/>
              </a:ext>
            </a:extLst>
          </p:cNvPr>
          <p:cNvSpPr>
            <a:spLocks noGrp="1"/>
          </p:cNvSpPr>
          <p:nvPr>
            <p:ph type="sldNum" sz="quarter" idx="5"/>
          </p:nvPr>
        </p:nvSpPr>
        <p:spPr/>
        <p:txBody>
          <a:bodyPr/>
          <a:lstStyle/>
          <a:p>
            <a:fld id="{676223B9-C868-4436-87D9-1A3152E1157A}" type="slidenum">
              <a:rPr lang="es-ES" smtClean="0"/>
              <a:t>13</a:t>
            </a:fld>
            <a:endParaRPr lang="es-ES"/>
          </a:p>
        </p:txBody>
      </p:sp>
    </p:spTree>
    <p:extLst>
      <p:ext uri="{BB962C8B-B14F-4D97-AF65-F5344CB8AC3E}">
        <p14:creationId xmlns:p14="http://schemas.microsoft.com/office/powerpoint/2010/main" val="25330476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
        <p:nvSpPr>
          <p:cNvPr id="8" name="Holder 4">
            <a:extLst>
              <a:ext uri="{FF2B5EF4-FFF2-40B4-BE49-F238E27FC236}">
                <a16:creationId xmlns:a16="http://schemas.microsoft.com/office/drawing/2014/main" id="{4A8576ED-D269-3C6B-30E8-402BA30F4741}"/>
              </a:ext>
            </a:extLst>
          </p:cNvPr>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3. INTERFEROMETERS I</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
        <p:nvSpPr>
          <p:cNvPr id="8" name="Holder 4">
            <a:extLst>
              <a:ext uri="{FF2B5EF4-FFF2-40B4-BE49-F238E27FC236}">
                <a16:creationId xmlns:a16="http://schemas.microsoft.com/office/drawing/2014/main" id="{085B3A29-7AE1-3DAD-3BD8-A0E9707EE888}"/>
              </a:ext>
            </a:extLst>
          </p:cNvPr>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10.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3.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6.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3.png"/><Relationship Id="rId7" Type="http://schemas.openxmlformats.org/officeDocument/2006/relationships/image" Target="../media/image19.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4.svg"/><Relationship Id="rId9" Type="http://schemas.openxmlformats.org/officeDocument/2006/relationships/image" Target="../media/image21.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3.png"/><Relationship Id="rId7" Type="http://schemas.openxmlformats.org/officeDocument/2006/relationships/image" Target="../media/image28.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4.svg"/><Relationship Id="rId9" Type="http://schemas.openxmlformats.org/officeDocument/2006/relationships/image" Target="../media/image30.png"/></Relationships>
</file>

<file path=ppt/slides/_rels/slide8.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150.png"/><Relationship Id="rId7" Type="http://schemas.openxmlformats.org/officeDocument/2006/relationships/image" Target="../media/image250.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240.png"/><Relationship Id="rId5" Type="http://schemas.openxmlformats.org/officeDocument/2006/relationships/image" Target="../media/image4.sv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270.png"/><Relationship Id="rId7" Type="http://schemas.openxmlformats.org/officeDocument/2006/relationships/image" Target="../media/image280.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40.png"/><Relationship Id="rId5" Type="http://schemas.openxmlformats.org/officeDocument/2006/relationships/image" Target="../media/image4.sv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35.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290.png"/><Relationship Id="rId4" Type="http://schemas.openxmlformats.org/officeDocument/2006/relationships/image" Target="../media/image4.svg"/></Relationships>
</file>

<file path=ppt/slides/_rels/slide12.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3.png"/><Relationship Id="rId7" Type="http://schemas.openxmlformats.org/officeDocument/2006/relationships/image" Target="../media/image38.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4.svg"/></Relationships>
</file>

<file path=ppt/slides/_rels/slide13.xml.rels><?xml version="1.0" encoding="UTF-8" standalone="yes"?>
<Relationships xmlns="http://schemas.openxmlformats.org/package/2006/relationships"><Relationship Id="rId8" Type="http://schemas.openxmlformats.org/officeDocument/2006/relationships/image" Target="../media/image41.png"/><Relationship Id="rId3" Type="http://schemas.openxmlformats.org/officeDocument/2006/relationships/image" Target="../media/image3.png"/><Relationship Id="rId7"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40.png"/><Relationship Id="rId11" Type="http://schemas.openxmlformats.org/officeDocument/2006/relationships/image" Target="../media/image360.png"/><Relationship Id="rId5" Type="http://schemas.openxmlformats.org/officeDocument/2006/relationships/image" Target="../media/image320.png"/><Relationship Id="rId10" Type="http://schemas.openxmlformats.org/officeDocument/2006/relationships/image" Target="../media/image43.png"/><Relationship Id="rId4" Type="http://schemas.openxmlformats.org/officeDocument/2006/relationships/image" Target="../media/image4.svg"/><Relationship Id="rId9" Type="http://schemas.openxmlformats.org/officeDocument/2006/relationships/image" Target="../media/image42.png"/></Relationships>
</file>

<file path=ppt/slides/_rels/slide14.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8299324" cy="505267"/>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3. </a:t>
            </a:r>
            <a:r>
              <a:rPr lang="es-ES" sz="3200" b="1" dirty="0" err="1">
                <a:latin typeface="Lucida Sans"/>
                <a:cs typeface="Lucida Sans"/>
              </a:rPr>
              <a:t>Interferometers</a:t>
            </a:r>
            <a:r>
              <a:rPr lang="es-ES" sz="3200" b="1" dirty="0">
                <a:latin typeface="Lucida Sans"/>
                <a:cs typeface="Lucida Sans"/>
              </a:rPr>
              <a:t> I - MZI</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Paula Daniela Ortiz Cuervo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b="1" kern="0" dirty="0">
                <a:solidFill>
                  <a:sysClr val="windowText" lastClr="000000"/>
                </a:solidFill>
              </a:rPr>
              <a:t>SOFTWARE</a:t>
            </a:r>
          </a:p>
          <a:p>
            <a:pPr marL="342900" indent="-342900">
              <a:buFont typeface="Arial" panose="020B0604020202020204" pitchFamily="34" charset="0"/>
              <a:buChar char="•"/>
            </a:pPr>
            <a:r>
              <a:rPr lang="en-US" kern="0" dirty="0">
                <a:solidFill>
                  <a:sysClr val="windowText" lastClr="000000"/>
                </a:solidFill>
              </a:rPr>
              <a:t>Python notebook supplied by instructors</a:t>
            </a:r>
            <a:endParaRPr lang="en-US" kern="0" dirty="0">
              <a:solidFill>
                <a:sysClr val="windowText" lastClr="000000"/>
              </a:solidFill>
              <a:sym typeface="Wingdings" pitchFamily="2" charset="2"/>
            </a:endParaRPr>
          </a:p>
          <a:p>
            <a:pPr algn="just"/>
            <a:endParaRPr lang="en-US" sz="2000" b="1" kern="0" dirty="0">
              <a:solidFill>
                <a:sysClr val="windowText" lastClr="000000"/>
              </a:solidFill>
              <a:sym typeface="Wingdings" pitchFamily="2" charset="2"/>
            </a:endParaRPr>
          </a:p>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a:t>
            </a:r>
            <a:r>
              <a:rPr lang="en-US" kern="0" dirty="0" err="1">
                <a:solidFill>
                  <a:sysClr val="windowText" lastClr="000000"/>
                </a:solidFill>
                <a:sym typeface="Wingdings" pitchFamily="2" charset="2"/>
              </a:rPr>
              <a:t>Poliformat</a:t>
            </a:r>
            <a:r>
              <a:rPr lang="en-US" kern="0" dirty="0">
                <a:solidFill>
                  <a:sysClr val="windowText" lastClr="000000"/>
                </a:solidFill>
                <a:sym typeface="Wingdings" pitchFamily="2" charset="2"/>
              </a:rPr>
              <a:t>  download the 030_INTERFEROMETERS_v2025_Student_UPDATE2.ipynb</a:t>
            </a:r>
          </a:p>
          <a:p>
            <a:pPr marL="342900" indent="-342900" algn="just">
              <a:buFont typeface="Arial" panose="020B0604020202020204" pitchFamily="34" charset="0"/>
              <a:buChar char="•"/>
            </a:pPr>
            <a:r>
              <a:rPr lang="en-US" kern="0" dirty="0">
                <a:solidFill>
                  <a:sysClr val="windowText" lastClr="000000"/>
                </a:solidFill>
              </a:rPr>
              <a:t>Either run locally or at Cloud workspace</a:t>
            </a:r>
          </a:p>
          <a:p>
            <a:pPr algn="just"/>
            <a:endParaRPr lang="en-US" b="1" i="1" dirty="0"/>
          </a:p>
          <a:p>
            <a:pPr algn="just"/>
            <a:r>
              <a:rPr lang="en-US" b="1" i="1" dirty="0"/>
              <a:t>COMPONENT </a:t>
            </a:r>
            <a:r>
              <a:rPr lang="en-US" i="1" dirty="0"/>
              <a:t>to be studied: Mach-</a:t>
            </a:r>
            <a:r>
              <a:rPr lang="en-US" i="1" dirty="0" err="1"/>
              <a:t>Zendher</a:t>
            </a:r>
            <a:r>
              <a:rPr lang="en-US" i="1" dirty="0"/>
              <a:t> Interferometer (MZI)</a:t>
            </a:r>
            <a:endParaRPr lang="en-US" b="1" i="1" dirty="0"/>
          </a:p>
          <a:p>
            <a:pPr algn="just"/>
            <a:endParaRPr lang="en-US" sz="2000" b="1" i="1" dirty="0"/>
          </a:p>
          <a:p>
            <a:pPr algn="just"/>
            <a:endParaRPr lang="en-US" sz="2000" kern="0" dirty="0">
              <a:solidFill>
                <a:sysClr val="windowText" lastClr="000000"/>
              </a:solidFill>
            </a:endParaRPr>
          </a:p>
        </p:txBody>
      </p:sp>
      <p:sp>
        <p:nvSpPr>
          <p:cNvPr id="6" name="Rectángulo 5">
            <a:extLst>
              <a:ext uri="{FF2B5EF4-FFF2-40B4-BE49-F238E27FC236}">
                <a16:creationId xmlns:a16="http://schemas.microsoft.com/office/drawing/2014/main" id="{35FA208B-932F-D4ED-88E9-25FD18EC7B01}"/>
              </a:ext>
            </a:extLst>
          </p:cNvPr>
          <p:cNvSpPr/>
          <p:nvPr/>
        </p:nvSpPr>
        <p:spPr>
          <a:xfrm>
            <a:off x="4561100" y="4664608"/>
            <a:ext cx="3222171"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3" name="Rectángulo 12">
            <a:extLst>
              <a:ext uri="{FF2B5EF4-FFF2-40B4-BE49-F238E27FC236}">
                <a16:creationId xmlns:a16="http://schemas.microsoft.com/office/drawing/2014/main" id="{C4EDD22A-FE36-2345-71E2-5ADFA2129F2D}"/>
              </a:ext>
            </a:extLst>
          </p:cNvPr>
          <p:cNvSpPr/>
          <p:nvPr/>
        </p:nvSpPr>
        <p:spPr>
          <a:xfrm>
            <a:off x="4561099" y="5095683"/>
            <a:ext cx="3222171"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D94160E-A324-6E21-DC14-0EE2D556E973}"/>
                  </a:ext>
                </a:extLst>
              </p:cNvPr>
              <p:cNvSpPr txBox="1"/>
              <p:nvPr/>
            </p:nvSpPr>
            <p:spPr>
              <a:xfrm>
                <a:off x="5634197" y="4293214"/>
                <a:ext cx="1245321" cy="369332"/>
              </a:xfrm>
              <a:prstGeom prst="rect">
                <a:avLst/>
              </a:prstGeom>
              <a:noFill/>
            </p:spPr>
            <p:txBody>
              <a:bodyPr wrap="square" rtlCol="0">
                <a:spAutoFit/>
              </a:bodyPr>
              <a:lstStyle/>
              <a:p>
                <a:pPr algn="ctr"/>
                <a14:m>
                  <m:oMath xmlns:m="http://schemas.openxmlformats.org/officeDocument/2006/math">
                    <m:sSub>
                      <m:sSubPr>
                        <m:ctrlPr>
                          <a:rPr lang="en-US" i="1" dirty="0" smtClean="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𝛽</m:t>
                        </m:r>
                      </m:e>
                      <m:sub>
                        <m:r>
                          <a:rPr lang="es-ES" b="0" i="1" dirty="0" smtClean="0">
                            <a:solidFill>
                              <a:schemeClr val="tx1"/>
                            </a:solidFill>
                            <a:latin typeface="Cambria Math" panose="02040503050406030204" pitchFamily="18" charset="0"/>
                          </a:rPr>
                          <m:t>𝑢</m:t>
                        </m:r>
                      </m:sub>
                    </m:sSub>
                  </m:oMath>
                </a14:m>
                <a:r>
                  <a:rPr lang="en-US" dirty="0">
                    <a:solidFill>
                      <a:schemeClr val="tx1"/>
                    </a:solidFill>
                  </a:rPr>
                  <a:t>, </a:t>
                </a:r>
                <a14:m>
                  <m:oMath xmlns:m="http://schemas.openxmlformats.org/officeDocument/2006/math">
                    <m:sSub>
                      <m:sSubPr>
                        <m:ctrlPr>
                          <a:rPr lang="en-US" i="1" dirty="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𝐿</m:t>
                        </m:r>
                      </m:e>
                      <m:sub>
                        <m:r>
                          <a:rPr lang="es-ES" i="1" dirty="0">
                            <a:solidFill>
                              <a:schemeClr val="tx1"/>
                            </a:solidFill>
                            <a:latin typeface="Cambria Math" panose="02040503050406030204" pitchFamily="18" charset="0"/>
                          </a:rPr>
                          <m:t>𝑢</m:t>
                        </m:r>
                      </m:sub>
                    </m:sSub>
                  </m:oMath>
                </a14:m>
                <a:r>
                  <a:rPr lang="en-US" dirty="0">
                    <a:solidFill>
                      <a:schemeClr val="tx1"/>
                    </a:solidFill>
                  </a:rPr>
                  <a:t> </a:t>
                </a:r>
              </a:p>
            </p:txBody>
          </p:sp>
        </mc:Choice>
        <mc:Fallback xmlns="">
          <p:sp>
            <p:nvSpPr>
              <p:cNvPr id="22" name="CuadroTexto 21">
                <a:extLst>
                  <a:ext uri="{FF2B5EF4-FFF2-40B4-BE49-F238E27FC236}">
                    <a16:creationId xmlns:a16="http://schemas.microsoft.com/office/drawing/2014/main" id="{0D94160E-A324-6E21-DC14-0EE2D556E973}"/>
                  </a:ext>
                </a:extLst>
              </p:cNvPr>
              <p:cNvSpPr txBox="1">
                <a:spLocks noRot="1" noChangeAspect="1" noMove="1" noResize="1" noEditPoints="1" noAdjustHandles="1" noChangeArrowheads="1" noChangeShapeType="1" noTextEdit="1"/>
              </p:cNvSpPr>
              <p:nvPr/>
            </p:nvSpPr>
            <p:spPr>
              <a:xfrm>
                <a:off x="5634197" y="4293214"/>
                <a:ext cx="1245321" cy="369332"/>
              </a:xfrm>
              <a:prstGeom prst="rect">
                <a:avLst/>
              </a:prstGeom>
              <a:blipFill>
                <a:blip r:embed="rId4"/>
                <a:stretch>
                  <a:fillRect t="-8197" b="-24590"/>
                </a:stretch>
              </a:blipFill>
            </p:spPr>
            <p:txBody>
              <a:bodyPr/>
              <a:lstStyle/>
              <a:p>
                <a:r>
                  <a:rPr lang="es-ES">
                    <a:noFill/>
                  </a:rPr>
                  <a:t> </a:t>
                </a:r>
              </a:p>
            </p:txBody>
          </p:sp>
        </mc:Fallback>
      </mc:AlternateContent>
      <p:sp>
        <p:nvSpPr>
          <p:cNvPr id="14" name="Rectángulo 13">
            <a:extLst>
              <a:ext uri="{FF2B5EF4-FFF2-40B4-BE49-F238E27FC236}">
                <a16:creationId xmlns:a16="http://schemas.microsoft.com/office/drawing/2014/main" id="{ECE69EBF-757C-A9D1-FFC8-627784359781}"/>
              </a:ext>
            </a:extLst>
          </p:cNvPr>
          <p:cNvSpPr/>
          <p:nvPr/>
        </p:nvSpPr>
        <p:spPr>
          <a:xfrm>
            <a:off x="2642165" y="4667484"/>
            <a:ext cx="18865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5" name="Rectángulo 14">
            <a:extLst>
              <a:ext uri="{FF2B5EF4-FFF2-40B4-BE49-F238E27FC236}">
                <a16:creationId xmlns:a16="http://schemas.microsoft.com/office/drawing/2014/main" id="{EE13A858-EE2A-8624-F13C-636DED623D27}"/>
              </a:ext>
            </a:extLst>
          </p:cNvPr>
          <p:cNvSpPr/>
          <p:nvPr/>
        </p:nvSpPr>
        <p:spPr>
          <a:xfrm>
            <a:off x="2642164" y="5098559"/>
            <a:ext cx="18865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9" name="Rectángulo 18">
            <a:extLst>
              <a:ext uri="{FF2B5EF4-FFF2-40B4-BE49-F238E27FC236}">
                <a16:creationId xmlns:a16="http://schemas.microsoft.com/office/drawing/2014/main" id="{C1076A0B-8DBA-DB5F-DC0F-1CF449A81D38}"/>
              </a:ext>
            </a:extLst>
          </p:cNvPr>
          <p:cNvSpPr/>
          <p:nvPr/>
        </p:nvSpPr>
        <p:spPr>
          <a:xfrm>
            <a:off x="2856086" y="4458476"/>
            <a:ext cx="1375954" cy="914400"/>
          </a:xfrm>
          <a:prstGeom prst="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US">
              <a:solidFill>
                <a:schemeClr val="bg1">
                  <a:lumMod val="65000"/>
                </a:schemeClr>
              </a:solidFill>
            </a:endParaRP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EF5E72A5-F125-01A3-6239-44DD988AC98A}"/>
                  </a:ext>
                </a:extLst>
              </p:cNvPr>
              <p:cNvSpPr txBox="1"/>
              <p:nvPr/>
            </p:nvSpPr>
            <p:spPr>
              <a:xfrm>
                <a:off x="2919955" y="4694053"/>
                <a:ext cx="12916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b="0" i="1" smtClean="0">
                              <a:solidFill>
                                <a:schemeClr val="tx1"/>
                              </a:solidFill>
                              <a:latin typeface="Cambria Math" panose="02040503050406030204" pitchFamily="18" charset="0"/>
                            </a:rPr>
                          </m:ctrlPr>
                        </m:sSubPr>
                        <m:e>
                          <m:r>
                            <a:rPr lang="es-ES" b="0" i="1" smtClean="0">
                              <a:solidFill>
                                <a:schemeClr val="tx1"/>
                              </a:solidFill>
                              <a:latin typeface="Cambria Math" panose="02040503050406030204" pitchFamily="18" charset="0"/>
                            </a:rPr>
                            <m:t>𝑘</m:t>
                          </m:r>
                        </m:e>
                        <m:sub>
                          <m:r>
                            <a:rPr lang="es-ES" b="0" i="1" smtClean="0">
                              <a:solidFill>
                                <a:schemeClr val="tx1"/>
                              </a:solidFill>
                              <a:latin typeface="Cambria Math" panose="02040503050406030204" pitchFamily="18" charset="0"/>
                            </a:rPr>
                            <m:t>𝑎</m:t>
                          </m:r>
                        </m:sub>
                      </m:sSub>
                    </m:oMath>
                  </m:oMathPara>
                </a14:m>
                <a:endParaRPr lang="en-US" dirty="0">
                  <a:solidFill>
                    <a:schemeClr val="tx1"/>
                  </a:solidFill>
                </a:endParaRPr>
              </a:p>
            </p:txBody>
          </p:sp>
        </mc:Choice>
        <mc:Fallback xmlns="">
          <p:sp>
            <p:nvSpPr>
              <p:cNvPr id="20" name="CuadroTexto 19">
                <a:extLst>
                  <a:ext uri="{FF2B5EF4-FFF2-40B4-BE49-F238E27FC236}">
                    <a16:creationId xmlns:a16="http://schemas.microsoft.com/office/drawing/2014/main" id="{EF5E72A5-F125-01A3-6239-44DD988AC98A}"/>
                  </a:ext>
                </a:extLst>
              </p:cNvPr>
              <p:cNvSpPr txBox="1">
                <a:spLocks noRot="1" noChangeAspect="1" noMove="1" noResize="1" noEditPoints="1" noAdjustHandles="1" noChangeArrowheads="1" noChangeShapeType="1" noTextEdit="1"/>
              </p:cNvSpPr>
              <p:nvPr/>
            </p:nvSpPr>
            <p:spPr>
              <a:xfrm>
                <a:off x="2919955" y="4694053"/>
                <a:ext cx="1291674" cy="369332"/>
              </a:xfrm>
              <a:prstGeom prst="rect">
                <a:avLst/>
              </a:prstGeom>
              <a:blipFill>
                <a:blip r:embed="rId5"/>
                <a:stretch>
                  <a:fillRect/>
                </a:stretch>
              </a:blipFill>
            </p:spPr>
            <p:txBody>
              <a:bodyPr/>
              <a:lstStyle/>
              <a:p>
                <a:r>
                  <a:rPr lang="es-ES">
                    <a:noFill/>
                  </a:rPr>
                  <a:t> </a:t>
                </a:r>
              </a:p>
            </p:txBody>
          </p:sp>
        </mc:Fallback>
      </mc:AlternateContent>
      <p:sp>
        <p:nvSpPr>
          <p:cNvPr id="24" name="CuadroTexto 23">
            <a:extLst>
              <a:ext uri="{FF2B5EF4-FFF2-40B4-BE49-F238E27FC236}">
                <a16:creationId xmlns:a16="http://schemas.microsoft.com/office/drawing/2014/main" id="{E82D8A99-C12E-9B5A-D44F-DC39CF2187E7}"/>
              </a:ext>
            </a:extLst>
          </p:cNvPr>
          <p:cNvSpPr txBox="1"/>
          <p:nvPr/>
        </p:nvSpPr>
        <p:spPr>
          <a:xfrm>
            <a:off x="1422486" y="4934965"/>
            <a:ext cx="1245321" cy="369332"/>
          </a:xfrm>
          <a:prstGeom prst="rect">
            <a:avLst/>
          </a:prstGeom>
          <a:noFill/>
        </p:spPr>
        <p:txBody>
          <a:bodyPr wrap="square" rtlCol="0">
            <a:spAutoFit/>
          </a:bodyPr>
          <a:lstStyle/>
          <a:p>
            <a:pPr algn="r"/>
            <a:r>
              <a:rPr lang="en-US" dirty="0">
                <a:solidFill>
                  <a:schemeClr val="bg1">
                    <a:lumMod val="65000"/>
                  </a:schemeClr>
                </a:solidFill>
              </a:rPr>
              <a:t>In1</a:t>
            </a:r>
          </a:p>
        </p:txBody>
      </p:sp>
      <p:sp>
        <p:nvSpPr>
          <p:cNvPr id="25" name="CuadroTexto 24">
            <a:extLst>
              <a:ext uri="{FF2B5EF4-FFF2-40B4-BE49-F238E27FC236}">
                <a16:creationId xmlns:a16="http://schemas.microsoft.com/office/drawing/2014/main" id="{AF3AEF45-E8B3-D1F2-8A9B-3A0585B1DA38}"/>
              </a:ext>
            </a:extLst>
          </p:cNvPr>
          <p:cNvSpPr txBox="1"/>
          <p:nvPr/>
        </p:nvSpPr>
        <p:spPr>
          <a:xfrm>
            <a:off x="1438475" y="4491415"/>
            <a:ext cx="1245321" cy="369332"/>
          </a:xfrm>
          <a:prstGeom prst="rect">
            <a:avLst/>
          </a:prstGeom>
          <a:noFill/>
        </p:spPr>
        <p:txBody>
          <a:bodyPr wrap="square" rtlCol="0">
            <a:spAutoFit/>
          </a:bodyPr>
          <a:lstStyle/>
          <a:p>
            <a:pPr algn="r"/>
            <a:r>
              <a:rPr lang="en-US" dirty="0">
                <a:solidFill>
                  <a:schemeClr val="bg1">
                    <a:lumMod val="65000"/>
                  </a:schemeClr>
                </a:solidFill>
              </a:rPr>
              <a:t>In2</a:t>
            </a:r>
          </a:p>
        </p:txBody>
      </p:sp>
      <p:sp>
        <p:nvSpPr>
          <p:cNvPr id="17" name="Rectángulo 16">
            <a:extLst>
              <a:ext uri="{FF2B5EF4-FFF2-40B4-BE49-F238E27FC236}">
                <a16:creationId xmlns:a16="http://schemas.microsoft.com/office/drawing/2014/main" id="{6C1DD7CE-5AFF-6AAD-ABB0-7F12BBFDC181}"/>
              </a:ext>
            </a:extLst>
          </p:cNvPr>
          <p:cNvSpPr/>
          <p:nvPr/>
        </p:nvSpPr>
        <p:spPr>
          <a:xfrm>
            <a:off x="7822666" y="4652133"/>
            <a:ext cx="18188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8" name="Rectángulo 17">
            <a:extLst>
              <a:ext uri="{FF2B5EF4-FFF2-40B4-BE49-F238E27FC236}">
                <a16:creationId xmlns:a16="http://schemas.microsoft.com/office/drawing/2014/main" id="{BF18895E-AB87-954B-BE18-94A83ABEF83B}"/>
              </a:ext>
            </a:extLst>
          </p:cNvPr>
          <p:cNvSpPr/>
          <p:nvPr/>
        </p:nvSpPr>
        <p:spPr>
          <a:xfrm>
            <a:off x="7822665" y="5083208"/>
            <a:ext cx="18188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21" name="Rectángulo 20">
            <a:extLst>
              <a:ext uri="{FF2B5EF4-FFF2-40B4-BE49-F238E27FC236}">
                <a16:creationId xmlns:a16="http://schemas.microsoft.com/office/drawing/2014/main" id="{EC9EBD3D-98EF-BFF4-3EF2-FB53BDFDC1B9}"/>
              </a:ext>
            </a:extLst>
          </p:cNvPr>
          <p:cNvSpPr/>
          <p:nvPr/>
        </p:nvSpPr>
        <p:spPr>
          <a:xfrm>
            <a:off x="8037575" y="4467074"/>
            <a:ext cx="1375954" cy="914400"/>
          </a:xfrm>
          <a:prstGeom prst="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34" name="CuadroTexto 33">
            <a:extLst>
              <a:ext uri="{FF2B5EF4-FFF2-40B4-BE49-F238E27FC236}">
                <a16:creationId xmlns:a16="http://schemas.microsoft.com/office/drawing/2014/main" id="{1C2F6896-54D4-8706-AA99-764079F2D35D}"/>
              </a:ext>
            </a:extLst>
          </p:cNvPr>
          <p:cNvSpPr txBox="1"/>
          <p:nvPr/>
        </p:nvSpPr>
        <p:spPr>
          <a:xfrm>
            <a:off x="9659709" y="4916768"/>
            <a:ext cx="1245321" cy="369332"/>
          </a:xfrm>
          <a:prstGeom prst="rect">
            <a:avLst/>
          </a:prstGeom>
          <a:noFill/>
        </p:spPr>
        <p:txBody>
          <a:bodyPr wrap="square" rtlCol="0">
            <a:spAutoFit/>
          </a:bodyPr>
          <a:lstStyle/>
          <a:p>
            <a:r>
              <a:rPr lang="en-US" dirty="0">
                <a:solidFill>
                  <a:schemeClr val="bg1">
                    <a:lumMod val="65000"/>
                  </a:schemeClr>
                </a:solidFill>
              </a:rPr>
              <a:t>Out1</a:t>
            </a:r>
          </a:p>
        </p:txBody>
      </p:sp>
      <p:sp>
        <p:nvSpPr>
          <p:cNvPr id="36" name="CuadroTexto 35">
            <a:extLst>
              <a:ext uri="{FF2B5EF4-FFF2-40B4-BE49-F238E27FC236}">
                <a16:creationId xmlns:a16="http://schemas.microsoft.com/office/drawing/2014/main" id="{5006711D-654E-EB6C-E90D-0190AA8EE20A}"/>
              </a:ext>
            </a:extLst>
          </p:cNvPr>
          <p:cNvSpPr txBox="1"/>
          <p:nvPr/>
        </p:nvSpPr>
        <p:spPr>
          <a:xfrm>
            <a:off x="9680893" y="4458476"/>
            <a:ext cx="1245321" cy="369332"/>
          </a:xfrm>
          <a:prstGeom prst="rect">
            <a:avLst/>
          </a:prstGeom>
          <a:noFill/>
        </p:spPr>
        <p:txBody>
          <a:bodyPr wrap="square" rtlCol="0">
            <a:spAutoFit/>
          </a:bodyPr>
          <a:lstStyle/>
          <a:p>
            <a:r>
              <a:rPr lang="en-US" dirty="0">
                <a:solidFill>
                  <a:schemeClr val="bg1">
                    <a:lumMod val="65000"/>
                  </a:schemeClr>
                </a:solidFill>
              </a:rPr>
              <a:t>Out2</a:t>
            </a:r>
          </a:p>
        </p:txBody>
      </p:sp>
      <mc:AlternateContent xmlns:mc="http://schemas.openxmlformats.org/markup-compatibility/2006" xmlns:a14="http://schemas.microsoft.com/office/drawing/2010/main">
        <mc:Choice Requires="a14">
          <p:sp>
            <p:nvSpPr>
              <p:cNvPr id="39" name="CuadroTexto 38">
                <a:extLst>
                  <a:ext uri="{FF2B5EF4-FFF2-40B4-BE49-F238E27FC236}">
                    <a16:creationId xmlns:a16="http://schemas.microsoft.com/office/drawing/2014/main" id="{979C4EB3-5014-92C7-FAAB-64D3285CF6AC}"/>
                  </a:ext>
                </a:extLst>
              </p:cNvPr>
              <p:cNvSpPr txBox="1"/>
              <p:nvPr/>
            </p:nvSpPr>
            <p:spPr>
              <a:xfrm>
                <a:off x="8119322" y="4706953"/>
                <a:ext cx="12916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b="0" i="1" smtClean="0">
                              <a:solidFill>
                                <a:schemeClr val="tx1"/>
                              </a:solidFill>
                              <a:latin typeface="Cambria Math" panose="02040503050406030204" pitchFamily="18" charset="0"/>
                            </a:rPr>
                          </m:ctrlPr>
                        </m:sSubPr>
                        <m:e>
                          <m:r>
                            <a:rPr lang="es-ES" b="0" i="1" smtClean="0">
                              <a:solidFill>
                                <a:schemeClr val="tx1"/>
                              </a:solidFill>
                              <a:latin typeface="Cambria Math" panose="02040503050406030204" pitchFamily="18" charset="0"/>
                            </a:rPr>
                            <m:t>𝑘</m:t>
                          </m:r>
                        </m:e>
                        <m:sub>
                          <m:r>
                            <a:rPr lang="es-ES" b="0" i="1" smtClean="0">
                              <a:solidFill>
                                <a:schemeClr val="tx1"/>
                              </a:solidFill>
                              <a:latin typeface="Cambria Math" panose="02040503050406030204" pitchFamily="18" charset="0"/>
                            </a:rPr>
                            <m:t>𝑏</m:t>
                          </m:r>
                        </m:sub>
                      </m:sSub>
                    </m:oMath>
                  </m:oMathPara>
                </a14:m>
                <a:endParaRPr lang="en-US" dirty="0">
                  <a:solidFill>
                    <a:schemeClr val="tx1"/>
                  </a:solidFill>
                </a:endParaRPr>
              </a:p>
            </p:txBody>
          </p:sp>
        </mc:Choice>
        <mc:Fallback xmlns="">
          <p:sp>
            <p:nvSpPr>
              <p:cNvPr id="39" name="CuadroTexto 38">
                <a:extLst>
                  <a:ext uri="{FF2B5EF4-FFF2-40B4-BE49-F238E27FC236}">
                    <a16:creationId xmlns:a16="http://schemas.microsoft.com/office/drawing/2014/main" id="{979C4EB3-5014-92C7-FAAB-64D3285CF6AC}"/>
                  </a:ext>
                </a:extLst>
              </p:cNvPr>
              <p:cNvSpPr txBox="1">
                <a:spLocks noRot="1" noChangeAspect="1" noMove="1" noResize="1" noEditPoints="1" noAdjustHandles="1" noChangeArrowheads="1" noChangeShapeType="1" noTextEdit="1"/>
              </p:cNvSpPr>
              <p:nvPr/>
            </p:nvSpPr>
            <p:spPr>
              <a:xfrm>
                <a:off x="8119322" y="4706953"/>
                <a:ext cx="1291674" cy="369332"/>
              </a:xfrm>
              <a:prstGeom prst="rect">
                <a:avLst/>
              </a:prstGeom>
              <a:blipFill>
                <a:blip r:embed="rId6"/>
                <a:stretch>
                  <a:fillRect/>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40" name="CuadroTexto 39">
                <a:extLst>
                  <a:ext uri="{FF2B5EF4-FFF2-40B4-BE49-F238E27FC236}">
                    <a16:creationId xmlns:a16="http://schemas.microsoft.com/office/drawing/2014/main" id="{72F4EC49-F7E4-B921-90B7-75679E5144D1}"/>
                  </a:ext>
                </a:extLst>
              </p:cNvPr>
              <p:cNvSpPr txBox="1"/>
              <p:nvPr/>
            </p:nvSpPr>
            <p:spPr>
              <a:xfrm>
                <a:off x="5653085" y="5192639"/>
                <a:ext cx="1245321" cy="369332"/>
              </a:xfrm>
              <a:prstGeom prst="rect">
                <a:avLst/>
              </a:prstGeom>
              <a:noFill/>
            </p:spPr>
            <p:txBody>
              <a:bodyPr wrap="square" rtlCol="0">
                <a:spAutoFit/>
              </a:bodyPr>
              <a:lstStyle/>
              <a:p>
                <a:pPr algn="ctr"/>
                <a14:m>
                  <m:oMath xmlns:m="http://schemas.openxmlformats.org/officeDocument/2006/math">
                    <m:sSub>
                      <m:sSubPr>
                        <m:ctrlPr>
                          <a:rPr lang="en-US" i="1" dirty="0" smtClean="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𝛽</m:t>
                        </m:r>
                      </m:e>
                      <m:sub>
                        <m:r>
                          <a:rPr lang="es-ES" b="0" i="1" dirty="0" smtClean="0">
                            <a:solidFill>
                              <a:schemeClr val="tx1"/>
                            </a:solidFill>
                            <a:latin typeface="Cambria Math" panose="02040503050406030204" pitchFamily="18" charset="0"/>
                          </a:rPr>
                          <m:t>𝑑</m:t>
                        </m:r>
                      </m:sub>
                    </m:sSub>
                  </m:oMath>
                </a14:m>
                <a:r>
                  <a:rPr lang="en-US" dirty="0">
                    <a:solidFill>
                      <a:schemeClr val="tx1"/>
                    </a:solidFill>
                  </a:rPr>
                  <a:t>, </a:t>
                </a:r>
                <a14:m>
                  <m:oMath xmlns:m="http://schemas.openxmlformats.org/officeDocument/2006/math">
                    <m:sSub>
                      <m:sSubPr>
                        <m:ctrlPr>
                          <a:rPr lang="en-US" i="1" dirty="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𝐿</m:t>
                        </m:r>
                      </m:e>
                      <m:sub>
                        <m:r>
                          <a:rPr lang="es-ES" b="0" i="1" dirty="0" smtClean="0">
                            <a:solidFill>
                              <a:schemeClr val="tx1"/>
                            </a:solidFill>
                            <a:latin typeface="Cambria Math" panose="02040503050406030204" pitchFamily="18" charset="0"/>
                          </a:rPr>
                          <m:t>𝑑</m:t>
                        </m:r>
                      </m:sub>
                    </m:sSub>
                  </m:oMath>
                </a14:m>
                <a:r>
                  <a:rPr lang="en-US" dirty="0">
                    <a:solidFill>
                      <a:schemeClr val="tx1"/>
                    </a:solidFill>
                  </a:rPr>
                  <a:t> </a:t>
                </a:r>
              </a:p>
            </p:txBody>
          </p:sp>
        </mc:Choice>
        <mc:Fallback xmlns="">
          <p:sp>
            <p:nvSpPr>
              <p:cNvPr id="40" name="CuadroTexto 39">
                <a:extLst>
                  <a:ext uri="{FF2B5EF4-FFF2-40B4-BE49-F238E27FC236}">
                    <a16:creationId xmlns:a16="http://schemas.microsoft.com/office/drawing/2014/main" id="{72F4EC49-F7E4-B921-90B7-75679E5144D1}"/>
                  </a:ext>
                </a:extLst>
              </p:cNvPr>
              <p:cNvSpPr txBox="1">
                <a:spLocks noRot="1" noChangeAspect="1" noMove="1" noResize="1" noEditPoints="1" noAdjustHandles="1" noChangeArrowheads="1" noChangeShapeType="1" noTextEdit="1"/>
              </p:cNvSpPr>
              <p:nvPr/>
            </p:nvSpPr>
            <p:spPr>
              <a:xfrm>
                <a:off x="5653085" y="5192639"/>
                <a:ext cx="1245321" cy="369332"/>
              </a:xfrm>
              <a:prstGeom prst="rect">
                <a:avLst/>
              </a:prstGeom>
              <a:blipFill>
                <a:blip r:embed="rId7"/>
                <a:stretch>
                  <a:fillRect t="-10000" b="-26667"/>
                </a:stretch>
              </a:blipFill>
            </p:spPr>
            <p:txBody>
              <a:bodyPr/>
              <a:lstStyle/>
              <a:p>
                <a:r>
                  <a:rPr lang="es-ES">
                    <a:noFill/>
                  </a:rPr>
                  <a:t> </a:t>
                </a:r>
              </a:p>
            </p:txBody>
          </p:sp>
        </mc:Fallback>
      </mc:AlternateContent>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#1 </a:t>
            </a:r>
            <a:r>
              <a:rPr lang="en-US" sz="2500" dirty="0"/>
              <a:t>– Recap from theory – Balanced MZI </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2" name="CuadroTexto 1">
            <a:extLst>
              <a:ext uri="{FF2B5EF4-FFF2-40B4-BE49-F238E27FC236}">
                <a16:creationId xmlns:a16="http://schemas.microsoft.com/office/drawing/2014/main" id="{D0F8CF3B-B920-DBFC-F825-0C87B51EADA7}"/>
              </a:ext>
            </a:extLst>
          </p:cNvPr>
          <p:cNvSpPr txBox="1"/>
          <p:nvPr/>
        </p:nvSpPr>
        <p:spPr>
          <a:xfrm>
            <a:off x="6784203" y="1316217"/>
            <a:ext cx="5054874" cy="4339650"/>
          </a:xfrm>
          <a:prstGeom prst="rect">
            <a:avLst/>
          </a:prstGeom>
          <a:solidFill>
            <a:schemeClr val="bg1">
              <a:lumMod val="95000"/>
            </a:schemeClr>
          </a:solidFill>
          <a:ln w="28575">
            <a:solidFill>
              <a:srgbClr val="E0700D"/>
            </a:solidFill>
          </a:ln>
        </p:spPr>
        <p:txBody>
          <a:bodyPr wrap="square" rtlCol="0">
            <a:spAutoFit/>
          </a:bodyPr>
          <a:lstStyle/>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We observe that for the case of a balanced MZI, there is no spectral periodicity. This occurs because when we split the signal into both paths, no phase shift is introduced (since the MZI is balanced). Without this phase difference, spectral periodicity does not arise; instead, we find that one of the outputs exhibits constructive interference while the other shows destructive interference.</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Now, if the coupler changes to a 90:10 ratio, we see that we no longer have purely destructive or purely constructive interference. This is because the power in each arm is no longer the same. In this scenario, destructive interference results in approximately 0.35, while constructive interference reaches around 0.65.</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If we consider excess losses, we will find that the magnitude of constructive interference cannot reach 1. This is because the output power is no longer equal to the input power; some power is lost. In this case, we introduced a loss of 0.1 for each coupler. As a result, nearly 0.2 of the power is lost, as observed in the graph.</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14E1523F-57E7-BC79-8739-6F62FB1C8B3D}"/>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pic>
        <p:nvPicPr>
          <p:cNvPr id="8" name="Imagen 7">
            <a:extLst>
              <a:ext uri="{FF2B5EF4-FFF2-40B4-BE49-F238E27FC236}">
                <a16:creationId xmlns:a16="http://schemas.microsoft.com/office/drawing/2014/main" id="{63CC0B9C-49D2-29AD-7D1D-CA402576D4CA}"/>
              </a:ext>
            </a:extLst>
          </p:cNvPr>
          <p:cNvPicPr>
            <a:picLocks noChangeAspect="1"/>
          </p:cNvPicPr>
          <p:nvPr/>
        </p:nvPicPr>
        <p:blipFill>
          <a:blip r:embed="rId5"/>
          <a:stretch>
            <a:fillRect/>
          </a:stretch>
        </p:blipFill>
        <p:spPr>
          <a:xfrm>
            <a:off x="685800" y="1028379"/>
            <a:ext cx="2880000" cy="2311109"/>
          </a:xfrm>
          <a:prstGeom prst="rect">
            <a:avLst/>
          </a:prstGeom>
        </p:spPr>
      </p:pic>
      <p:pic>
        <p:nvPicPr>
          <p:cNvPr id="9" name="Imagen 8">
            <a:extLst>
              <a:ext uri="{FF2B5EF4-FFF2-40B4-BE49-F238E27FC236}">
                <a16:creationId xmlns:a16="http://schemas.microsoft.com/office/drawing/2014/main" id="{6A68F622-8166-81F4-CFF8-C4234F79271E}"/>
              </a:ext>
            </a:extLst>
          </p:cNvPr>
          <p:cNvPicPr>
            <a:picLocks noChangeAspect="1"/>
          </p:cNvPicPr>
          <p:nvPr/>
        </p:nvPicPr>
        <p:blipFill>
          <a:blip r:embed="rId6"/>
          <a:stretch>
            <a:fillRect/>
          </a:stretch>
        </p:blipFill>
        <p:spPr>
          <a:xfrm>
            <a:off x="685800" y="3668600"/>
            <a:ext cx="2880000" cy="2275000"/>
          </a:xfrm>
          <a:prstGeom prst="rect">
            <a:avLst/>
          </a:prstGeom>
        </p:spPr>
      </p:pic>
      <p:pic>
        <p:nvPicPr>
          <p:cNvPr id="13" name="Imagen 12">
            <a:extLst>
              <a:ext uri="{FF2B5EF4-FFF2-40B4-BE49-F238E27FC236}">
                <a16:creationId xmlns:a16="http://schemas.microsoft.com/office/drawing/2014/main" id="{1A0BF41F-D4A4-6BF4-EA4C-E8DEFE3653DB}"/>
              </a:ext>
            </a:extLst>
          </p:cNvPr>
          <p:cNvPicPr>
            <a:picLocks noChangeAspect="1"/>
          </p:cNvPicPr>
          <p:nvPr/>
        </p:nvPicPr>
        <p:blipFill>
          <a:blip r:embed="rId7"/>
          <a:stretch>
            <a:fillRect/>
          </a:stretch>
        </p:blipFill>
        <p:spPr>
          <a:xfrm>
            <a:off x="3597000" y="2362200"/>
            <a:ext cx="2880000" cy="2247684"/>
          </a:xfrm>
          <a:prstGeom prst="rect">
            <a:avLst/>
          </a:prstGeom>
        </p:spPr>
      </p:pic>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F3D4AE-00C4-5739-13B5-8207554BB1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808C1D5-9FC9-2549-800C-71B6CC0EE5BC}"/>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#1 </a:t>
            </a:r>
            <a:r>
              <a:rPr lang="en-US" sz="2500" dirty="0"/>
              <a:t>– Recap from theory – Phase Imbalance MZI</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1DB79E5F-21EA-0288-58B2-D8C871448F9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4E7C246-01EB-A6E2-2AC3-18CAD6267572}"/>
              </a:ext>
            </a:extLst>
          </p:cNvPr>
          <p:cNvSpPr>
            <a:spLocks noGrp="1"/>
          </p:cNvSpPr>
          <p:nvPr>
            <p:ph type="sldNum" sz="quarter" idx="7"/>
          </p:nvPr>
        </p:nvSpPr>
        <p:spPr/>
        <p:txBody>
          <a:bodyPr/>
          <a:lstStyle/>
          <a:p>
            <a:fld id="{B6F15528-21DE-4FAA-801E-634DDDAF4B2B}" type="slidenum">
              <a:rPr lang="es-ES" smtClean="0"/>
              <a:t>4</a:t>
            </a:fld>
            <a:endParaRPr lang="es-ES"/>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00D2574A-3601-651C-20E5-E2B5C8F4DA0A}"/>
                  </a:ext>
                </a:extLst>
              </p:cNvPr>
              <p:cNvSpPr txBox="1"/>
              <p:nvPr/>
            </p:nvSpPr>
            <p:spPr>
              <a:xfrm>
                <a:off x="3662010" y="914400"/>
                <a:ext cx="8246800" cy="5676362"/>
              </a:xfrm>
              <a:prstGeom prst="rect">
                <a:avLst/>
              </a:prstGeom>
              <a:solidFill>
                <a:schemeClr val="bg1">
                  <a:lumMod val="95000"/>
                </a:schemeClr>
              </a:solidFill>
              <a:ln w="28575">
                <a:solidFill>
                  <a:srgbClr val="E0700D"/>
                </a:solidFill>
              </a:ln>
            </p:spPr>
            <p:txBody>
              <a:bodyPr wrap="square" rtlCol="0">
                <a:spAutoFit/>
              </a:bodyPr>
              <a:lstStyle/>
              <a:p>
                <a:r>
                  <a:rPr lang="en-US" sz="1200" dirty="0">
                    <a:latin typeface="Arial" panose="020B0604020202020204" pitchFamily="34" charset="0"/>
                    <a:cs typeface="Arial" panose="020B0604020202020204" pitchFamily="34" charset="0"/>
                  </a:rPr>
                  <a:t>To achieve a phase imbalance, the effective index of one of the arms is varied, which generates a phase shift. For the cross-sectional design, two types of waveguides were used: one called </a:t>
                </a:r>
                <a:r>
                  <a:rPr lang="en-US" sz="1200" dirty="0" err="1">
                    <a:latin typeface="Arial" panose="020B0604020202020204" pitchFamily="34" charset="0"/>
                    <a:cs typeface="Arial" panose="020B0604020202020204" pitchFamily="34" charset="0"/>
                  </a:rPr>
                  <a:t>SiN_clad</a:t>
                </a:r>
                <a:r>
                  <a:rPr lang="en-US" sz="1200" dirty="0">
                    <a:latin typeface="Arial" panose="020B0604020202020204" pitchFamily="34" charset="0"/>
                    <a:cs typeface="Arial" panose="020B0604020202020204" pitchFamily="34" charset="0"/>
                  </a:rPr>
                  <a:t> and the other </a:t>
                </a:r>
                <a:r>
                  <a:rPr lang="en-US" sz="1200" dirty="0" err="1">
                    <a:latin typeface="Arial" panose="020B0604020202020204" pitchFamily="34" charset="0"/>
                    <a:cs typeface="Arial" panose="020B0604020202020204" pitchFamily="34" charset="0"/>
                  </a:rPr>
                  <a:t>SiN_wat</a:t>
                </a:r>
                <a:r>
                  <a:rPr lang="en-US" sz="1200" dirty="0">
                    <a:latin typeface="Arial" panose="020B0604020202020204" pitchFamily="34" charset="0"/>
                    <a:cs typeface="Arial" panose="020B0604020202020204" pitchFamily="34" charset="0"/>
                  </a:rPr>
                  <a:t>, with an index difference of approximately 0.03 for the TE0 mode. </a:t>
                </a:r>
              </a:p>
              <a:p>
                <a:endParaRPr lang="en-US" sz="1200" dirty="0">
                  <a:latin typeface="Arial" panose="020B0604020202020204" pitchFamily="34" charset="0"/>
                  <a:cs typeface="Arial" panose="020B0604020202020204" pitchFamily="34" charset="0"/>
                </a:endParaRPr>
              </a:p>
              <a:p>
                <a:r>
                  <a:rPr lang="en-US" sz="1200" dirty="0">
                    <a:latin typeface="Arial" panose="020B0604020202020204" pitchFamily="34" charset="0"/>
                    <a:cs typeface="Arial" panose="020B0604020202020204" pitchFamily="34" charset="0"/>
                  </a:rPr>
                  <a:t>We observe that one of the ports exhibits a squared cosine behavior, while the other shows a squared sine behavior. This occurs because the total input power must always be conserved; that is, the sum of both outputs must equal 1. Mathematically, the sum of cos^2 and sin⁡^2 equals 1. Additionally, this behavior arises because the coupling coefficients are 0.5, meaning the power is equally divided between the two outputs. The complementary response of the two arms is given by the following equations:</a:t>
                </a:r>
              </a:p>
              <a:p>
                <a:endParaRPr lang="es-CO" sz="1200" dirty="0">
                  <a:latin typeface="Arial" panose="020B0604020202020204" pitchFamily="34" charset="0"/>
                  <a:cs typeface="Arial" panose="020B0604020202020204" pitchFamily="34" charset="0"/>
                </a:endParaRPr>
              </a:p>
              <a:p>
                <a:pPr/>
                <a14:m>
                  <m:oMathPara xmlns:m="http://schemas.openxmlformats.org/officeDocument/2006/math">
                    <m:oMathParaPr>
                      <m:jc m:val="centerGroup"/>
                    </m:oMathParaPr>
                    <m:oMath xmlns:m="http://schemas.openxmlformats.org/officeDocument/2006/math">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𝐻</m:t>
                          </m:r>
                        </m:e>
                        <m:sub>
                          <m:r>
                            <a:rPr lang="es-ES" sz="1200" b="0" i="1" smtClean="0">
                              <a:latin typeface="Cambria Math" panose="02040503050406030204" pitchFamily="18" charset="0"/>
                              <a:cs typeface="Arial" panose="020B0604020202020204" pitchFamily="34" charset="0"/>
                            </a:rPr>
                            <m:t>21</m:t>
                          </m:r>
                        </m:sub>
                      </m:sSub>
                      <m:d>
                        <m:dPr>
                          <m:ctrlPr>
                            <a:rPr lang="es-ES" sz="1200" b="0" i="1" smtClean="0">
                              <a:latin typeface="Cambria Math" panose="02040503050406030204" pitchFamily="18" charset="0"/>
                              <a:cs typeface="Arial" panose="020B0604020202020204" pitchFamily="34" charset="0"/>
                            </a:rPr>
                          </m:ctrlPr>
                        </m:dPr>
                        <m:e>
                          <m:r>
                            <a:rPr lang="es-ES" sz="1200" b="0" i="1" smtClean="0">
                              <a:latin typeface="Cambria Math" panose="02040503050406030204" pitchFamily="18" charset="0"/>
                              <a:ea typeface="Cambria Math" panose="02040503050406030204" pitchFamily="18" charset="0"/>
                              <a:cs typeface="Arial" panose="020B0604020202020204" pitchFamily="34" charset="0"/>
                            </a:rPr>
                            <m:t>𝜆</m:t>
                          </m:r>
                        </m:e>
                      </m:d>
                      <m:r>
                        <a:rPr lang="es-ES" sz="1200" b="0" i="1" smtClean="0">
                          <a:latin typeface="Cambria Math" panose="02040503050406030204" pitchFamily="18" charset="0"/>
                          <a:ea typeface="Cambria Math" panose="02040503050406030204" pitchFamily="18" charset="0"/>
                          <a:cs typeface="Arial" panose="020B0604020202020204" pitchFamily="34" charset="0"/>
                        </a:rPr>
                        <m:t>=</m:t>
                      </m:r>
                      <m:func>
                        <m:funcPr>
                          <m:ctrlPr>
                            <a:rPr lang="es-ES" sz="1200" b="0" i="1" smtClean="0">
                              <a:latin typeface="Cambria Math" panose="02040503050406030204" pitchFamily="18" charset="0"/>
                              <a:ea typeface="Cambria Math" panose="02040503050406030204" pitchFamily="18" charset="0"/>
                              <a:cs typeface="Arial" panose="020B0604020202020204" pitchFamily="34" charset="0"/>
                            </a:rPr>
                          </m:ctrlPr>
                        </m:funcPr>
                        <m:fName>
                          <m:sSup>
                            <m:sSupPr>
                              <m:ctrlPr>
                                <a:rPr lang="es-ES" sz="1200" b="0" i="1" smtClean="0">
                                  <a:latin typeface="Cambria Math" panose="02040503050406030204" pitchFamily="18" charset="0"/>
                                  <a:ea typeface="Cambria Math" panose="02040503050406030204" pitchFamily="18" charset="0"/>
                                  <a:cs typeface="Arial" panose="020B0604020202020204" pitchFamily="34" charset="0"/>
                                </a:rPr>
                              </m:ctrlPr>
                            </m:sSupPr>
                            <m:e>
                              <m:r>
                                <m:rPr>
                                  <m:sty m:val="p"/>
                                </m:rPr>
                                <a:rPr lang="es-ES" sz="1200" b="0" i="0" smtClean="0">
                                  <a:latin typeface="Cambria Math" panose="02040503050406030204" pitchFamily="18" charset="0"/>
                                  <a:ea typeface="Cambria Math" panose="02040503050406030204" pitchFamily="18" charset="0"/>
                                  <a:cs typeface="Arial" panose="020B0604020202020204" pitchFamily="34" charset="0"/>
                                </a:rPr>
                                <m:t>cos</m:t>
                              </m:r>
                            </m:e>
                            <m:sup>
                              <m:r>
                                <a:rPr lang="es-ES" sz="1200" b="0" i="1" smtClean="0">
                                  <a:latin typeface="Cambria Math" panose="02040503050406030204" pitchFamily="18" charset="0"/>
                                  <a:ea typeface="Cambria Math" panose="02040503050406030204" pitchFamily="18" charset="0"/>
                                  <a:cs typeface="Arial" panose="020B0604020202020204" pitchFamily="34" charset="0"/>
                                </a:rPr>
                                <m:t>2</m:t>
                              </m:r>
                            </m:sup>
                          </m:sSup>
                        </m:fName>
                        <m:e>
                          <m:d>
                            <m:dPr>
                              <m:ctrlPr>
                                <a:rPr lang="es-ES" sz="1200" b="0" i="1" smtClean="0">
                                  <a:latin typeface="Cambria Math" panose="02040503050406030204" pitchFamily="18" charset="0"/>
                                  <a:ea typeface="Cambria Math" panose="02040503050406030204" pitchFamily="18" charset="0"/>
                                  <a:cs typeface="Arial" panose="020B0604020202020204" pitchFamily="34" charset="0"/>
                                </a:rPr>
                              </m:ctrlPr>
                            </m:dPr>
                            <m:e>
                              <m:f>
                                <m:fPr>
                                  <m:ctrlPr>
                                    <a:rPr lang="es-ES" sz="1200" b="0" i="1" smtClean="0">
                                      <a:latin typeface="Cambria Math" panose="02040503050406030204" pitchFamily="18" charset="0"/>
                                      <a:ea typeface="Cambria Math" panose="02040503050406030204" pitchFamily="18" charset="0"/>
                                      <a:cs typeface="Arial" panose="020B0604020202020204" pitchFamily="34" charset="0"/>
                                    </a:rPr>
                                  </m:ctrlPr>
                                </m:fPr>
                                <m:num>
                                  <m:r>
                                    <a:rPr lang="es-ES" sz="1200" b="0" i="1" smtClean="0">
                                      <a:latin typeface="Cambria Math" panose="02040503050406030204" pitchFamily="18" charset="0"/>
                                      <a:ea typeface="Cambria Math" panose="02040503050406030204" pitchFamily="18" charset="0"/>
                                      <a:cs typeface="Arial" panose="020B0604020202020204" pitchFamily="34" charset="0"/>
                                    </a:rPr>
                                    <m:t>𝐿</m:t>
                                  </m:r>
                                </m:num>
                                <m:den>
                                  <m:r>
                                    <a:rPr lang="es-ES" sz="1200" b="0" i="1" smtClean="0">
                                      <a:latin typeface="Cambria Math" panose="02040503050406030204" pitchFamily="18" charset="0"/>
                                      <a:ea typeface="Cambria Math" panose="02040503050406030204" pitchFamily="18" charset="0"/>
                                      <a:cs typeface="Arial" panose="020B0604020202020204" pitchFamily="34" charset="0"/>
                                    </a:rPr>
                                    <m:t>2</m:t>
                                  </m:r>
                                </m:den>
                              </m:f>
                              <m:d>
                                <m:dPr>
                                  <m:ctrlPr>
                                    <a:rPr lang="es-ES" sz="1200" b="0" i="1" smtClean="0">
                                      <a:latin typeface="Cambria Math" panose="02040503050406030204" pitchFamily="18" charset="0"/>
                                      <a:ea typeface="Cambria Math" panose="02040503050406030204" pitchFamily="18" charset="0"/>
                                      <a:cs typeface="Arial" panose="020B0604020202020204" pitchFamily="34" charset="0"/>
                                    </a:rPr>
                                  </m:ctrlPr>
                                </m:dPr>
                                <m:e>
                                  <m:sSub>
                                    <m:sSubPr>
                                      <m:ctrlPr>
                                        <a:rPr lang="es-ES" sz="1200" b="0" i="1" smtClean="0">
                                          <a:latin typeface="Cambria Math" panose="02040503050406030204" pitchFamily="18" charset="0"/>
                                          <a:ea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ea typeface="Cambria Math" panose="02040503050406030204" pitchFamily="18" charset="0"/>
                                          <a:cs typeface="Arial" panose="020B0604020202020204" pitchFamily="34" charset="0"/>
                                        </a:rPr>
                                        <m:t>𝛽</m:t>
                                      </m:r>
                                    </m:e>
                                    <m:sub>
                                      <m:r>
                                        <a:rPr lang="es-ES" sz="1200" b="0" i="1" smtClean="0">
                                          <a:latin typeface="Cambria Math" panose="02040503050406030204" pitchFamily="18" charset="0"/>
                                          <a:ea typeface="Cambria Math" panose="02040503050406030204" pitchFamily="18" charset="0"/>
                                          <a:cs typeface="Arial" panose="020B0604020202020204" pitchFamily="34" charset="0"/>
                                        </a:rPr>
                                        <m:t>𝑢</m:t>
                                      </m:r>
                                    </m:sub>
                                  </m:sSub>
                                  <m:d>
                                    <m:dPr>
                                      <m:ctrlPr>
                                        <a:rPr lang="es-ES" sz="1200" b="0" i="1" smtClean="0">
                                          <a:latin typeface="Cambria Math" panose="02040503050406030204" pitchFamily="18" charset="0"/>
                                          <a:ea typeface="Cambria Math" panose="02040503050406030204" pitchFamily="18" charset="0"/>
                                          <a:cs typeface="Arial" panose="020B0604020202020204" pitchFamily="34" charset="0"/>
                                        </a:rPr>
                                      </m:ctrlPr>
                                    </m:dPr>
                                    <m:e>
                                      <m:r>
                                        <a:rPr lang="es-ES" sz="1200" b="0" i="1" smtClean="0">
                                          <a:latin typeface="Cambria Math" panose="02040503050406030204" pitchFamily="18" charset="0"/>
                                          <a:ea typeface="Cambria Math" panose="02040503050406030204" pitchFamily="18" charset="0"/>
                                          <a:cs typeface="Arial" panose="020B0604020202020204" pitchFamily="34" charset="0"/>
                                        </a:rPr>
                                        <m:t>𝜆</m:t>
                                      </m:r>
                                    </m:e>
                                  </m:d>
                                  <m:r>
                                    <a:rPr lang="es-ES" sz="1200"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s-ES" sz="1200" b="0" i="1" smtClean="0">
                                          <a:latin typeface="Cambria Math" panose="02040503050406030204" pitchFamily="18" charset="0"/>
                                          <a:ea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ea typeface="Cambria Math" panose="02040503050406030204" pitchFamily="18" charset="0"/>
                                          <a:cs typeface="Arial" panose="020B0604020202020204" pitchFamily="34" charset="0"/>
                                        </a:rPr>
                                        <m:t>𝛽</m:t>
                                      </m:r>
                                    </m:e>
                                    <m:sub>
                                      <m:r>
                                        <a:rPr lang="es-ES" sz="1200" b="0" i="1" smtClean="0">
                                          <a:latin typeface="Cambria Math" panose="02040503050406030204" pitchFamily="18" charset="0"/>
                                          <a:ea typeface="Cambria Math" panose="02040503050406030204" pitchFamily="18" charset="0"/>
                                          <a:cs typeface="Arial" panose="020B0604020202020204" pitchFamily="34" charset="0"/>
                                        </a:rPr>
                                        <m:t>𝑑</m:t>
                                      </m:r>
                                    </m:sub>
                                  </m:sSub>
                                  <m:d>
                                    <m:dPr>
                                      <m:ctrlPr>
                                        <a:rPr lang="es-ES" sz="1200" b="0" i="1" smtClean="0">
                                          <a:latin typeface="Cambria Math" panose="02040503050406030204" pitchFamily="18" charset="0"/>
                                          <a:ea typeface="Cambria Math" panose="02040503050406030204" pitchFamily="18" charset="0"/>
                                          <a:cs typeface="Arial" panose="020B0604020202020204" pitchFamily="34" charset="0"/>
                                        </a:rPr>
                                      </m:ctrlPr>
                                    </m:dPr>
                                    <m:e>
                                      <m:r>
                                        <a:rPr lang="es-ES" sz="1200" b="0" i="1" smtClean="0">
                                          <a:latin typeface="Cambria Math" panose="02040503050406030204" pitchFamily="18" charset="0"/>
                                          <a:ea typeface="Cambria Math" panose="02040503050406030204" pitchFamily="18" charset="0"/>
                                          <a:cs typeface="Arial" panose="020B0604020202020204" pitchFamily="34" charset="0"/>
                                        </a:rPr>
                                        <m:t>𝜆</m:t>
                                      </m:r>
                                    </m:e>
                                  </m:d>
                                </m:e>
                              </m:d>
                            </m:e>
                          </m:d>
                        </m:e>
                      </m:func>
                    </m:oMath>
                  </m:oMathPara>
                </a14:m>
                <a:endParaRPr lang="es-CO" sz="1200" dirty="0">
                  <a:latin typeface="Arial" panose="020B0604020202020204" pitchFamily="34" charset="0"/>
                  <a:cs typeface="Arial" panose="020B0604020202020204" pitchFamily="34" charset="0"/>
                </a:endParaRPr>
              </a:p>
              <a:p>
                <a:pPr/>
                <a14:m>
                  <m:oMathPara xmlns:m="http://schemas.openxmlformats.org/officeDocument/2006/math">
                    <m:oMathParaPr>
                      <m:jc m:val="centerGroup"/>
                    </m:oMathParaPr>
                    <m:oMath xmlns:m="http://schemas.openxmlformats.org/officeDocument/2006/math">
                      <m:sSub>
                        <m:sSubPr>
                          <m:ctrlPr>
                            <a:rPr lang="es-ES" sz="1200" i="1">
                              <a:latin typeface="Cambria Math" panose="02040503050406030204" pitchFamily="18" charset="0"/>
                              <a:cs typeface="Arial" panose="020B0604020202020204" pitchFamily="34" charset="0"/>
                            </a:rPr>
                          </m:ctrlPr>
                        </m:sSubPr>
                        <m:e>
                          <m:r>
                            <a:rPr lang="es-ES" sz="1200" i="1">
                              <a:latin typeface="Cambria Math" panose="02040503050406030204" pitchFamily="18" charset="0"/>
                              <a:cs typeface="Arial" panose="020B0604020202020204" pitchFamily="34" charset="0"/>
                            </a:rPr>
                            <m:t>𝐻</m:t>
                          </m:r>
                        </m:e>
                        <m:sub>
                          <m:r>
                            <a:rPr lang="es-ES" sz="1200" i="1">
                              <a:latin typeface="Cambria Math" panose="02040503050406030204" pitchFamily="18" charset="0"/>
                              <a:cs typeface="Arial" panose="020B0604020202020204" pitchFamily="34" charset="0"/>
                            </a:rPr>
                            <m:t>2</m:t>
                          </m:r>
                          <m:r>
                            <a:rPr lang="es-ES" sz="1200" b="0" i="1" smtClean="0">
                              <a:latin typeface="Cambria Math" panose="02040503050406030204" pitchFamily="18" charset="0"/>
                              <a:cs typeface="Arial" panose="020B0604020202020204" pitchFamily="34" charset="0"/>
                            </a:rPr>
                            <m:t>2</m:t>
                          </m:r>
                        </m:sub>
                      </m:sSub>
                      <m:d>
                        <m:dPr>
                          <m:ctrlPr>
                            <a:rPr lang="es-ES" sz="1200" i="1">
                              <a:latin typeface="Cambria Math" panose="02040503050406030204" pitchFamily="18" charset="0"/>
                              <a:cs typeface="Arial" panose="020B0604020202020204" pitchFamily="34" charset="0"/>
                            </a:rPr>
                          </m:ctrlPr>
                        </m:dPr>
                        <m:e>
                          <m:r>
                            <a:rPr lang="es-ES" sz="1200" i="1">
                              <a:latin typeface="Cambria Math" panose="02040503050406030204" pitchFamily="18" charset="0"/>
                              <a:ea typeface="Cambria Math" panose="02040503050406030204" pitchFamily="18" charset="0"/>
                              <a:cs typeface="Arial" panose="020B0604020202020204" pitchFamily="34" charset="0"/>
                            </a:rPr>
                            <m:t>𝜆</m:t>
                          </m:r>
                        </m:e>
                      </m:d>
                      <m:r>
                        <a:rPr lang="es-ES" sz="1200" i="1">
                          <a:latin typeface="Cambria Math" panose="02040503050406030204" pitchFamily="18" charset="0"/>
                          <a:ea typeface="Cambria Math" panose="02040503050406030204" pitchFamily="18" charset="0"/>
                          <a:cs typeface="Arial" panose="020B0604020202020204" pitchFamily="34" charset="0"/>
                        </a:rPr>
                        <m:t>=</m:t>
                      </m:r>
                      <m:func>
                        <m:funcPr>
                          <m:ctrlPr>
                            <a:rPr lang="es-ES" sz="1200" i="1">
                              <a:latin typeface="Cambria Math" panose="02040503050406030204" pitchFamily="18" charset="0"/>
                              <a:ea typeface="Cambria Math" panose="02040503050406030204" pitchFamily="18" charset="0"/>
                              <a:cs typeface="Arial" panose="020B0604020202020204" pitchFamily="34" charset="0"/>
                            </a:rPr>
                          </m:ctrlPr>
                        </m:funcPr>
                        <m:fName>
                          <m:sSup>
                            <m:sSupPr>
                              <m:ctrlPr>
                                <a:rPr lang="es-ES" sz="1200" i="1">
                                  <a:latin typeface="Cambria Math" panose="02040503050406030204" pitchFamily="18" charset="0"/>
                                  <a:ea typeface="Cambria Math" panose="02040503050406030204" pitchFamily="18" charset="0"/>
                                  <a:cs typeface="Arial" panose="020B0604020202020204" pitchFamily="34" charset="0"/>
                                </a:rPr>
                              </m:ctrlPr>
                            </m:sSupPr>
                            <m:e>
                              <m:r>
                                <m:rPr>
                                  <m:sty m:val="p"/>
                                </m:rPr>
                                <a:rPr lang="es-ES" sz="1200" b="0" i="0" smtClean="0">
                                  <a:latin typeface="Cambria Math" panose="02040503050406030204" pitchFamily="18" charset="0"/>
                                  <a:ea typeface="Cambria Math" panose="02040503050406030204" pitchFamily="18" charset="0"/>
                                  <a:cs typeface="Arial" panose="020B0604020202020204" pitchFamily="34" charset="0"/>
                                </a:rPr>
                                <m:t>sin</m:t>
                              </m:r>
                            </m:e>
                            <m:sup>
                              <m:r>
                                <a:rPr lang="es-ES" sz="1200" i="1">
                                  <a:latin typeface="Cambria Math" panose="02040503050406030204" pitchFamily="18" charset="0"/>
                                  <a:ea typeface="Cambria Math" panose="02040503050406030204" pitchFamily="18" charset="0"/>
                                  <a:cs typeface="Arial" panose="020B0604020202020204" pitchFamily="34" charset="0"/>
                                </a:rPr>
                                <m:t>2</m:t>
                              </m:r>
                            </m:sup>
                          </m:sSup>
                        </m:fName>
                        <m:e>
                          <m:d>
                            <m:dPr>
                              <m:ctrlPr>
                                <a:rPr lang="es-ES" sz="1200" i="1">
                                  <a:latin typeface="Cambria Math" panose="02040503050406030204" pitchFamily="18" charset="0"/>
                                  <a:ea typeface="Cambria Math" panose="02040503050406030204" pitchFamily="18" charset="0"/>
                                  <a:cs typeface="Arial" panose="020B0604020202020204" pitchFamily="34" charset="0"/>
                                </a:rPr>
                              </m:ctrlPr>
                            </m:dPr>
                            <m:e>
                              <m:f>
                                <m:fPr>
                                  <m:ctrlPr>
                                    <a:rPr lang="es-ES" sz="1200" i="1">
                                      <a:latin typeface="Cambria Math" panose="02040503050406030204" pitchFamily="18" charset="0"/>
                                      <a:ea typeface="Cambria Math" panose="02040503050406030204" pitchFamily="18" charset="0"/>
                                      <a:cs typeface="Arial" panose="020B0604020202020204" pitchFamily="34" charset="0"/>
                                    </a:rPr>
                                  </m:ctrlPr>
                                </m:fPr>
                                <m:num>
                                  <m:r>
                                    <a:rPr lang="es-ES" sz="1200" i="1">
                                      <a:latin typeface="Cambria Math" panose="02040503050406030204" pitchFamily="18" charset="0"/>
                                      <a:ea typeface="Cambria Math" panose="02040503050406030204" pitchFamily="18" charset="0"/>
                                      <a:cs typeface="Arial" panose="020B0604020202020204" pitchFamily="34" charset="0"/>
                                    </a:rPr>
                                    <m:t>𝐿</m:t>
                                  </m:r>
                                </m:num>
                                <m:den>
                                  <m:r>
                                    <a:rPr lang="es-ES" sz="1200" i="1">
                                      <a:latin typeface="Cambria Math" panose="02040503050406030204" pitchFamily="18" charset="0"/>
                                      <a:ea typeface="Cambria Math" panose="02040503050406030204" pitchFamily="18" charset="0"/>
                                      <a:cs typeface="Arial" panose="020B0604020202020204" pitchFamily="34" charset="0"/>
                                    </a:rPr>
                                    <m:t>2</m:t>
                                  </m:r>
                                </m:den>
                              </m:f>
                              <m:d>
                                <m:dPr>
                                  <m:ctrlPr>
                                    <a:rPr lang="es-ES" sz="1200" i="1">
                                      <a:latin typeface="Cambria Math" panose="02040503050406030204" pitchFamily="18" charset="0"/>
                                      <a:ea typeface="Cambria Math" panose="02040503050406030204" pitchFamily="18" charset="0"/>
                                      <a:cs typeface="Arial" panose="020B0604020202020204" pitchFamily="34" charset="0"/>
                                    </a:rPr>
                                  </m:ctrlPr>
                                </m:dPr>
                                <m:e>
                                  <m:sSub>
                                    <m:sSubPr>
                                      <m:ctrlPr>
                                        <a:rPr lang="es-ES" sz="1200" i="1">
                                          <a:latin typeface="Cambria Math" panose="02040503050406030204" pitchFamily="18" charset="0"/>
                                          <a:ea typeface="Cambria Math" panose="02040503050406030204" pitchFamily="18" charset="0"/>
                                          <a:cs typeface="Arial" panose="020B0604020202020204" pitchFamily="34" charset="0"/>
                                        </a:rPr>
                                      </m:ctrlPr>
                                    </m:sSubPr>
                                    <m:e>
                                      <m:r>
                                        <a:rPr lang="es-ES" sz="1200" i="1">
                                          <a:latin typeface="Cambria Math" panose="02040503050406030204" pitchFamily="18" charset="0"/>
                                          <a:ea typeface="Cambria Math" panose="02040503050406030204" pitchFamily="18" charset="0"/>
                                          <a:cs typeface="Arial" panose="020B0604020202020204" pitchFamily="34" charset="0"/>
                                        </a:rPr>
                                        <m:t>𝛽</m:t>
                                      </m:r>
                                    </m:e>
                                    <m:sub>
                                      <m:r>
                                        <a:rPr lang="es-ES" sz="1200" i="1">
                                          <a:latin typeface="Cambria Math" panose="02040503050406030204" pitchFamily="18" charset="0"/>
                                          <a:ea typeface="Cambria Math" panose="02040503050406030204" pitchFamily="18" charset="0"/>
                                          <a:cs typeface="Arial" panose="020B0604020202020204" pitchFamily="34" charset="0"/>
                                        </a:rPr>
                                        <m:t>𝑢</m:t>
                                      </m:r>
                                    </m:sub>
                                  </m:sSub>
                                  <m:d>
                                    <m:dPr>
                                      <m:ctrlPr>
                                        <a:rPr lang="es-ES" sz="1200" i="1">
                                          <a:latin typeface="Cambria Math" panose="02040503050406030204" pitchFamily="18" charset="0"/>
                                          <a:ea typeface="Cambria Math" panose="02040503050406030204" pitchFamily="18" charset="0"/>
                                          <a:cs typeface="Arial" panose="020B0604020202020204" pitchFamily="34" charset="0"/>
                                        </a:rPr>
                                      </m:ctrlPr>
                                    </m:dPr>
                                    <m:e>
                                      <m:r>
                                        <a:rPr lang="es-ES" sz="1200" i="1">
                                          <a:latin typeface="Cambria Math" panose="02040503050406030204" pitchFamily="18" charset="0"/>
                                          <a:ea typeface="Cambria Math" panose="02040503050406030204" pitchFamily="18" charset="0"/>
                                          <a:cs typeface="Arial" panose="020B0604020202020204" pitchFamily="34" charset="0"/>
                                        </a:rPr>
                                        <m:t>𝜆</m:t>
                                      </m:r>
                                    </m:e>
                                  </m:d>
                                  <m:r>
                                    <a:rPr lang="es-ES" sz="1200" i="1">
                                      <a:latin typeface="Cambria Math" panose="02040503050406030204" pitchFamily="18" charset="0"/>
                                      <a:ea typeface="Cambria Math" panose="02040503050406030204" pitchFamily="18" charset="0"/>
                                      <a:cs typeface="Arial" panose="020B0604020202020204" pitchFamily="34" charset="0"/>
                                    </a:rPr>
                                    <m:t>−</m:t>
                                  </m:r>
                                  <m:sSub>
                                    <m:sSubPr>
                                      <m:ctrlPr>
                                        <a:rPr lang="es-ES" sz="1200" i="1">
                                          <a:latin typeface="Cambria Math" panose="02040503050406030204" pitchFamily="18" charset="0"/>
                                          <a:ea typeface="Cambria Math" panose="02040503050406030204" pitchFamily="18" charset="0"/>
                                          <a:cs typeface="Arial" panose="020B0604020202020204" pitchFamily="34" charset="0"/>
                                        </a:rPr>
                                      </m:ctrlPr>
                                    </m:sSubPr>
                                    <m:e>
                                      <m:r>
                                        <a:rPr lang="es-ES" sz="1200" i="1">
                                          <a:latin typeface="Cambria Math" panose="02040503050406030204" pitchFamily="18" charset="0"/>
                                          <a:ea typeface="Cambria Math" panose="02040503050406030204" pitchFamily="18" charset="0"/>
                                          <a:cs typeface="Arial" panose="020B0604020202020204" pitchFamily="34" charset="0"/>
                                        </a:rPr>
                                        <m:t>𝛽</m:t>
                                      </m:r>
                                    </m:e>
                                    <m:sub>
                                      <m:r>
                                        <a:rPr lang="es-ES" sz="1200" i="1">
                                          <a:latin typeface="Cambria Math" panose="02040503050406030204" pitchFamily="18" charset="0"/>
                                          <a:ea typeface="Cambria Math" panose="02040503050406030204" pitchFamily="18" charset="0"/>
                                          <a:cs typeface="Arial" panose="020B0604020202020204" pitchFamily="34" charset="0"/>
                                        </a:rPr>
                                        <m:t>𝑑</m:t>
                                      </m:r>
                                    </m:sub>
                                  </m:sSub>
                                  <m:d>
                                    <m:dPr>
                                      <m:ctrlPr>
                                        <a:rPr lang="es-ES" sz="1200" i="1">
                                          <a:latin typeface="Cambria Math" panose="02040503050406030204" pitchFamily="18" charset="0"/>
                                          <a:ea typeface="Cambria Math" panose="02040503050406030204" pitchFamily="18" charset="0"/>
                                          <a:cs typeface="Arial" panose="020B0604020202020204" pitchFamily="34" charset="0"/>
                                        </a:rPr>
                                      </m:ctrlPr>
                                    </m:dPr>
                                    <m:e>
                                      <m:r>
                                        <a:rPr lang="es-ES" sz="1200" i="1">
                                          <a:latin typeface="Cambria Math" panose="02040503050406030204" pitchFamily="18" charset="0"/>
                                          <a:ea typeface="Cambria Math" panose="02040503050406030204" pitchFamily="18" charset="0"/>
                                          <a:cs typeface="Arial" panose="020B0604020202020204" pitchFamily="34" charset="0"/>
                                        </a:rPr>
                                        <m:t>𝜆</m:t>
                                      </m:r>
                                    </m:e>
                                  </m:d>
                                </m:e>
                              </m:d>
                            </m:e>
                          </m:d>
                        </m:e>
                      </m:func>
                    </m:oMath>
                  </m:oMathPara>
                </a14:m>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In this case, the device could also function as a tunable coupler, meaning the output ratio between the two ports can be varied by changing the effective index of each arm. This could also be achieved using a phase shifter that exploits the thermo-optic effect to modify the refractive index, thereby creating a phase difference.</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For this approach, the device must be centered at a specific wavelength, for example 1.55 µm. At this wavelength, one branch might output 0.6 while the other outputs 0.4. Here, we can determine the required phase difference Δ𝛽(𝜆) to produce the desired output according to:</a:t>
                </a:r>
              </a:p>
              <a:p>
                <a:pPr algn="just"/>
                <a14:m>
                  <m:oMathPara xmlns:m="http://schemas.openxmlformats.org/officeDocument/2006/math">
                    <m:oMathParaPr>
                      <m:jc m:val="centerGroup"/>
                    </m:oMathParaPr>
                    <m:oMath xmlns:m="http://schemas.openxmlformats.org/officeDocument/2006/math">
                      <m:r>
                        <m:rPr>
                          <m:sty m:val="p"/>
                        </m:rPr>
                        <a:rPr lang="es-ES" sz="1200" i="1">
                          <a:latin typeface="Cambria Math" panose="02040503050406030204" pitchFamily="18" charset="0"/>
                          <a:cs typeface="Arial" panose="020B0604020202020204" pitchFamily="34" charset="0"/>
                        </a:rPr>
                        <m:t>P</m:t>
                      </m:r>
                      <m:r>
                        <a:rPr lang="es-ES" sz="1200" b="0" i="1" smtClean="0">
                          <a:latin typeface="Cambria Math" panose="02040503050406030204" pitchFamily="18" charset="0"/>
                          <a:cs typeface="Arial" panose="020B0604020202020204" pitchFamily="34" charset="0"/>
                        </a:rPr>
                        <m:t>𝑜𝑡𝑒𝑛𝑐𝑖𝑎</m:t>
                      </m:r>
                      <m:r>
                        <a:rPr lang="es-ES" sz="1200" b="0" i="1" smtClean="0">
                          <a:latin typeface="Cambria Math" panose="02040503050406030204" pitchFamily="18" charset="0"/>
                          <a:cs typeface="Arial" panose="020B0604020202020204" pitchFamily="34" charset="0"/>
                        </a:rPr>
                        <m:t> </m:t>
                      </m:r>
                      <m:r>
                        <a:rPr lang="es-ES" sz="1200" b="0" i="1" smtClean="0">
                          <a:latin typeface="Cambria Math" panose="02040503050406030204" pitchFamily="18" charset="0"/>
                          <a:cs typeface="Arial" panose="020B0604020202020204" pitchFamily="34" charset="0"/>
                        </a:rPr>
                        <m:t>𝑑𝑒</m:t>
                      </m:r>
                      <m:r>
                        <a:rPr lang="es-ES" sz="1200" b="0" i="1" smtClean="0">
                          <a:latin typeface="Cambria Math" panose="02040503050406030204" pitchFamily="18" charset="0"/>
                          <a:cs typeface="Arial" panose="020B0604020202020204" pitchFamily="34" charset="0"/>
                        </a:rPr>
                        <m:t> </m:t>
                      </m:r>
                      <m:r>
                        <a:rPr lang="es-ES" sz="1200" b="0" i="1" smtClean="0">
                          <a:latin typeface="Cambria Math" panose="02040503050406030204" pitchFamily="18" charset="0"/>
                          <a:cs typeface="Arial" panose="020B0604020202020204" pitchFamily="34" charset="0"/>
                        </a:rPr>
                        <m:t>𝑠𝑎𝑙𝑖𝑑𝑎</m:t>
                      </m:r>
                      <m:r>
                        <a:rPr lang="es-ES" sz="1200" b="0" i="1" smtClean="0">
                          <a:latin typeface="Cambria Math" panose="02040503050406030204" pitchFamily="18" charset="0"/>
                          <a:cs typeface="Arial" panose="020B0604020202020204" pitchFamily="34" charset="0"/>
                        </a:rPr>
                        <m:t>=</m:t>
                      </m:r>
                      <m:func>
                        <m:funcPr>
                          <m:ctrlPr>
                            <a:rPr lang="es-ES" sz="1200" b="0" i="1" smtClean="0">
                              <a:latin typeface="Cambria Math" panose="02040503050406030204" pitchFamily="18" charset="0"/>
                              <a:cs typeface="Arial" panose="020B0604020202020204" pitchFamily="34" charset="0"/>
                            </a:rPr>
                          </m:ctrlPr>
                        </m:funcPr>
                        <m:fName>
                          <m:sSup>
                            <m:sSupPr>
                              <m:ctrlPr>
                                <a:rPr lang="es-ES" sz="1200" b="0" i="1" smtClean="0">
                                  <a:latin typeface="Cambria Math" panose="02040503050406030204" pitchFamily="18" charset="0"/>
                                  <a:cs typeface="Arial" panose="020B0604020202020204" pitchFamily="34" charset="0"/>
                                </a:rPr>
                              </m:ctrlPr>
                            </m:sSupPr>
                            <m:e>
                              <m:r>
                                <m:rPr>
                                  <m:sty m:val="p"/>
                                </m:rPr>
                                <a:rPr lang="es-ES" sz="1200" b="0" i="0" smtClean="0">
                                  <a:latin typeface="Cambria Math" panose="02040503050406030204" pitchFamily="18" charset="0"/>
                                  <a:cs typeface="Arial" panose="020B0604020202020204" pitchFamily="34" charset="0"/>
                                </a:rPr>
                                <m:t>cos</m:t>
                              </m:r>
                            </m:e>
                            <m:sup>
                              <m:r>
                                <a:rPr lang="es-ES" sz="1200" b="0" i="1" smtClean="0">
                                  <a:latin typeface="Cambria Math" panose="02040503050406030204" pitchFamily="18" charset="0"/>
                                  <a:cs typeface="Arial" panose="020B0604020202020204" pitchFamily="34" charset="0"/>
                                </a:rPr>
                                <m:t>2</m:t>
                              </m:r>
                            </m:sup>
                          </m:sSup>
                        </m:fName>
                        <m:e>
                          <m:d>
                            <m:dPr>
                              <m:ctrlPr>
                                <a:rPr lang="es-ES" sz="1200" b="0" i="1" smtClean="0">
                                  <a:latin typeface="Cambria Math" panose="02040503050406030204" pitchFamily="18" charset="0"/>
                                  <a:cs typeface="Arial" panose="020B0604020202020204" pitchFamily="34" charset="0"/>
                                </a:rPr>
                              </m:ctrlPr>
                            </m:dPr>
                            <m:e>
                              <m:f>
                                <m:fPr>
                                  <m:ctrlPr>
                                    <a:rPr lang="es-ES" sz="1200" b="0" i="1" smtClean="0">
                                      <a:latin typeface="Cambria Math" panose="02040503050406030204" pitchFamily="18" charset="0"/>
                                      <a:cs typeface="Arial" panose="020B0604020202020204" pitchFamily="34" charset="0"/>
                                    </a:rPr>
                                  </m:ctrlPr>
                                </m:fPr>
                                <m:num>
                                  <m:r>
                                    <a:rPr lang="es-ES" sz="1200" b="0" i="1" smtClean="0">
                                      <a:latin typeface="Cambria Math" panose="02040503050406030204" pitchFamily="18" charset="0"/>
                                      <a:cs typeface="Arial" panose="020B0604020202020204" pitchFamily="34" charset="0"/>
                                    </a:rPr>
                                    <m:t>𝐿</m:t>
                                  </m:r>
                                </m:num>
                                <m:den>
                                  <m:r>
                                    <a:rPr lang="es-ES" sz="1200" b="0" i="1" smtClean="0">
                                      <a:latin typeface="Cambria Math" panose="02040503050406030204" pitchFamily="18" charset="0"/>
                                      <a:cs typeface="Arial" panose="020B0604020202020204" pitchFamily="34" charset="0"/>
                                    </a:rPr>
                                    <m:t>2</m:t>
                                  </m:r>
                                </m:den>
                              </m:f>
                              <m:r>
                                <m:rPr>
                                  <m:sty m:val="p"/>
                                </m:rPr>
                                <a:rPr lang="el-GR" sz="1200" b="0" i="1" smtClean="0">
                                  <a:latin typeface="Cambria Math" panose="02040503050406030204" pitchFamily="18" charset="0"/>
                                  <a:ea typeface="Cambria Math" panose="02040503050406030204" pitchFamily="18" charset="0"/>
                                  <a:cs typeface="Arial" panose="020B0604020202020204" pitchFamily="34" charset="0"/>
                                </a:rPr>
                                <m:t>Δ</m:t>
                              </m:r>
                              <m:r>
                                <a:rPr lang="el-GR" sz="1200" b="0" i="1" smtClean="0">
                                  <a:latin typeface="Cambria Math" panose="02040503050406030204" pitchFamily="18" charset="0"/>
                                  <a:ea typeface="Cambria Math" panose="02040503050406030204" pitchFamily="18" charset="0"/>
                                  <a:cs typeface="Arial" panose="020B0604020202020204" pitchFamily="34" charset="0"/>
                                </a:rPr>
                                <m:t>𝛽</m:t>
                              </m:r>
                              <m:d>
                                <m:dPr>
                                  <m:ctrlPr>
                                    <a:rPr lang="es-ES" sz="1200" b="0" i="1" smtClean="0">
                                      <a:latin typeface="Cambria Math" panose="02040503050406030204" pitchFamily="18" charset="0"/>
                                      <a:ea typeface="Cambria Math" panose="02040503050406030204" pitchFamily="18" charset="0"/>
                                      <a:cs typeface="Arial" panose="020B0604020202020204" pitchFamily="34" charset="0"/>
                                    </a:rPr>
                                  </m:ctrlPr>
                                </m:dPr>
                                <m:e>
                                  <m:r>
                                    <a:rPr lang="es-ES" sz="1200" b="0" i="1" smtClean="0">
                                      <a:latin typeface="Cambria Math" panose="02040503050406030204" pitchFamily="18" charset="0"/>
                                      <a:ea typeface="Cambria Math" panose="02040503050406030204" pitchFamily="18" charset="0"/>
                                      <a:cs typeface="Arial" panose="020B0604020202020204" pitchFamily="34" charset="0"/>
                                    </a:rPr>
                                    <m:t>𝜆</m:t>
                                  </m:r>
                                </m:e>
                              </m:d>
                            </m:e>
                          </m:d>
                        </m:e>
                      </m:func>
                    </m:oMath>
                  </m:oMathPara>
                </a14:m>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Solving for </a:t>
                </a:r>
                <a14:m>
                  <m:oMath xmlns:m="http://schemas.openxmlformats.org/officeDocument/2006/math">
                    <m:r>
                      <m:rPr>
                        <m:sty m:val="p"/>
                      </m:rPr>
                      <a:rPr lang="el-GR" sz="1200" i="1">
                        <a:latin typeface="Cambria Math" panose="02040503050406030204" pitchFamily="18" charset="0"/>
                        <a:ea typeface="Cambria Math" panose="02040503050406030204" pitchFamily="18" charset="0"/>
                        <a:cs typeface="Arial" panose="020B0604020202020204" pitchFamily="34" charset="0"/>
                      </a:rPr>
                      <m:t>Δ</m:t>
                    </m:r>
                    <m:r>
                      <a:rPr lang="el-GR" sz="1200" i="1">
                        <a:latin typeface="Cambria Math" panose="02040503050406030204" pitchFamily="18" charset="0"/>
                        <a:ea typeface="Cambria Math" panose="02040503050406030204" pitchFamily="18" charset="0"/>
                        <a:cs typeface="Arial" panose="020B0604020202020204" pitchFamily="34" charset="0"/>
                      </a:rPr>
                      <m:t>𝛽</m:t>
                    </m:r>
                    <m:d>
                      <m:dPr>
                        <m:ctrlPr>
                          <a:rPr lang="es-ES" sz="1200" i="1">
                            <a:latin typeface="Cambria Math" panose="02040503050406030204" pitchFamily="18" charset="0"/>
                            <a:ea typeface="Cambria Math" panose="02040503050406030204" pitchFamily="18" charset="0"/>
                            <a:cs typeface="Arial" panose="020B0604020202020204" pitchFamily="34" charset="0"/>
                          </a:rPr>
                        </m:ctrlPr>
                      </m:dPr>
                      <m:e>
                        <m:r>
                          <a:rPr lang="es-ES" sz="1200" i="1">
                            <a:latin typeface="Cambria Math" panose="02040503050406030204" pitchFamily="18" charset="0"/>
                            <a:ea typeface="Cambria Math" panose="02040503050406030204" pitchFamily="18" charset="0"/>
                            <a:cs typeface="Arial" panose="020B0604020202020204" pitchFamily="34" charset="0"/>
                          </a:rPr>
                          <m:t>𝜆</m:t>
                        </m:r>
                      </m:e>
                    </m:d>
                  </m:oMath>
                </a14:m>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sym typeface="Wingdings" panose="05000000000000000000" pitchFamily="2" charset="2"/>
                </a:endParaRPr>
              </a:p>
              <a:p>
                <a:pPr algn="ctr"/>
                <a:r>
                  <a:rPr lang="en-US" sz="1200" dirty="0">
                    <a:latin typeface="Arial" panose="020B0604020202020204" pitchFamily="34" charset="0"/>
                    <a:cs typeface="Arial" panose="020B0604020202020204" pitchFamily="34" charset="0"/>
                    <a:sym typeface="Wingdings" panose="05000000000000000000" pitchFamily="2" charset="2"/>
                  </a:rPr>
                  <a:t> </a:t>
                </a:r>
                <a14:m>
                  <m:oMath xmlns:m="http://schemas.openxmlformats.org/officeDocument/2006/math">
                    <m:r>
                      <m:rPr>
                        <m:sty m:val="p"/>
                      </m:rPr>
                      <a:rPr lang="el-GR" sz="1100" i="1">
                        <a:latin typeface="Cambria Math" panose="02040503050406030204" pitchFamily="18" charset="0"/>
                        <a:ea typeface="Cambria Math" panose="02040503050406030204" pitchFamily="18" charset="0"/>
                        <a:cs typeface="Arial" panose="020B0604020202020204" pitchFamily="34" charset="0"/>
                      </a:rPr>
                      <m:t>Δ</m:t>
                    </m:r>
                    <m:r>
                      <a:rPr lang="el-GR" sz="1100" i="1">
                        <a:latin typeface="Cambria Math" panose="02040503050406030204" pitchFamily="18" charset="0"/>
                        <a:ea typeface="Cambria Math" panose="02040503050406030204" pitchFamily="18" charset="0"/>
                        <a:cs typeface="Arial" panose="020B0604020202020204" pitchFamily="34" charset="0"/>
                      </a:rPr>
                      <m:t>𝛽</m:t>
                    </m:r>
                    <m:d>
                      <m:dPr>
                        <m:ctrlPr>
                          <a:rPr lang="es-ES" sz="1100" i="1">
                            <a:latin typeface="Cambria Math" panose="02040503050406030204" pitchFamily="18" charset="0"/>
                            <a:ea typeface="Cambria Math" panose="02040503050406030204" pitchFamily="18" charset="0"/>
                            <a:cs typeface="Arial" panose="020B0604020202020204" pitchFamily="34" charset="0"/>
                          </a:rPr>
                        </m:ctrlPr>
                      </m:dPr>
                      <m:e>
                        <m:r>
                          <a:rPr lang="es-ES" sz="1100" i="1">
                            <a:latin typeface="Cambria Math" panose="02040503050406030204" pitchFamily="18" charset="0"/>
                            <a:ea typeface="Cambria Math" panose="02040503050406030204" pitchFamily="18" charset="0"/>
                            <a:cs typeface="Arial" panose="020B0604020202020204" pitchFamily="34" charset="0"/>
                          </a:rPr>
                          <m:t>𝜆</m:t>
                        </m:r>
                      </m:e>
                    </m:d>
                    <m:r>
                      <a:rPr lang="es-ES" sz="1100" b="0" i="1" smtClean="0">
                        <a:latin typeface="Cambria Math" panose="02040503050406030204" pitchFamily="18" charset="0"/>
                        <a:ea typeface="Cambria Math" panose="02040503050406030204" pitchFamily="18" charset="0"/>
                        <a:cs typeface="Arial" panose="020B0604020202020204" pitchFamily="34" charset="0"/>
                      </a:rPr>
                      <m:t>=</m:t>
                    </m:r>
                    <m:f>
                      <m:fPr>
                        <m:ctrlPr>
                          <a:rPr lang="es-ES" sz="1100" b="0" i="1" smtClean="0">
                            <a:latin typeface="Cambria Math" panose="02040503050406030204" pitchFamily="18" charset="0"/>
                            <a:ea typeface="Cambria Math" panose="02040503050406030204" pitchFamily="18" charset="0"/>
                            <a:cs typeface="Arial" panose="020B0604020202020204" pitchFamily="34" charset="0"/>
                          </a:rPr>
                        </m:ctrlPr>
                      </m:fPr>
                      <m:num>
                        <m:func>
                          <m:funcPr>
                            <m:ctrlPr>
                              <a:rPr lang="es-ES" sz="1100" b="0" i="1" smtClean="0">
                                <a:latin typeface="Cambria Math" panose="02040503050406030204" pitchFamily="18" charset="0"/>
                                <a:ea typeface="Cambria Math" panose="02040503050406030204" pitchFamily="18" charset="0"/>
                                <a:cs typeface="Arial" panose="020B0604020202020204" pitchFamily="34" charset="0"/>
                              </a:rPr>
                            </m:ctrlPr>
                          </m:funcPr>
                          <m:fName>
                            <m:r>
                              <m:rPr>
                                <m:sty m:val="p"/>
                              </m:rPr>
                              <a:rPr lang="es-ES" sz="1100" b="0" i="0" smtClean="0">
                                <a:latin typeface="Cambria Math" panose="02040503050406030204" pitchFamily="18" charset="0"/>
                                <a:ea typeface="Cambria Math" panose="02040503050406030204" pitchFamily="18" charset="0"/>
                                <a:cs typeface="Arial" panose="020B0604020202020204" pitchFamily="34" charset="0"/>
                              </a:rPr>
                              <m:t>arccos</m:t>
                            </m:r>
                          </m:fName>
                          <m:e>
                            <m:d>
                              <m:dPr>
                                <m:ctrlPr>
                                  <a:rPr lang="es-ES" sz="1100" b="0" i="1" smtClean="0">
                                    <a:latin typeface="Cambria Math" panose="02040503050406030204" pitchFamily="18" charset="0"/>
                                    <a:ea typeface="Cambria Math" panose="02040503050406030204" pitchFamily="18" charset="0"/>
                                    <a:cs typeface="Arial" panose="020B0604020202020204" pitchFamily="34" charset="0"/>
                                  </a:rPr>
                                </m:ctrlPr>
                              </m:dPr>
                              <m:e>
                                <m:rad>
                                  <m:radPr>
                                    <m:degHide m:val="on"/>
                                    <m:ctrlPr>
                                      <a:rPr lang="es-ES" sz="1100" b="0" i="1" smtClean="0">
                                        <a:latin typeface="Cambria Math" panose="02040503050406030204" pitchFamily="18" charset="0"/>
                                        <a:ea typeface="Cambria Math" panose="02040503050406030204" pitchFamily="18" charset="0"/>
                                        <a:cs typeface="Arial" panose="020B0604020202020204" pitchFamily="34" charset="0"/>
                                      </a:rPr>
                                    </m:ctrlPr>
                                  </m:radPr>
                                  <m:deg/>
                                  <m:e>
                                    <m:r>
                                      <m:rPr>
                                        <m:sty m:val="p"/>
                                      </m:rPr>
                                      <a:rPr lang="es-ES" sz="1100" i="1">
                                        <a:latin typeface="Cambria Math" panose="02040503050406030204" pitchFamily="18" charset="0"/>
                                        <a:cs typeface="Arial" panose="020B0604020202020204" pitchFamily="34" charset="0"/>
                                      </a:rPr>
                                      <m:t>P</m:t>
                                    </m:r>
                                    <m:r>
                                      <a:rPr lang="es-ES" sz="1100" i="1">
                                        <a:latin typeface="Cambria Math" panose="02040503050406030204" pitchFamily="18" charset="0"/>
                                        <a:cs typeface="Arial" panose="020B0604020202020204" pitchFamily="34" charset="0"/>
                                      </a:rPr>
                                      <m:t>𝑜𝑡𝑒𝑛𝑐𝑖𝑎</m:t>
                                    </m:r>
                                    <m:r>
                                      <a:rPr lang="es-ES" sz="1100" i="1">
                                        <a:latin typeface="Cambria Math" panose="02040503050406030204" pitchFamily="18" charset="0"/>
                                        <a:cs typeface="Arial" panose="020B0604020202020204" pitchFamily="34" charset="0"/>
                                      </a:rPr>
                                      <m:t> </m:t>
                                    </m:r>
                                    <m:r>
                                      <a:rPr lang="es-ES" sz="1100" i="1">
                                        <a:latin typeface="Cambria Math" panose="02040503050406030204" pitchFamily="18" charset="0"/>
                                        <a:cs typeface="Arial" panose="020B0604020202020204" pitchFamily="34" charset="0"/>
                                      </a:rPr>
                                      <m:t>𝑑𝑒</m:t>
                                    </m:r>
                                    <m:r>
                                      <a:rPr lang="es-ES" sz="1100" i="1">
                                        <a:latin typeface="Cambria Math" panose="02040503050406030204" pitchFamily="18" charset="0"/>
                                        <a:cs typeface="Arial" panose="020B0604020202020204" pitchFamily="34" charset="0"/>
                                      </a:rPr>
                                      <m:t> </m:t>
                                    </m:r>
                                    <m:r>
                                      <a:rPr lang="es-ES" sz="1100" i="1">
                                        <a:latin typeface="Cambria Math" panose="02040503050406030204" pitchFamily="18" charset="0"/>
                                        <a:cs typeface="Arial" panose="020B0604020202020204" pitchFamily="34" charset="0"/>
                                      </a:rPr>
                                      <m:t>𝑠𝑎𝑙𝑖𝑑𝑎</m:t>
                                    </m:r>
                                  </m:e>
                                </m:rad>
                              </m:e>
                            </m:d>
                          </m:e>
                        </m:func>
                      </m:num>
                      <m:den>
                        <m:r>
                          <a:rPr lang="es-ES" sz="1100" b="0" i="1" smtClean="0">
                            <a:latin typeface="Cambria Math" panose="02040503050406030204" pitchFamily="18" charset="0"/>
                            <a:ea typeface="Cambria Math" panose="02040503050406030204" pitchFamily="18" charset="0"/>
                            <a:cs typeface="Arial" panose="020B0604020202020204" pitchFamily="34" charset="0"/>
                          </a:rPr>
                          <m:t>𝐿</m:t>
                        </m:r>
                      </m:den>
                    </m:f>
                  </m:oMath>
                </a14:m>
                <a:endParaRPr lang="en-US" sz="12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00D2574A-3601-651C-20E5-E2B5C8F4DA0A}"/>
                  </a:ext>
                </a:extLst>
              </p:cNvPr>
              <p:cNvSpPr txBox="1">
                <a:spLocks noRot="1" noChangeAspect="1" noMove="1" noResize="1" noEditPoints="1" noAdjustHandles="1" noChangeArrowheads="1" noChangeShapeType="1" noTextEdit="1"/>
              </p:cNvSpPr>
              <p:nvPr/>
            </p:nvSpPr>
            <p:spPr>
              <a:xfrm>
                <a:off x="3662010" y="914400"/>
                <a:ext cx="8246800" cy="5676362"/>
              </a:xfrm>
              <a:prstGeom prst="rect">
                <a:avLst/>
              </a:prstGeom>
              <a:blipFill>
                <a:blip r:embed="rId5"/>
                <a:stretch>
                  <a:fillRect r="-74"/>
                </a:stretch>
              </a:blipFill>
              <a:ln w="28575">
                <a:solidFill>
                  <a:srgbClr val="E0700D"/>
                </a:solidFill>
              </a:ln>
            </p:spPr>
            <p:txBody>
              <a:bodyPr/>
              <a:lstStyle/>
              <a:p>
                <a:r>
                  <a:rPr lang="es-CO">
                    <a:noFill/>
                  </a:rPr>
                  <a:t> </a:t>
                </a:r>
              </a:p>
            </p:txBody>
          </p:sp>
        </mc:Fallback>
      </mc:AlternateContent>
      <p:sp>
        <p:nvSpPr>
          <p:cNvPr id="5" name="Marcador de pie de página 2">
            <a:extLst>
              <a:ext uri="{FF2B5EF4-FFF2-40B4-BE49-F238E27FC236}">
                <a16:creationId xmlns:a16="http://schemas.microsoft.com/office/drawing/2014/main" id="{F64FB428-68B5-8674-0072-9165A378010E}"/>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pic>
        <p:nvPicPr>
          <p:cNvPr id="15" name="Imagen 14">
            <a:extLst>
              <a:ext uri="{FF2B5EF4-FFF2-40B4-BE49-F238E27FC236}">
                <a16:creationId xmlns:a16="http://schemas.microsoft.com/office/drawing/2014/main" id="{290C8894-5F2E-3FF5-59B4-6E2D5026CE19}"/>
              </a:ext>
            </a:extLst>
          </p:cNvPr>
          <p:cNvPicPr>
            <a:picLocks noChangeAspect="1"/>
          </p:cNvPicPr>
          <p:nvPr/>
        </p:nvPicPr>
        <p:blipFill>
          <a:blip r:embed="rId6"/>
          <a:stretch>
            <a:fillRect/>
          </a:stretch>
        </p:blipFill>
        <p:spPr>
          <a:xfrm>
            <a:off x="228600" y="3581400"/>
            <a:ext cx="3184616" cy="2520000"/>
          </a:xfrm>
          <a:prstGeom prst="rect">
            <a:avLst/>
          </a:prstGeom>
        </p:spPr>
      </p:pic>
      <p:pic>
        <p:nvPicPr>
          <p:cNvPr id="18" name="Imagen 17">
            <a:extLst>
              <a:ext uri="{FF2B5EF4-FFF2-40B4-BE49-F238E27FC236}">
                <a16:creationId xmlns:a16="http://schemas.microsoft.com/office/drawing/2014/main" id="{2FDDE477-1BDA-4D0C-1108-EA19012C1DAA}"/>
              </a:ext>
            </a:extLst>
          </p:cNvPr>
          <p:cNvPicPr>
            <a:picLocks noChangeAspect="1"/>
          </p:cNvPicPr>
          <p:nvPr/>
        </p:nvPicPr>
        <p:blipFill>
          <a:blip r:embed="rId7"/>
          <a:stretch>
            <a:fillRect/>
          </a:stretch>
        </p:blipFill>
        <p:spPr>
          <a:xfrm>
            <a:off x="228600" y="990600"/>
            <a:ext cx="3140308" cy="2520000"/>
          </a:xfrm>
          <a:prstGeom prst="rect">
            <a:avLst/>
          </a:prstGeom>
        </p:spPr>
      </p:pic>
    </p:spTree>
    <p:extLst>
      <p:ext uri="{BB962C8B-B14F-4D97-AF65-F5344CB8AC3E}">
        <p14:creationId xmlns:p14="http://schemas.microsoft.com/office/powerpoint/2010/main" val="28944256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4FF669-D0D1-B3D3-0FCE-2407511C65C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197AF62-37E5-9260-DA32-E5C71FF0BE68}"/>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#1 </a:t>
            </a:r>
            <a:r>
              <a:rPr lang="en-US" sz="2500" dirty="0"/>
              <a:t>– Recap from theory – Delay Imbalance MZI</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35CE9B5C-4AE4-72BA-221C-6246C010116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D48C0E1-AECC-1B6B-EE08-DD40E7D82DB6}"/>
              </a:ext>
            </a:extLst>
          </p:cNvPr>
          <p:cNvSpPr>
            <a:spLocks noGrp="1"/>
          </p:cNvSpPr>
          <p:nvPr>
            <p:ph type="sldNum" sz="quarter" idx="7"/>
          </p:nvPr>
        </p:nvSpPr>
        <p:spPr/>
        <p:txBody>
          <a:bodyPr/>
          <a:lstStyle/>
          <a:p>
            <a:fld id="{B6F15528-21DE-4FAA-801E-634DDDAF4B2B}" type="slidenum">
              <a:rPr lang="es-ES" smtClean="0"/>
              <a:t>5</a:t>
            </a:fld>
            <a:endParaRPr lang="es-ES"/>
          </a:p>
        </p:txBody>
      </p:sp>
      <mc:AlternateContent xmlns:mc="http://schemas.openxmlformats.org/markup-compatibility/2006">
        <mc:Choice xmlns:a14="http://schemas.microsoft.com/office/drawing/2010/main" Requires="a14">
          <p:sp>
            <p:nvSpPr>
              <p:cNvPr id="2" name="CuadroTexto 1">
                <a:extLst>
                  <a:ext uri="{FF2B5EF4-FFF2-40B4-BE49-F238E27FC236}">
                    <a16:creationId xmlns:a16="http://schemas.microsoft.com/office/drawing/2014/main" id="{2202572E-26CA-069F-3643-4642854F470B}"/>
                  </a:ext>
                </a:extLst>
              </p:cNvPr>
              <p:cNvSpPr txBox="1"/>
              <p:nvPr/>
            </p:nvSpPr>
            <p:spPr>
              <a:xfrm>
                <a:off x="6781599" y="1151646"/>
                <a:ext cx="5060081" cy="4739374"/>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To obtain a delay imbalance, what we do is create a difference in the path lengths, which changes the phase of the sinusoidal or cosine response. The magnitude of the coefficients of the transfer matrix are given by</a:t>
                </a:r>
                <a:endParaRPr lang="es-ES" sz="1200" i="1" dirty="0">
                  <a:latin typeface="Cambria Math" panose="02040503050406030204" pitchFamily="18" charset="0"/>
                  <a:cs typeface="Arial" panose="020B0604020202020204" pitchFamily="34" charset="0"/>
                </a:endParaRPr>
              </a:p>
              <a:p>
                <a:pPr algn="just"/>
                <a14:m>
                  <m:oMathPara xmlns:m="http://schemas.openxmlformats.org/officeDocument/2006/math">
                    <m:oMathParaPr>
                      <m:jc m:val="centerGroup"/>
                    </m:oMathParaPr>
                    <m:oMath xmlns:m="http://schemas.openxmlformats.org/officeDocument/2006/math">
                      <m:sSub>
                        <m:sSubPr>
                          <m:ctrlPr>
                            <a:rPr lang="es-ES" sz="1200" i="1">
                              <a:latin typeface="Cambria Math" panose="02040503050406030204" pitchFamily="18" charset="0"/>
                              <a:cs typeface="Arial" panose="020B0604020202020204" pitchFamily="34" charset="0"/>
                            </a:rPr>
                          </m:ctrlPr>
                        </m:sSubPr>
                        <m:e>
                          <m:r>
                            <a:rPr lang="es-ES" sz="1200" i="1">
                              <a:latin typeface="Cambria Math" panose="02040503050406030204" pitchFamily="18" charset="0"/>
                              <a:cs typeface="Arial" panose="020B0604020202020204" pitchFamily="34" charset="0"/>
                            </a:rPr>
                            <m:t>𝐻</m:t>
                          </m:r>
                        </m:e>
                        <m:sub>
                          <m:r>
                            <a:rPr lang="es-ES" sz="1200" i="1">
                              <a:latin typeface="Cambria Math" panose="02040503050406030204" pitchFamily="18" charset="0"/>
                              <a:cs typeface="Arial" panose="020B0604020202020204" pitchFamily="34" charset="0"/>
                            </a:rPr>
                            <m:t>21</m:t>
                          </m:r>
                        </m:sub>
                      </m:sSub>
                      <m:d>
                        <m:dPr>
                          <m:ctrlPr>
                            <a:rPr lang="es-ES" sz="1200" i="1">
                              <a:latin typeface="Cambria Math" panose="02040503050406030204" pitchFamily="18" charset="0"/>
                              <a:cs typeface="Arial" panose="020B0604020202020204" pitchFamily="34" charset="0"/>
                            </a:rPr>
                          </m:ctrlPr>
                        </m:dPr>
                        <m:e>
                          <m:r>
                            <a:rPr lang="es-ES" sz="1200" i="1">
                              <a:latin typeface="Cambria Math" panose="02040503050406030204" pitchFamily="18" charset="0"/>
                              <a:ea typeface="Cambria Math" panose="02040503050406030204" pitchFamily="18" charset="0"/>
                              <a:cs typeface="Arial" panose="020B0604020202020204" pitchFamily="34" charset="0"/>
                            </a:rPr>
                            <m:t>𝜆</m:t>
                          </m:r>
                        </m:e>
                      </m:d>
                      <m:r>
                        <a:rPr lang="es-ES" sz="1200" i="1">
                          <a:latin typeface="Cambria Math" panose="02040503050406030204" pitchFamily="18" charset="0"/>
                          <a:ea typeface="Cambria Math" panose="02040503050406030204" pitchFamily="18" charset="0"/>
                          <a:cs typeface="Arial" panose="020B0604020202020204" pitchFamily="34" charset="0"/>
                        </a:rPr>
                        <m:t>=</m:t>
                      </m:r>
                      <m:func>
                        <m:funcPr>
                          <m:ctrlPr>
                            <a:rPr lang="es-ES" sz="1200" i="1">
                              <a:latin typeface="Cambria Math" panose="02040503050406030204" pitchFamily="18" charset="0"/>
                              <a:ea typeface="Cambria Math" panose="02040503050406030204" pitchFamily="18" charset="0"/>
                              <a:cs typeface="Arial" panose="020B0604020202020204" pitchFamily="34" charset="0"/>
                            </a:rPr>
                          </m:ctrlPr>
                        </m:funcPr>
                        <m:fName>
                          <m:sSup>
                            <m:sSupPr>
                              <m:ctrlPr>
                                <a:rPr lang="es-ES" sz="1200" i="1">
                                  <a:latin typeface="Cambria Math" panose="02040503050406030204" pitchFamily="18" charset="0"/>
                                  <a:ea typeface="Cambria Math" panose="02040503050406030204" pitchFamily="18" charset="0"/>
                                  <a:cs typeface="Arial" panose="020B0604020202020204" pitchFamily="34" charset="0"/>
                                </a:rPr>
                              </m:ctrlPr>
                            </m:sSupPr>
                            <m:e>
                              <m:r>
                                <m:rPr>
                                  <m:sty m:val="p"/>
                                </m:rPr>
                                <a:rPr lang="es-ES" sz="1200">
                                  <a:latin typeface="Cambria Math" panose="02040503050406030204" pitchFamily="18" charset="0"/>
                                  <a:ea typeface="Cambria Math" panose="02040503050406030204" pitchFamily="18" charset="0"/>
                                  <a:cs typeface="Arial" panose="020B0604020202020204" pitchFamily="34" charset="0"/>
                                </a:rPr>
                                <m:t>cos</m:t>
                              </m:r>
                            </m:e>
                            <m:sup>
                              <m:r>
                                <a:rPr lang="es-ES" sz="1200" i="1">
                                  <a:latin typeface="Cambria Math" panose="02040503050406030204" pitchFamily="18" charset="0"/>
                                  <a:ea typeface="Cambria Math" panose="02040503050406030204" pitchFamily="18" charset="0"/>
                                  <a:cs typeface="Arial" panose="020B0604020202020204" pitchFamily="34" charset="0"/>
                                </a:rPr>
                                <m:t>2</m:t>
                              </m:r>
                            </m:sup>
                          </m:sSup>
                        </m:fName>
                        <m:e>
                          <m:d>
                            <m:dPr>
                              <m:ctrlPr>
                                <a:rPr lang="es-ES" sz="1200" i="1">
                                  <a:latin typeface="Cambria Math" panose="02040503050406030204" pitchFamily="18" charset="0"/>
                                  <a:ea typeface="Cambria Math" panose="02040503050406030204" pitchFamily="18" charset="0"/>
                                  <a:cs typeface="Arial" panose="020B0604020202020204" pitchFamily="34" charset="0"/>
                                </a:rPr>
                              </m:ctrlPr>
                            </m:dPr>
                            <m:e>
                              <m:f>
                                <m:fPr>
                                  <m:ctrlPr>
                                    <a:rPr lang="es-ES" sz="1200" i="1">
                                      <a:latin typeface="Cambria Math" panose="02040503050406030204" pitchFamily="18" charset="0"/>
                                      <a:ea typeface="Cambria Math" panose="02040503050406030204" pitchFamily="18" charset="0"/>
                                      <a:cs typeface="Arial" panose="020B0604020202020204" pitchFamily="34" charset="0"/>
                                    </a:rPr>
                                  </m:ctrlPr>
                                </m:fPr>
                                <m:num>
                                  <m:r>
                                    <a:rPr lang="es-ES" sz="1200" i="1">
                                      <a:latin typeface="Cambria Math" panose="02040503050406030204" pitchFamily="18" charset="0"/>
                                      <a:ea typeface="Cambria Math" panose="02040503050406030204" pitchFamily="18" charset="0"/>
                                      <a:cs typeface="Arial" panose="020B0604020202020204" pitchFamily="34" charset="0"/>
                                    </a:rPr>
                                    <m:t>𝛽</m:t>
                                  </m:r>
                                </m:num>
                                <m:den>
                                  <m:r>
                                    <a:rPr lang="es-ES" sz="1200" i="1">
                                      <a:latin typeface="Cambria Math" panose="02040503050406030204" pitchFamily="18" charset="0"/>
                                      <a:ea typeface="Cambria Math" panose="02040503050406030204" pitchFamily="18" charset="0"/>
                                      <a:cs typeface="Arial" panose="020B0604020202020204" pitchFamily="34" charset="0"/>
                                    </a:rPr>
                                    <m:t>2</m:t>
                                  </m:r>
                                </m:den>
                              </m:f>
                              <m:d>
                                <m:dPr>
                                  <m:ctrlPr>
                                    <a:rPr lang="es-ES" sz="1200" i="1">
                                      <a:latin typeface="Cambria Math" panose="02040503050406030204" pitchFamily="18" charset="0"/>
                                      <a:ea typeface="Cambria Math" panose="02040503050406030204" pitchFamily="18" charset="0"/>
                                      <a:cs typeface="Arial" panose="020B0604020202020204" pitchFamily="34" charset="0"/>
                                    </a:rPr>
                                  </m:ctrlPr>
                                </m:dPr>
                                <m:e>
                                  <m:sSub>
                                    <m:sSubPr>
                                      <m:ctrlPr>
                                        <a:rPr lang="es-ES" sz="1200" b="0" i="1" smtClean="0">
                                          <a:latin typeface="Cambria Math" panose="02040503050406030204" pitchFamily="18" charset="0"/>
                                          <a:ea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ea typeface="Cambria Math" panose="02040503050406030204" pitchFamily="18" charset="0"/>
                                          <a:cs typeface="Arial" panose="020B0604020202020204" pitchFamily="34" charset="0"/>
                                        </a:rPr>
                                        <m:t>𝐿</m:t>
                                      </m:r>
                                    </m:e>
                                    <m:sub>
                                      <m:r>
                                        <a:rPr lang="es-ES" sz="1200" b="0" i="1" smtClean="0">
                                          <a:latin typeface="Cambria Math" panose="02040503050406030204" pitchFamily="18" charset="0"/>
                                          <a:ea typeface="Cambria Math" panose="02040503050406030204" pitchFamily="18" charset="0"/>
                                          <a:cs typeface="Arial" panose="020B0604020202020204" pitchFamily="34" charset="0"/>
                                        </a:rPr>
                                        <m:t>𝑢</m:t>
                                      </m:r>
                                    </m:sub>
                                  </m:sSub>
                                  <m:r>
                                    <a:rPr lang="es-ES" sz="1200" b="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s-ES" sz="1200" b="0" i="1" smtClean="0">
                                          <a:latin typeface="Cambria Math" panose="02040503050406030204" pitchFamily="18" charset="0"/>
                                          <a:ea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ea typeface="Cambria Math" panose="02040503050406030204" pitchFamily="18" charset="0"/>
                                          <a:cs typeface="Arial" panose="020B0604020202020204" pitchFamily="34" charset="0"/>
                                        </a:rPr>
                                        <m:t>𝐿</m:t>
                                      </m:r>
                                    </m:e>
                                    <m:sub>
                                      <m:r>
                                        <a:rPr lang="es-ES" sz="1200" b="0" i="1" smtClean="0">
                                          <a:latin typeface="Cambria Math" panose="02040503050406030204" pitchFamily="18" charset="0"/>
                                          <a:ea typeface="Cambria Math" panose="02040503050406030204" pitchFamily="18" charset="0"/>
                                          <a:cs typeface="Arial" panose="020B0604020202020204" pitchFamily="34" charset="0"/>
                                        </a:rPr>
                                        <m:t>𝑑</m:t>
                                      </m:r>
                                    </m:sub>
                                  </m:sSub>
                                </m:e>
                              </m:d>
                            </m:e>
                          </m:d>
                        </m:e>
                      </m:func>
                    </m:oMath>
                  </m:oMathPara>
                </a14:m>
                <a:endParaRPr lang="es-CO" sz="1200" dirty="0">
                  <a:latin typeface="Arial" panose="020B0604020202020204" pitchFamily="34" charset="0"/>
                  <a:cs typeface="Arial" panose="020B0604020202020204" pitchFamily="34" charset="0"/>
                </a:endParaRPr>
              </a:p>
              <a:p>
                <a:pPr/>
                <a14:m>
                  <m:oMathPara xmlns:m="http://schemas.openxmlformats.org/officeDocument/2006/math">
                    <m:oMathParaPr>
                      <m:jc m:val="centerGroup"/>
                    </m:oMathParaPr>
                    <m:oMath xmlns:m="http://schemas.openxmlformats.org/officeDocument/2006/math">
                      <m:sSub>
                        <m:sSubPr>
                          <m:ctrlPr>
                            <a:rPr lang="es-ES" sz="1200" i="1">
                              <a:latin typeface="Cambria Math" panose="02040503050406030204" pitchFamily="18" charset="0"/>
                              <a:cs typeface="Arial" panose="020B0604020202020204" pitchFamily="34" charset="0"/>
                            </a:rPr>
                          </m:ctrlPr>
                        </m:sSubPr>
                        <m:e>
                          <m:r>
                            <a:rPr lang="es-ES" sz="1200" i="1">
                              <a:latin typeface="Cambria Math" panose="02040503050406030204" pitchFamily="18" charset="0"/>
                              <a:cs typeface="Arial" panose="020B0604020202020204" pitchFamily="34" charset="0"/>
                            </a:rPr>
                            <m:t>𝐻</m:t>
                          </m:r>
                        </m:e>
                        <m:sub>
                          <m:r>
                            <a:rPr lang="es-ES" sz="1200" i="1">
                              <a:latin typeface="Cambria Math" panose="02040503050406030204" pitchFamily="18" charset="0"/>
                              <a:cs typeface="Arial" panose="020B0604020202020204" pitchFamily="34" charset="0"/>
                            </a:rPr>
                            <m:t>22</m:t>
                          </m:r>
                        </m:sub>
                      </m:sSub>
                      <m:d>
                        <m:dPr>
                          <m:ctrlPr>
                            <a:rPr lang="es-ES" sz="1200" i="1">
                              <a:latin typeface="Cambria Math" panose="02040503050406030204" pitchFamily="18" charset="0"/>
                              <a:cs typeface="Arial" panose="020B0604020202020204" pitchFamily="34" charset="0"/>
                            </a:rPr>
                          </m:ctrlPr>
                        </m:dPr>
                        <m:e>
                          <m:r>
                            <a:rPr lang="es-ES" sz="1200" i="1">
                              <a:latin typeface="Cambria Math" panose="02040503050406030204" pitchFamily="18" charset="0"/>
                              <a:ea typeface="Cambria Math" panose="02040503050406030204" pitchFamily="18" charset="0"/>
                              <a:cs typeface="Arial" panose="020B0604020202020204" pitchFamily="34" charset="0"/>
                            </a:rPr>
                            <m:t>𝜆</m:t>
                          </m:r>
                        </m:e>
                      </m:d>
                      <m:r>
                        <a:rPr lang="es-ES" sz="1200" i="1">
                          <a:latin typeface="Cambria Math" panose="02040503050406030204" pitchFamily="18" charset="0"/>
                          <a:ea typeface="Cambria Math" panose="02040503050406030204" pitchFamily="18" charset="0"/>
                          <a:cs typeface="Arial" panose="020B0604020202020204" pitchFamily="34" charset="0"/>
                        </a:rPr>
                        <m:t>=</m:t>
                      </m:r>
                      <m:func>
                        <m:funcPr>
                          <m:ctrlPr>
                            <a:rPr lang="es-ES" sz="1200" i="1">
                              <a:latin typeface="Cambria Math" panose="02040503050406030204" pitchFamily="18" charset="0"/>
                              <a:ea typeface="Cambria Math" panose="02040503050406030204" pitchFamily="18" charset="0"/>
                              <a:cs typeface="Arial" panose="020B0604020202020204" pitchFamily="34" charset="0"/>
                            </a:rPr>
                          </m:ctrlPr>
                        </m:funcPr>
                        <m:fName>
                          <m:sSup>
                            <m:sSupPr>
                              <m:ctrlPr>
                                <a:rPr lang="es-ES" sz="1200" i="1">
                                  <a:latin typeface="Cambria Math" panose="02040503050406030204" pitchFamily="18" charset="0"/>
                                  <a:ea typeface="Cambria Math" panose="02040503050406030204" pitchFamily="18" charset="0"/>
                                  <a:cs typeface="Arial" panose="020B0604020202020204" pitchFamily="34" charset="0"/>
                                </a:rPr>
                              </m:ctrlPr>
                            </m:sSupPr>
                            <m:e>
                              <m:r>
                                <m:rPr>
                                  <m:sty m:val="p"/>
                                </m:rPr>
                                <a:rPr lang="es-ES" sz="1200">
                                  <a:latin typeface="Cambria Math" panose="02040503050406030204" pitchFamily="18" charset="0"/>
                                  <a:ea typeface="Cambria Math" panose="02040503050406030204" pitchFamily="18" charset="0"/>
                                  <a:cs typeface="Arial" panose="020B0604020202020204" pitchFamily="34" charset="0"/>
                                </a:rPr>
                                <m:t>sin</m:t>
                              </m:r>
                            </m:e>
                            <m:sup>
                              <m:r>
                                <a:rPr lang="es-ES" sz="1200" i="1">
                                  <a:latin typeface="Cambria Math" panose="02040503050406030204" pitchFamily="18" charset="0"/>
                                  <a:ea typeface="Cambria Math" panose="02040503050406030204" pitchFamily="18" charset="0"/>
                                  <a:cs typeface="Arial" panose="020B0604020202020204" pitchFamily="34" charset="0"/>
                                </a:rPr>
                                <m:t>2</m:t>
                              </m:r>
                            </m:sup>
                          </m:sSup>
                        </m:fName>
                        <m:e>
                          <m:d>
                            <m:dPr>
                              <m:ctrlPr>
                                <a:rPr lang="es-ES" sz="1200" i="1">
                                  <a:latin typeface="Cambria Math" panose="02040503050406030204" pitchFamily="18" charset="0"/>
                                  <a:ea typeface="Cambria Math" panose="02040503050406030204" pitchFamily="18" charset="0"/>
                                  <a:cs typeface="Arial" panose="020B0604020202020204" pitchFamily="34" charset="0"/>
                                </a:rPr>
                              </m:ctrlPr>
                            </m:dPr>
                            <m:e>
                              <m:f>
                                <m:fPr>
                                  <m:ctrlPr>
                                    <a:rPr lang="es-ES" sz="1200" i="1">
                                      <a:latin typeface="Cambria Math" panose="02040503050406030204" pitchFamily="18" charset="0"/>
                                      <a:ea typeface="Cambria Math" panose="02040503050406030204" pitchFamily="18" charset="0"/>
                                      <a:cs typeface="Arial" panose="020B0604020202020204" pitchFamily="34" charset="0"/>
                                    </a:rPr>
                                  </m:ctrlPr>
                                </m:fPr>
                                <m:num>
                                  <m:r>
                                    <a:rPr lang="es-ES" sz="1200" i="1" smtClean="0">
                                      <a:latin typeface="Cambria Math" panose="02040503050406030204" pitchFamily="18" charset="0"/>
                                      <a:ea typeface="Cambria Math" panose="02040503050406030204" pitchFamily="18" charset="0"/>
                                      <a:cs typeface="Arial" panose="020B0604020202020204" pitchFamily="34" charset="0"/>
                                    </a:rPr>
                                    <m:t>𝛽</m:t>
                                  </m:r>
                                </m:num>
                                <m:den>
                                  <m:r>
                                    <a:rPr lang="es-ES" sz="1200" i="1">
                                      <a:latin typeface="Cambria Math" panose="02040503050406030204" pitchFamily="18" charset="0"/>
                                      <a:ea typeface="Cambria Math" panose="02040503050406030204" pitchFamily="18" charset="0"/>
                                      <a:cs typeface="Arial" panose="020B0604020202020204" pitchFamily="34" charset="0"/>
                                    </a:rPr>
                                    <m:t>2</m:t>
                                  </m:r>
                                </m:den>
                              </m:f>
                              <m:d>
                                <m:dPr>
                                  <m:ctrlPr>
                                    <a:rPr lang="es-ES" sz="1200" i="1">
                                      <a:latin typeface="Cambria Math" panose="02040503050406030204" pitchFamily="18" charset="0"/>
                                      <a:ea typeface="Cambria Math" panose="02040503050406030204" pitchFamily="18" charset="0"/>
                                      <a:cs typeface="Arial" panose="020B0604020202020204" pitchFamily="34" charset="0"/>
                                    </a:rPr>
                                  </m:ctrlPr>
                                </m:dPr>
                                <m:e>
                                  <m:sSub>
                                    <m:sSubPr>
                                      <m:ctrlPr>
                                        <a:rPr lang="es-ES" sz="1200" i="1">
                                          <a:latin typeface="Cambria Math" panose="02040503050406030204" pitchFamily="18" charset="0"/>
                                          <a:ea typeface="Cambria Math" panose="02040503050406030204" pitchFamily="18" charset="0"/>
                                          <a:cs typeface="Arial" panose="020B0604020202020204" pitchFamily="34" charset="0"/>
                                        </a:rPr>
                                      </m:ctrlPr>
                                    </m:sSubPr>
                                    <m:e>
                                      <m:r>
                                        <a:rPr lang="es-ES" sz="1200" i="1">
                                          <a:latin typeface="Cambria Math" panose="02040503050406030204" pitchFamily="18" charset="0"/>
                                          <a:ea typeface="Cambria Math" panose="02040503050406030204" pitchFamily="18" charset="0"/>
                                          <a:cs typeface="Arial" panose="020B0604020202020204" pitchFamily="34" charset="0"/>
                                        </a:rPr>
                                        <m:t>𝐿</m:t>
                                      </m:r>
                                    </m:e>
                                    <m:sub>
                                      <m:r>
                                        <a:rPr lang="es-ES" sz="1200" i="1">
                                          <a:latin typeface="Cambria Math" panose="02040503050406030204" pitchFamily="18" charset="0"/>
                                          <a:ea typeface="Cambria Math" panose="02040503050406030204" pitchFamily="18" charset="0"/>
                                          <a:cs typeface="Arial" panose="020B0604020202020204" pitchFamily="34" charset="0"/>
                                        </a:rPr>
                                        <m:t>𝑢</m:t>
                                      </m:r>
                                    </m:sub>
                                  </m:sSub>
                                  <m:r>
                                    <a:rPr lang="es-ES" sz="1200" i="1">
                                      <a:latin typeface="Cambria Math" panose="02040503050406030204" pitchFamily="18" charset="0"/>
                                      <a:ea typeface="Cambria Math" panose="02040503050406030204" pitchFamily="18" charset="0"/>
                                      <a:cs typeface="Arial" panose="020B0604020202020204" pitchFamily="34" charset="0"/>
                                    </a:rPr>
                                    <m:t>−</m:t>
                                  </m:r>
                                  <m:sSub>
                                    <m:sSubPr>
                                      <m:ctrlPr>
                                        <a:rPr lang="es-ES" sz="1200" i="1">
                                          <a:latin typeface="Cambria Math" panose="02040503050406030204" pitchFamily="18" charset="0"/>
                                          <a:ea typeface="Cambria Math" panose="02040503050406030204" pitchFamily="18" charset="0"/>
                                          <a:cs typeface="Arial" panose="020B0604020202020204" pitchFamily="34" charset="0"/>
                                        </a:rPr>
                                      </m:ctrlPr>
                                    </m:sSubPr>
                                    <m:e>
                                      <m:r>
                                        <a:rPr lang="es-ES" sz="1200" i="1">
                                          <a:latin typeface="Cambria Math" panose="02040503050406030204" pitchFamily="18" charset="0"/>
                                          <a:ea typeface="Cambria Math" panose="02040503050406030204" pitchFamily="18" charset="0"/>
                                          <a:cs typeface="Arial" panose="020B0604020202020204" pitchFamily="34" charset="0"/>
                                        </a:rPr>
                                        <m:t>𝐿</m:t>
                                      </m:r>
                                    </m:e>
                                    <m:sub>
                                      <m:r>
                                        <a:rPr lang="es-ES" sz="1200" i="1">
                                          <a:latin typeface="Cambria Math" panose="02040503050406030204" pitchFamily="18" charset="0"/>
                                          <a:ea typeface="Cambria Math" panose="02040503050406030204" pitchFamily="18" charset="0"/>
                                          <a:cs typeface="Arial" panose="020B0604020202020204" pitchFamily="34" charset="0"/>
                                        </a:rPr>
                                        <m:t>𝑑</m:t>
                                      </m:r>
                                    </m:sub>
                                  </m:sSub>
                                </m:e>
                              </m:d>
                            </m:e>
                          </m:d>
                        </m:e>
                      </m:func>
                    </m:oMath>
                  </m:oMathPara>
                </a14:m>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In this case, the FSR is 0.028 𝜇𝑚, that is, 28 nm.</a:t>
                </a:r>
              </a:p>
              <a:p>
                <a:pPr algn="just"/>
                <a:endParaRPr lang="es-CO"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When the path difference is increased to </a:t>
                </a:r>
                <a14:m>
                  <m:oMath xmlns:m="http://schemas.openxmlformats.org/officeDocument/2006/math">
                    <m:r>
                      <a:rPr lang="es-CO" sz="1200" i="1" smtClean="0">
                        <a:latin typeface="Cambria Math" panose="02040503050406030204" pitchFamily="18" charset="0"/>
                        <a:ea typeface="Cambria Math" panose="02040503050406030204" pitchFamily="18" charset="0"/>
                        <a:cs typeface="Arial" panose="020B0604020202020204" pitchFamily="34" charset="0"/>
                      </a:rPr>
                      <m:t>∆</m:t>
                    </m:r>
                    <m:r>
                      <a:rPr lang="es-ES" sz="1200" b="0" i="1" smtClean="0">
                        <a:latin typeface="Cambria Math" panose="02040503050406030204" pitchFamily="18" charset="0"/>
                        <a:ea typeface="Cambria Math" panose="02040503050406030204" pitchFamily="18" charset="0"/>
                        <a:cs typeface="Arial" panose="020B0604020202020204" pitchFamily="34" charset="0"/>
                      </a:rPr>
                      <m:t>𝐿</m:t>
                    </m:r>
                    <m:r>
                      <a:rPr lang="es-ES" sz="1200" b="0" i="1" smtClean="0">
                        <a:latin typeface="Cambria Math" panose="02040503050406030204" pitchFamily="18" charset="0"/>
                        <a:ea typeface="Cambria Math" panose="02040503050406030204" pitchFamily="18" charset="0"/>
                        <a:cs typeface="Arial" panose="020B0604020202020204" pitchFamily="34" charset="0"/>
                      </a:rPr>
                      <m:t>=45 </m:t>
                    </m:r>
                    <m:r>
                      <a:rPr lang="es-ES" sz="1200" b="0" i="1" smtClean="0">
                        <a:latin typeface="Cambria Math" panose="02040503050406030204" pitchFamily="18" charset="0"/>
                        <a:ea typeface="Cambria Math" panose="02040503050406030204" pitchFamily="18" charset="0"/>
                        <a:cs typeface="Arial" panose="020B0604020202020204" pitchFamily="34" charset="0"/>
                      </a:rPr>
                      <m:t>𝜇</m:t>
                    </m:r>
                    <m:r>
                      <a:rPr lang="es-ES" sz="1200" b="0" i="1" smtClean="0">
                        <a:latin typeface="Cambria Math" panose="02040503050406030204" pitchFamily="18" charset="0"/>
                        <a:ea typeface="Cambria Math" panose="02040503050406030204" pitchFamily="18" charset="0"/>
                        <a:cs typeface="Arial" panose="020B0604020202020204" pitchFamily="34" charset="0"/>
                      </a:rPr>
                      <m:t>𝑚</m:t>
                    </m:r>
                  </m:oMath>
                </a14:m>
                <a:r>
                  <a:rPr lang="en-US" sz="1200" dirty="0">
                    <a:latin typeface="Arial" panose="020B0604020202020204" pitchFamily="34" charset="0"/>
                    <a:cs typeface="Arial" panose="020B0604020202020204" pitchFamily="34" charset="0"/>
                  </a:rPr>
                  <a:t>, the FSR becomes 0.013 </a:t>
                </a:r>
                <a14:m>
                  <m:oMath xmlns:m="http://schemas.openxmlformats.org/officeDocument/2006/math">
                    <m:r>
                      <a:rPr lang="es-ES" sz="1200" i="1">
                        <a:latin typeface="Cambria Math" panose="02040503050406030204" pitchFamily="18" charset="0"/>
                        <a:ea typeface="Cambria Math" panose="02040503050406030204" pitchFamily="18" charset="0"/>
                        <a:cs typeface="Arial" panose="020B0604020202020204" pitchFamily="34" charset="0"/>
                      </a:rPr>
                      <m:t>𝜇</m:t>
                    </m:r>
                    <m:r>
                      <a:rPr lang="es-ES" sz="1200" i="1">
                        <a:latin typeface="Cambria Math" panose="02040503050406030204" pitchFamily="18" charset="0"/>
                        <a:ea typeface="Cambria Math" panose="02040503050406030204" pitchFamily="18" charset="0"/>
                        <a:cs typeface="Arial" panose="020B0604020202020204" pitchFamily="34" charset="0"/>
                      </a:rPr>
                      <m:t>𝑚</m:t>
                    </m:r>
                    <m:r>
                      <a:rPr lang="es-ES" sz="1200" i="1">
                        <a:latin typeface="Cambria Math" panose="02040503050406030204" pitchFamily="18" charset="0"/>
                        <a:ea typeface="Cambria Math" panose="02040503050406030204" pitchFamily="18" charset="0"/>
                        <a:cs typeface="Arial" panose="020B0604020202020204" pitchFamily="34" charset="0"/>
                      </a:rPr>
                      <m:t>  </m:t>
                    </m:r>
                  </m:oMath>
                </a14:m>
                <a:r>
                  <a:rPr lang="en-US" sz="1200" dirty="0">
                    <a:latin typeface="Arial" panose="020B0604020202020204" pitchFamily="34" charset="0"/>
                    <a:cs typeface="Arial" panose="020B0604020202020204" pitchFamily="34" charset="0"/>
                  </a:rPr>
                  <a:t>= 13 </a:t>
                </a:r>
                <a14:m>
                  <m:oMath xmlns:m="http://schemas.openxmlformats.org/officeDocument/2006/math">
                    <m:r>
                      <m:rPr>
                        <m:sty m:val="p"/>
                      </m:rPr>
                      <a:rPr lang="es-ES" sz="1200" b="0" i="0" smtClean="0">
                        <a:latin typeface="Cambria Math" panose="02040503050406030204" pitchFamily="18" charset="0"/>
                        <a:ea typeface="Cambria Math" panose="02040503050406030204" pitchFamily="18" charset="0"/>
                        <a:cs typeface="Arial" panose="020B0604020202020204" pitchFamily="34" charset="0"/>
                      </a:rPr>
                      <m:t>n</m:t>
                    </m:r>
                    <m:r>
                      <a:rPr lang="es-ES" sz="1200" i="1">
                        <a:latin typeface="Cambria Math" panose="02040503050406030204" pitchFamily="18" charset="0"/>
                        <a:ea typeface="Cambria Math" panose="02040503050406030204" pitchFamily="18" charset="0"/>
                        <a:cs typeface="Arial" panose="020B0604020202020204" pitchFamily="34" charset="0"/>
                      </a:rPr>
                      <m:t>𝑚</m:t>
                    </m:r>
                  </m:oMath>
                </a14:m>
                <a:r>
                  <a:rPr lang="en-US" sz="1200" dirty="0">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When it is increased to </a:t>
                </a:r>
                <a14:m>
                  <m:oMath xmlns:m="http://schemas.openxmlformats.org/officeDocument/2006/math">
                    <m:r>
                      <a:rPr lang="es-CO" sz="1200" i="1">
                        <a:latin typeface="Cambria Math" panose="02040503050406030204" pitchFamily="18" charset="0"/>
                        <a:ea typeface="Cambria Math" panose="02040503050406030204" pitchFamily="18" charset="0"/>
                        <a:cs typeface="Arial" panose="020B0604020202020204" pitchFamily="34" charset="0"/>
                      </a:rPr>
                      <m:t>∆</m:t>
                    </m:r>
                    <m:r>
                      <a:rPr lang="es-ES" sz="1200" i="1">
                        <a:latin typeface="Cambria Math" panose="02040503050406030204" pitchFamily="18" charset="0"/>
                        <a:ea typeface="Cambria Math" panose="02040503050406030204" pitchFamily="18" charset="0"/>
                        <a:cs typeface="Arial" panose="020B0604020202020204" pitchFamily="34" charset="0"/>
                      </a:rPr>
                      <m:t>𝐿</m:t>
                    </m:r>
                    <m:r>
                      <a:rPr lang="es-ES" sz="1200" i="1">
                        <a:latin typeface="Cambria Math" panose="02040503050406030204" pitchFamily="18" charset="0"/>
                        <a:ea typeface="Cambria Math" panose="02040503050406030204" pitchFamily="18" charset="0"/>
                        <a:cs typeface="Arial" panose="020B0604020202020204" pitchFamily="34" charset="0"/>
                      </a:rPr>
                      <m:t>=95 </m:t>
                    </m:r>
                    <m:r>
                      <a:rPr lang="es-ES" sz="1200" i="1">
                        <a:latin typeface="Cambria Math" panose="02040503050406030204" pitchFamily="18" charset="0"/>
                        <a:ea typeface="Cambria Math" panose="02040503050406030204" pitchFamily="18" charset="0"/>
                        <a:cs typeface="Arial" panose="020B0604020202020204" pitchFamily="34" charset="0"/>
                      </a:rPr>
                      <m:t>𝜇</m:t>
                    </m:r>
                    <m:r>
                      <a:rPr lang="es-ES" sz="1200" i="1">
                        <a:latin typeface="Cambria Math" panose="02040503050406030204" pitchFamily="18" charset="0"/>
                        <a:ea typeface="Cambria Math" panose="02040503050406030204" pitchFamily="18" charset="0"/>
                        <a:cs typeface="Arial" panose="020B0604020202020204" pitchFamily="34" charset="0"/>
                      </a:rPr>
                      <m:t>𝑚</m:t>
                    </m:r>
                    <m:r>
                      <a:rPr lang="es-ES" sz="1200" b="0" i="0" smtClean="0">
                        <a:latin typeface="Cambria Math" panose="02040503050406030204" pitchFamily="18" charset="0"/>
                        <a:ea typeface="Cambria Math" panose="02040503050406030204" pitchFamily="18" charset="0"/>
                        <a:cs typeface="Arial" panose="020B0604020202020204" pitchFamily="34" charset="0"/>
                      </a:rPr>
                      <m:t>,</m:t>
                    </m:r>
                  </m:oMath>
                </a14:m>
                <a:r>
                  <a:rPr lang="en-US" sz="1200" dirty="0">
                    <a:latin typeface="Arial" panose="020B0604020202020204" pitchFamily="34" charset="0"/>
                    <a:cs typeface="Arial" panose="020B0604020202020204" pitchFamily="34" charset="0"/>
                  </a:rPr>
                  <a:t> the FSR becomes 0.006 </a:t>
                </a:r>
                <a14:m>
                  <m:oMath xmlns:m="http://schemas.openxmlformats.org/officeDocument/2006/math">
                    <m:r>
                      <a:rPr lang="es-ES" sz="1200" i="1">
                        <a:latin typeface="Cambria Math" panose="02040503050406030204" pitchFamily="18" charset="0"/>
                        <a:ea typeface="Cambria Math" panose="02040503050406030204" pitchFamily="18" charset="0"/>
                        <a:cs typeface="Arial" panose="020B0604020202020204" pitchFamily="34" charset="0"/>
                      </a:rPr>
                      <m:t>𝜇</m:t>
                    </m:r>
                    <m:r>
                      <a:rPr lang="es-ES" sz="1200" i="1">
                        <a:latin typeface="Cambria Math" panose="02040503050406030204" pitchFamily="18" charset="0"/>
                        <a:ea typeface="Cambria Math" panose="02040503050406030204" pitchFamily="18" charset="0"/>
                        <a:cs typeface="Arial" panose="020B0604020202020204" pitchFamily="34" charset="0"/>
                      </a:rPr>
                      <m:t>𝑚</m:t>
                    </m:r>
                    <m:r>
                      <a:rPr lang="es-ES" sz="1200" i="1">
                        <a:latin typeface="Cambria Math" panose="02040503050406030204" pitchFamily="18" charset="0"/>
                        <a:ea typeface="Cambria Math" panose="02040503050406030204" pitchFamily="18" charset="0"/>
                        <a:cs typeface="Arial" panose="020B0604020202020204" pitchFamily="34" charset="0"/>
                      </a:rPr>
                      <m:t>  </m:t>
                    </m:r>
                  </m:oMath>
                </a14:m>
                <a:r>
                  <a:rPr lang="en-US" sz="1200" dirty="0">
                    <a:latin typeface="Arial" panose="020B0604020202020204" pitchFamily="34" charset="0"/>
                    <a:cs typeface="Arial" panose="020B0604020202020204" pitchFamily="34" charset="0"/>
                  </a:rPr>
                  <a:t>= 6 </a:t>
                </a:r>
                <a14:m>
                  <m:oMath xmlns:m="http://schemas.openxmlformats.org/officeDocument/2006/math">
                    <m:r>
                      <m:rPr>
                        <m:sty m:val="p"/>
                      </m:rPr>
                      <a:rPr lang="es-ES" sz="1200">
                        <a:latin typeface="Cambria Math" panose="02040503050406030204" pitchFamily="18" charset="0"/>
                        <a:ea typeface="Cambria Math" panose="02040503050406030204" pitchFamily="18" charset="0"/>
                        <a:cs typeface="Arial" panose="020B0604020202020204" pitchFamily="34" charset="0"/>
                      </a:rPr>
                      <m:t>n</m:t>
                    </m:r>
                    <m:r>
                      <a:rPr lang="es-ES" sz="1200" i="1">
                        <a:latin typeface="Cambria Math" panose="02040503050406030204" pitchFamily="18" charset="0"/>
                        <a:ea typeface="Cambria Math" panose="02040503050406030204" pitchFamily="18" charset="0"/>
                        <a:cs typeface="Arial" panose="020B0604020202020204" pitchFamily="34" charset="0"/>
                      </a:rPr>
                      <m:t>𝑚</m:t>
                    </m:r>
                    <m:r>
                      <a:rPr lang="es-ES" sz="1200" b="0" i="0" smtClean="0">
                        <a:latin typeface="Cambria Math" panose="02040503050406030204" pitchFamily="18" charset="0"/>
                        <a:ea typeface="Cambria Math" panose="02040503050406030204" pitchFamily="18" charset="0"/>
                        <a:cs typeface="Arial" panose="020B0604020202020204" pitchFamily="34" charset="0"/>
                      </a:rPr>
                      <m:t>.</m:t>
                    </m:r>
                  </m:oMath>
                </a14:m>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Therefore, we observe that as the path difference increases, the FSR decreases. This can also be seen from its equation: </a:t>
                </a:r>
              </a:p>
              <a:p>
                <a:pPr algn="just"/>
                <a14:m>
                  <m:oMathPara xmlns:m="http://schemas.openxmlformats.org/officeDocument/2006/math">
                    <m:oMathParaPr>
                      <m:jc m:val="centerGroup"/>
                    </m:oMathParaPr>
                    <m:oMath xmlns:m="http://schemas.openxmlformats.org/officeDocument/2006/math">
                      <m:r>
                        <a:rPr lang="es-ES" sz="1200" b="0" i="1" smtClean="0">
                          <a:latin typeface="Cambria Math" panose="02040503050406030204" pitchFamily="18" charset="0"/>
                          <a:cs typeface="Arial" panose="020B0604020202020204" pitchFamily="34" charset="0"/>
                        </a:rPr>
                        <m:t>𝐹𝑆𝑅</m:t>
                      </m:r>
                      <m:r>
                        <a:rPr lang="es-ES" sz="1200" b="0" i="1" smtClean="0">
                          <a:latin typeface="Cambria Math" panose="02040503050406030204" pitchFamily="18" charset="0"/>
                          <a:cs typeface="Arial" panose="020B0604020202020204" pitchFamily="34" charset="0"/>
                        </a:rPr>
                        <m:t>=</m:t>
                      </m:r>
                      <m:f>
                        <m:fPr>
                          <m:ctrlPr>
                            <a:rPr lang="es-ES" sz="1200" b="0" i="1" smtClean="0">
                              <a:latin typeface="Cambria Math" panose="02040503050406030204" pitchFamily="18" charset="0"/>
                              <a:cs typeface="Arial" panose="020B0604020202020204" pitchFamily="34" charset="0"/>
                            </a:rPr>
                          </m:ctrlPr>
                        </m:fPr>
                        <m:num>
                          <m:r>
                            <a:rPr lang="es-ES" sz="1200" b="0" i="1" smtClean="0">
                              <a:latin typeface="Cambria Math" panose="02040503050406030204" pitchFamily="18" charset="0"/>
                              <a:cs typeface="Arial" panose="020B0604020202020204" pitchFamily="34" charset="0"/>
                            </a:rPr>
                            <m:t>𝑐</m:t>
                          </m:r>
                        </m:num>
                        <m:den>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𝑛</m:t>
                              </m:r>
                            </m:e>
                            <m:sub>
                              <m:r>
                                <a:rPr lang="es-ES" sz="1200" b="0" i="1" smtClean="0">
                                  <a:latin typeface="Cambria Math" panose="02040503050406030204" pitchFamily="18" charset="0"/>
                                  <a:cs typeface="Arial" panose="020B0604020202020204" pitchFamily="34" charset="0"/>
                                </a:rPr>
                                <m:t>𝑔</m:t>
                              </m:r>
                            </m:sub>
                          </m:sSub>
                          <m:d>
                            <m:dPr>
                              <m:ctrlPr>
                                <a:rPr lang="es-ES" sz="1200" b="0" i="1" smtClean="0">
                                  <a:latin typeface="Cambria Math" panose="02040503050406030204" pitchFamily="18" charset="0"/>
                                  <a:cs typeface="Arial" panose="020B0604020202020204" pitchFamily="34" charset="0"/>
                                </a:rPr>
                              </m:ctrlPr>
                            </m:dPr>
                            <m:e>
                              <m:r>
                                <a:rPr lang="es-ES" sz="1200" b="0" i="1" smtClean="0">
                                  <a:latin typeface="Cambria Math" panose="02040503050406030204" pitchFamily="18" charset="0"/>
                                  <a:ea typeface="Cambria Math" panose="02040503050406030204" pitchFamily="18" charset="0"/>
                                  <a:cs typeface="Arial" panose="020B0604020202020204" pitchFamily="34" charset="0"/>
                                </a:rPr>
                                <m:t>𝜆</m:t>
                              </m:r>
                            </m:e>
                          </m:d>
                          <m:r>
                            <m:rPr>
                              <m:sty m:val="p"/>
                            </m:rPr>
                            <a:rPr lang="es-ES" sz="1200" i="1">
                              <a:latin typeface="Cambria Math" panose="02040503050406030204" pitchFamily="18" charset="0"/>
                              <a:ea typeface="Cambria Math" panose="02040503050406030204" pitchFamily="18" charset="0"/>
                              <a:cs typeface="Arial" panose="020B0604020202020204" pitchFamily="34" charset="0"/>
                            </a:rPr>
                            <m:t>Δ</m:t>
                          </m:r>
                          <m:r>
                            <a:rPr lang="es-ES" sz="1200" b="0" i="1" smtClean="0">
                              <a:latin typeface="Cambria Math" panose="02040503050406030204" pitchFamily="18" charset="0"/>
                              <a:ea typeface="Cambria Math" panose="02040503050406030204" pitchFamily="18" charset="0"/>
                              <a:cs typeface="Arial" panose="020B0604020202020204" pitchFamily="34" charset="0"/>
                            </a:rPr>
                            <m:t>𝐿</m:t>
                          </m:r>
                        </m:den>
                      </m:f>
                    </m:oMath>
                  </m:oMathPara>
                </a14:m>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which shows an inverse relationship between the free spectral range and the path length difference.</a:t>
                </a:r>
              </a:p>
            </p:txBody>
          </p:sp>
        </mc:Choice>
        <mc:Fallback>
          <p:sp>
            <p:nvSpPr>
              <p:cNvPr id="2" name="CuadroTexto 1">
                <a:extLst>
                  <a:ext uri="{FF2B5EF4-FFF2-40B4-BE49-F238E27FC236}">
                    <a16:creationId xmlns:a16="http://schemas.microsoft.com/office/drawing/2014/main" id="{2202572E-26CA-069F-3643-4642854F470B}"/>
                  </a:ext>
                </a:extLst>
              </p:cNvPr>
              <p:cNvSpPr txBox="1">
                <a:spLocks noRot="1" noChangeAspect="1" noMove="1" noResize="1" noEditPoints="1" noAdjustHandles="1" noChangeArrowheads="1" noChangeShapeType="1" noTextEdit="1"/>
              </p:cNvSpPr>
              <p:nvPr/>
            </p:nvSpPr>
            <p:spPr>
              <a:xfrm>
                <a:off x="6781599" y="1151646"/>
                <a:ext cx="5060081" cy="4739374"/>
              </a:xfrm>
              <a:prstGeom prst="rect">
                <a:avLst/>
              </a:prstGeom>
              <a:blipFill>
                <a:blip r:embed="rId5"/>
                <a:stretch>
                  <a:fillRect/>
                </a:stretch>
              </a:blipFill>
              <a:ln w="28575">
                <a:solidFill>
                  <a:srgbClr val="E0700D"/>
                </a:solidFill>
              </a:ln>
            </p:spPr>
            <p:txBody>
              <a:bodyPr/>
              <a:lstStyle/>
              <a:p>
                <a:r>
                  <a:rPr lang="es-CO">
                    <a:noFill/>
                  </a:rPr>
                  <a:t> </a:t>
                </a:r>
              </a:p>
            </p:txBody>
          </p:sp>
        </mc:Fallback>
      </mc:AlternateContent>
      <p:sp>
        <p:nvSpPr>
          <p:cNvPr id="5" name="Marcador de pie de página 2">
            <a:extLst>
              <a:ext uri="{FF2B5EF4-FFF2-40B4-BE49-F238E27FC236}">
                <a16:creationId xmlns:a16="http://schemas.microsoft.com/office/drawing/2014/main" id="{BD3E3E22-482D-71AB-40D8-6490420833E1}"/>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pic>
        <p:nvPicPr>
          <p:cNvPr id="7" name="Imagen 6">
            <a:extLst>
              <a:ext uri="{FF2B5EF4-FFF2-40B4-BE49-F238E27FC236}">
                <a16:creationId xmlns:a16="http://schemas.microsoft.com/office/drawing/2014/main" id="{E4B48E27-C1E8-9B59-52FE-8A25BC26C463}"/>
              </a:ext>
            </a:extLst>
          </p:cNvPr>
          <p:cNvPicPr>
            <a:picLocks noChangeAspect="1"/>
          </p:cNvPicPr>
          <p:nvPr/>
        </p:nvPicPr>
        <p:blipFill>
          <a:blip r:embed="rId6"/>
          <a:stretch>
            <a:fillRect/>
          </a:stretch>
        </p:blipFill>
        <p:spPr>
          <a:xfrm>
            <a:off x="370229" y="3783600"/>
            <a:ext cx="2729670" cy="2160000"/>
          </a:xfrm>
          <a:prstGeom prst="rect">
            <a:avLst/>
          </a:prstGeom>
        </p:spPr>
      </p:pic>
      <p:pic>
        <p:nvPicPr>
          <p:cNvPr id="10" name="Imagen 9">
            <a:extLst>
              <a:ext uri="{FF2B5EF4-FFF2-40B4-BE49-F238E27FC236}">
                <a16:creationId xmlns:a16="http://schemas.microsoft.com/office/drawing/2014/main" id="{F0E0AE81-3292-C727-F4FE-60CBF9DD1403}"/>
              </a:ext>
            </a:extLst>
          </p:cNvPr>
          <p:cNvPicPr>
            <a:picLocks noChangeAspect="1"/>
          </p:cNvPicPr>
          <p:nvPr/>
        </p:nvPicPr>
        <p:blipFill>
          <a:blip r:embed="rId7"/>
          <a:stretch>
            <a:fillRect/>
          </a:stretch>
        </p:blipFill>
        <p:spPr>
          <a:xfrm>
            <a:off x="3733800" y="1578502"/>
            <a:ext cx="2886330" cy="2160000"/>
          </a:xfrm>
          <a:prstGeom prst="rect">
            <a:avLst/>
          </a:prstGeom>
        </p:spPr>
      </p:pic>
      <p:pic>
        <p:nvPicPr>
          <p:cNvPr id="12" name="Imagen 11">
            <a:extLst>
              <a:ext uri="{FF2B5EF4-FFF2-40B4-BE49-F238E27FC236}">
                <a16:creationId xmlns:a16="http://schemas.microsoft.com/office/drawing/2014/main" id="{20704F26-971F-BAAB-211F-82DC47369B49}"/>
              </a:ext>
            </a:extLst>
          </p:cNvPr>
          <p:cNvPicPr>
            <a:picLocks noChangeAspect="1"/>
          </p:cNvPicPr>
          <p:nvPr/>
        </p:nvPicPr>
        <p:blipFill>
          <a:blip r:embed="rId8"/>
          <a:stretch>
            <a:fillRect/>
          </a:stretch>
        </p:blipFill>
        <p:spPr>
          <a:xfrm>
            <a:off x="3733800" y="3789021"/>
            <a:ext cx="2886330" cy="2160000"/>
          </a:xfrm>
          <a:prstGeom prst="rect">
            <a:avLst/>
          </a:prstGeom>
        </p:spPr>
      </p:pic>
      <p:pic>
        <p:nvPicPr>
          <p:cNvPr id="14" name="Imagen 13">
            <a:extLst>
              <a:ext uri="{FF2B5EF4-FFF2-40B4-BE49-F238E27FC236}">
                <a16:creationId xmlns:a16="http://schemas.microsoft.com/office/drawing/2014/main" id="{527806C7-8070-3290-1450-BBFB24BC18F5}"/>
              </a:ext>
            </a:extLst>
          </p:cNvPr>
          <p:cNvPicPr>
            <a:picLocks noChangeAspect="1"/>
          </p:cNvPicPr>
          <p:nvPr/>
        </p:nvPicPr>
        <p:blipFill>
          <a:blip r:embed="rId9"/>
          <a:stretch>
            <a:fillRect/>
          </a:stretch>
        </p:blipFill>
        <p:spPr>
          <a:xfrm>
            <a:off x="377156" y="1573081"/>
            <a:ext cx="2824616" cy="2160000"/>
          </a:xfrm>
          <a:prstGeom prst="rect">
            <a:avLst/>
          </a:prstGeom>
        </p:spPr>
      </p:pic>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87479B6C-BA9B-ACD4-C917-0B3A719D1DA0}"/>
                  </a:ext>
                </a:extLst>
              </p:cNvPr>
              <p:cNvSpPr txBox="1"/>
              <p:nvPr/>
            </p:nvSpPr>
            <p:spPr>
              <a:xfrm>
                <a:off x="4651853" y="1151646"/>
                <a:ext cx="1050224" cy="369332"/>
              </a:xfrm>
              <a:prstGeom prst="rect">
                <a:avLst/>
              </a:prstGeom>
              <a:noFill/>
            </p:spPr>
            <p:txBody>
              <a:bodyPr wrap="none" rtlCol="0">
                <a:spAutoFit/>
              </a:bodyPr>
              <a:lstStyle/>
              <a:p>
                <a:r>
                  <a:rPr lang="es-ES" dirty="0"/>
                  <a:t>Other </a:t>
                </a:r>
                <a14:m>
                  <m:oMath xmlns:m="http://schemas.openxmlformats.org/officeDocument/2006/math">
                    <m:r>
                      <m:rPr>
                        <m:sty m:val="p"/>
                      </m:rPr>
                      <a:rPr lang="el-GR" i="1" smtClean="0">
                        <a:latin typeface="Cambria Math" panose="02040503050406030204" pitchFamily="18" charset="0"/>
                        <a:ea typeface="Cambria Math" panose="02040503050406030204" pitchFamily="18" charset="0"/>
                      </a:rPr>
                      <m:t>Δ</m:t>
                    </m:r>
                    <m:r>
                      <a:rPr lang="es-ES" b="0" i="1" smtClean="0">
                        <a:latin typeface="Cambria Math" panose="02040503050406030204" pitchFamily="18" charset="0"/>
                        <a:ea typeface="Cambria Math" panose="02040503050406030204" pitchFamily="18" charset="0"/>
                      </a:rPr>
                      <m:t>𝐿</m:t>
                    </m:r>
                  </m:oMath>
                </a14:m>
                <a:endParaRPr lang="es-CO" dirty="0"/>
              </a:p>
            </p:txBody>
          </p:sp>
        </mc:Choice>
        <mc:Fallback xmlns="">
          <p:sp>
            <p:nvSpPr>
              <p:cNvPr id="15" name="CuadroTexto 14">
                <a:extLst>
                  <a:ext uri="{FF2B5EF4-FFF2-40B4-BE49-F238E27FC236}">
                    <a16:creationId xmlns:a16="http://schemas.microsoft.com/office/drawing/2014/main" id="{87479B6C-BA9B-ACD4-C917-0B3A719D1DA0}"/>
                  </a:ext>
                </a:extLst>
              </p:cNvPr>
              <p:cNvSpPr txBox="1">
                <a:spLocks noRot="1" noChangeAspect="1" noMove="1" noResize="1" noEditPoints="1" noAdjustHandles="1" noChangeArrowheads="1" noChangeShapeType="1" noTextEdit="1"/>
              </p:cNvSpPr>
              <p:nvPr/>
            </p:nvSpPr>
            <p:spPr>
              <a:xfrm>
                <a:off x="4651853" y="1151646"/>
                <a:ext cx="1050224" cy="369332"/>
              </a:xfrm>
              <a:prstGeom prst="rect">
                <a:avLst/>
              </a:prstGeom>
              <a:blipFill>
                <a:blip r:embed="rId10"/>
                <a:stretch>
                  <a:fillRect l="-4651" t="-9836" b="-24590"/>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BA4D0F68-484F-C886-B44E-D83010768B0C}"/>
                  </a:ext>
                </a:extLst>
              </p:cNvPr>
              <p:cNvSpPr txBox="1"/>
              <p:nvPr/>
            </p:nvSpPr>
            <p:spPr>
              <a:xfrm>
                <a:off x="1456088" y="1057001"/>
                <a:ext cx="800155" cy="369332"/>
              </a:xfrm>
              <a:prstGeom prst="rect">
                <a:avLst/>
              </a:prstGeom>
              <a:noFill/>
            </p:spPr>
            <p:txBody>
              <a:bodyPr wrap="none" rtlCol="0">
                <a:spAutoFit/>
              </a:bodyPr>
              <a:lstStyle/>
              <a:p>
                <a14:m>
                  <m:oMath xmlns:m="http://schemas.openxmlformats.org/officeDocument/2006/math">
                    <m:r>
                      <m:rPr>
                        <m:sty m:val="p"/>
                      </m:rPr>
                      <a:rPr lang="el-GR" i="1" smtClean="0">
                        <a:latin typeface="Cambria Math" panose="02040503050406030204" pitchFamily="18" charset="0"/>
                        <a:ea typeface="Cambria Math" panose="02040503050406030204" pitchFamily="18" charset="0"/>
                      </a:rPr>
                      <m:t>Δ</m:t>
                    </m:r>
                    <m:r>
                      <a:rPr lang="es-ES" b="0" i="1" smtClean="0">
                        <a:latin typeface="Cambria Math" panose="02040503050406030204" pitchFamily="18" charset="0"/>
                        <a:ea typeface="Cambria Math" panose="02040503050406030204" pitchFamily="18" charset="0"/>
                      </a:rPr>
                      <m:t>𝐿</m:t>
                    </m:r>
                  </m:oMath>
                </a14:m>
                <a:r>
                  <a:rPr lang="es-CO" dirty="0"/>
                  <a:t>=20</a:t>
                </a:r>
              </a:p>
            </p:txBody>
          </p:sp>
        </mc:Choice>
        <mc:Fallback xmlns="">
          <p:sp>
            <p:nvSpPr>
              <p:cNvPr id="17" name="CuadroTexto 16">
                <a:extLst>
                  <a:ext uri="{FF2B5EF4-FFF2-40B4-BE49-F238E27FC236}">
                    <a16:creationId xmlns:a16="http://schemas.microsoft.com/office/drawing/2014/main" id="{BA4D0F68-484F-C886-B44E-D83010768B0C}"/>
                  </a:ext>
                </a:extLst>
              </p:cNvPr>
              <p:cNvSpPr txBox="1">
                <a:spLocks noRot="1" noChangeAspect="1" noMove="1" noResize="1" noEditPoints="1" noAdjustHandles="1" noChangeArrowheads="1" noChangeShapeType="1" noTextEdit="1"/>
              </p:cNvSpPr>
              <p:nvPr/>
            </p:nvSpPr>
            <p:spPr>
              <a:xfrm>
                <a:off x="1456088" y="1057001"/>
                <a:ext cx="800155" cy="369332"/>
              </a:xfrm>
              <a:prstGeom prst="rect">
                <a:avLst/>
              </a:prstGeom>
              <a:blipFill>
                <a:blip r:embed="rId11"/>
                <a:stretch>
                  <a:fillRect t="-8197" r="-5344" b="-24590"/>
                </a:stretch>
              </a:blipFill>
            </p:spPr>
            <p:txBody>
              <a:bodyPr/>
              <a:lstStyle/>
              <a:p>
                <a:r>
                  <a:rPr lang="es-CO">
                    <a:noFill/>
                  </a:rPr>
                  <a:t> </a:t>
                </a:r>
              </a:p>
            </p:txBody>
          </p:sp>
        </mc:Fallback>
      </mc:AlternateContent>
      <p:cxnSp>
        <p:nvCxnSpPr>
          <p:cNvPr id="19" name="Conector recto 18">
            <a:extLst>
              <a:ext uri="{FF2B5EF4-FFF2-40B4-BE49-F238E27FC236}">
                <a16:creationId xmlns:a16="http://schemas.microsoft.com/office/drawing/2014/main" id="{16A3C74D-93CB-EE9F-97D0-67D9C2CBA4C4}"/>
              </a:ext>
            </a:extLst>
          </p:cNvPr>
          <p:cNvCxnSpPr/>
          <p:nvPr/>
        </p:nvCxnSpPr>
        <p:spPr>
          <a:xfrm>
            <a:off x="3429000" y="1191148"/>
            <a:ext cx="0" cy="4676252"/>
          </a:xfrm>
          <a:prstGeom prst="line">
            <a:avLst/>
          </a:prstGeom>
          <a:ln w="28575">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792663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B59AF9-5B49-0BA4-6061-169E7E907E70}"/>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2F64F57-E3FE-00C9-DB12-0C3537B65A53}"/>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#1 </a:t>
            </a:r>
            <a:r>
              <a:rPr lang="en-US" sz="2500" dirty="0"/>
              <a:t>– Recap from theory – Delay Imbalance MZI</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1737F1B9-E31A-65F3-B1FD-9973C43E36E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9F55082-EF73-6C70-592C-F7B9DD21E9BA}"/>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2" name="CuadroTexto 1">
            <a:extLst>
              <a:ext uri="{FF2B5EF4-FFF2-40B4-BE49-F238E27FC236}">
                <a16:creationId xmlns:a16="http://schemas.microsoft.com/office/drawing/2014/main" id="{5A957225-2F05-4837-1F24-2C818AD28A52}"/>
              </a:ext>
            </a:extLst>
          </p:cNvPr>
          <p:cNvSpPr txBox="1"/>
          <p:nvPr/>
        </p:nvSpPr>
        <p:spPr>
          <a:xfrm>
            <a:off x="5194436" y="1221643"/>
            <a:ext cx="6409575" cy="3970318"/>
          </a:xfrm>
          <a:prstGeom prst="rect">
            <a:avLst/>
          </a:prstGeom>
          <a:solidFill>
            <a:schemeClr val="bg1">
              <a:lumMod val="95000"/>
            </a:schemeClr>
          </a:solidFill>
          <a:ln w="28575">
            <a:solidFill>
              <a:srgbClr val="E0700D"/>
            </a:solidFill>
          </a:ln>
        </p:spPr>
        <p:txBody>
          <a:bodyPr wrap="square" rtlCol="0">
            <a:spAutoFit/>
          </a:bodyPr>
          <a:lstStyle/>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If we did not have this condition, the dependence would not be linear. In other words, if </a:t>
            </a:r>
            <a:r>
              <a:rPr lang="el-GR" sz="1200" dirty="0">
                <a:latin typeface="Arial" panose="020B0604020202020204" pitchFamily="34" charset="0"/>
                <a:cs typeface="Arial" panose="020B0604020202020204" pitchFamily="34" charset="0"/>
              </a:rPr>
              <a:t>β</a:t>
            </a:r>
            <a:r>
              <a:rPr lang="en-US" sz="1200" dirty="0">
                <a:latin typeface="Arial" panose="020B0604020202020204" pitchFamily="34" charset="0"/>
                <a:cs typeface="Arial" panose="020B0604020202020204" pitchFamily="34" charset="0"/>
              </a:rPr>
              <a:t> does not grow linearly with the wavelength, the period would change along the spectrum. Since we make the effective index vary following a parabolic behavior, when taking the derivative, the group index becomes a linear function. This means that as the wavelength increases, the group index corresponding to that wavelength also increases, which affects the propagation of the signal.</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Thus, we observe how the group index is related to the FSR, since a larger group index results in a smaller FSR, and therefore a larger spectral period of the signal</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The group index defines the spectral period because it determines the FSR of our device. As can be observed, the FSR is inversely proportional to the group index, meaning that the larger 𝑛𝑔ng	​ is, the smaller the FSR becomes. This occurs due to chromatic dispersion, that is, the different propagation velocities of the different wavelengths.</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FSR between peaks: [0.009 0.007 0.005 0.005 0.004 0.004]</a:t>
            </a:r>
          </a:p>
          <a:p>
            <a:pPr algn="just"/>
            <a:r>
              <a:rPr lang="en-US" sz="1200" dirty="0">
                <a:latin typeface="Arial" panose="020B0604020202020204" pitchFamily="34" charset="0"/>
                <a:cs typeface="Arial" panose="020B0604020202020204" pitchFamily="34" charset="0"/>
              </a:rPr>
              <a:t>Spectral period between peaks: [111.11111111 142.85714286 200. 200. 250. 250.]</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Therefore, as observed, the group index increases linearly with wavelength, the FSR decreases, and the spectral period increases.</a:t>
            </a:r>
          </a:p>
        </p:txBody>
      </p:sp>
      <p:sp>
        <p:nvSpPr>
          <p:cNvPr id="5" name="Marcador de pie de página 2">
            <a:extLst>
              <a:ext uri="{FF2B5EF4-FFF2-40B4-BE49-F238E27FC236}">
                <a16:creationId xmlns:a16="http://schemas.microsoft.com/office/drawing/2014/main" id="{8DEC9E56-309F-814B-63CC-5A3771E70F4B}"/>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pic>
        <p:nvPicPr>
          <p:cNvPr id="6" name="Imagen 5">
            <a:extLst>
              <a:ext uri="{FF2B5EF4-FFF2-40B4-BE49-F238E27FC236}">
                <a16:creationId xmlns:a16="http://schemas.microsoft.com/office/drawing/2014/main" id="{5FF130B1-CFBD-3ED8-D55C-6272283F5323}"/>
              </a:ext>
            </a:extLst>
          </p:cNvPr>
          <p:cNvPicPr>
            <a:picLocks noChangeAspect="1"/>
          </p:cNvPicPr>
          <p:nvPr/>
        </p:nvPicPr>
        <p:blipFill>
          <a:blip r:embed="rId5"/>
          <a:stretch>
            <a:fillRect/>
          </a:stretch>
        </p:blipFill>
        <p:spPr>
          <a:xfrm>
            <a:off x="976417" y="1191148"/>
            <a:ext cx="3249761" cy="2607833"/>
          </a:xfrm>
          <a:prstGeom prst="rect">
            <a:avLst/>
          </a:prstGeom>
        </p:spPr>
      </p:pic>
      <p:pic>
        <p:nvPicPr>
          <p:cNvPr id="10" name="Imagen 9">
            <a:extLst>
              <a:ext uri="{FF2B5EF4-FFF2-40B4-BE49-F238E27FC236}">
                <a16:creationId xmlns:a16="http://schemas.microsoft.com/office/drawing/2014/main" id="{F5864C04-7B86-D83F-83E9-B5109FCE7496}"/>
              </a:ext>
            </a:extLst>
          </p:cNvPr>
          <p:cNvPicPr>
            <a:picLocks noChangeAspect="1"/>
          </p:cNvPicPr>
          <p:nvPr/>
        </p:nvPicPr>
        <p:blipFill>
          <a:blip r:embed="rId6"/>
          <a:stretch>
            <a:fillRect/>
          </a:stretch>
        </p:blipFill>
        <p:spPr>
          <a:xfrm>
            <a:off x="1172023" y="3798981"/>
            <a:ext cx="3054155" cy="2412570"/>
          </a:xfrm>
          <a:prstGeom prst="rect">
            <a:avLst/>
          </a:prstGeom>
        </p:spPr>
      </p:pic>
    </p:spTree>
    <p:extLst>
      <p:ext uri="{BB962C8B-B14F-4D97-AF65-F5344CB8AC3E}">
        <p14:creationId xmlns:p14="http://schemas.microsoft.com/office/powerpoint/2010/main" val="30932675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DD4922-E1EC-59CD-3159-9BA4D76CB5F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C9D623D-3BC0-C685-FB38-F0465395820D}"/>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#1 </a:t>
            </a:r>
            <a:r>
              <a:rPr lang="en-US" sz="2500" dirty="0"/>
              <a:t>– Recap from theory – Amplitude Imbalance MZI</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155A3E8F-32ED-8AE4-54CA-C9931203216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466D65E-FCEC-4918-CB83-3413B158A6C5}"/>
              </a:ext>
            </a:extLst>
          </p:cNvPr>
          <p:cNvSpPr>
            <a:spLocks noGrp="1"/>
          </p:cNvSpPr>
          <p:nvPr>
            <p:ph type="sldNum" sz="quarter" idx="7"/>
          </p:nvPr>
        </p:nvSpPr>
        <p:spPr/>
        <p:txBody>
          <a:bodyPr/>
          <a:lstStyle/>
          <a:p>
            <a:fld id="{B6F15528-21DE-4FAA-801E-634DDDAF4B2B}" type="slidenum">
              <a:rPr lang="es-ES" smtClean="0"/>
              <a:t>7</a:t>
            </a:fld>
            <a:endParaRPr lang="es-ES"/>
          </a:p>
        </p:txBody>
      </p:sp>
      <mc:AlternateContent xmlns:mc="http://schemas.openxmlformats.org/markup-compatibility/2006">
        <mc:Choice xmlns:a14="http://schemas.microsoft.com/office/drawing/2010/main" Requires="a14">
          <p:sp>
            <p:nvSpPr>
              <p:cNvPr id="2" name="CuadroTexto 1">
                <a:extLst>
                  <a:ext uri="{FF2B5EF4-FFF2-40B4-BE49-F238E27FC236}">
                    <a16:creationId xmlns:a16="http://schemas.microsoft.com/office/drawing/2014/main" id="{2A8BB1CC-8C13-29C6-BDAD-330927B269F1}"/>
                  </a:ext>
                </a:extLst>
              </p:cNvPr>
              <p:cNvSpPr txBox="1"/>
              <p:nvPr/>
            </p:nvSpPr>
            <p:spPr>
              <a:xfrm>
                <a:off x="6448739" y="1105782"/>
                <a:ext cx="5127011" cy="3766544"/>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ow, in the case where we have an amplitude imbalance, that is, when the coupling is different in each MZI, we find that the extinction ratio decreases. In the previous case, it reached approximately −30 to −35 dB, whereas in this case it only reaches about −14 </a:t>
                </a:r>
                <a:r>
                  <a:rPr lang="en-US" sz="1200" dirty="0" err="1">
                    <a:latin typeface="Arial" panose="020B0604020202020204" pitchFamily="34" charset="0"/>
                    <a:cs typeface="Arial" panose="020B0604020202020204" pitchFamily="34" charset="0"/>
                  </a:rPr>
                  <a:t>dB.</a:t>
                </a:r>
                <a:r>
                  <a:rPr lang="en-US" sz="1200" dirty="0">
                    <a:latin typeface="Arial" panose="020B0604020202020204" pitchFamily="34" charset="0"/>
                    <a:cs typeface="Arial" panose="020B0604020202020204" pitchFamily="34" charset="0"/>
                  </a:rPr>
                  <a:t> This difference occurs because the interference is not completely destructive. When the power of the signals changes, the magnitude does not reach zero, as can be observed in the sine and cosine plots. Therefore, when we observe the response on a logarithmic scale, this change becomes evident.</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For maximum rejection to occur, the following condition must be satisfied: </a:t>
                </a:r>
                <a:r>
                  <a:rPr lang="en-US" sz="1200" dirty="0" err="1">
                    <a:latin typeface="Arial" panose="020B0604020202020204" pitchFamily="34" charset="0"/>
                    <a:cs typeface="Arial" panose="020B0604020202020204" pitchFamily="34" charset="0"/>
                  </a:rPr>
                  <a:t>k_a</a:t>
                </a:r>
                <a:r>
                  <a:rPr lang="en-US" sz="1200" dirty="0">
                    <a:latin typeface="Arial" panose="020B0604020202020204" pitchFamily="34" charset="0"/>
                    <a:cs typeface="Arial" panose="020B0604020202020204" pitchFamily="34" charset="0"/>
                  </a:rPr>
                  <a:t>=(1-k_b). Thus, if we set </a:t>
                </a:r>
                <a:r>
                  <a:rPr lang="en-US" sz="1200" dirty="0" err="1">
                    <a:latin typeface="Arial" panose="020B0604020202020204" pitchFamily="34" charset="0"/>
                    <a:cs typeface="Arial" panose="020B0604020202020204" pitchFamily="34" charset="0"/>
                  </a:rPr>
                  <a:t>k_b</a:t>
                </a:r>
                <a:r>
                  <a:rPr lang="en-US" sz="1200" dirty="0">
                    <a:latin typeface="Arial" panose="020B0604020202020204" pitchFamily="34" charset="0"/>
                    <a:cs typeface="Arial" panose="020B0604020202020204" pitchFamily="34" charset="0"/>
                  </a:rPr>
                  <a:t>=0,3, we take </a:t>
                </a:r>
                <a:r>
                  <a:rPr lang="en-US" sz="1200" dirty="0" err="1">
                    <a:latin typeface="Arial" panose="020B0604020202020204" pitchFamily="34" charset="0"/>
                    <a:cs typeface="Arial" panose="020B0604020202020204" pitchFamily="34" charset="0"/>
                  </a:rPr>
                  <a:t>k_a</a:t>
                </a:r>
                <a:r>
                  <a:rPr lang="en-US" sz="1200" dirty="0">
                    <a:latin typeface="Arial" panose="020B0604020202020204" pitchFamily="34" charset="0"/>
                    <a:cs typeface="Arial" panose="020B0604020202020204" pitchFamily="34" charset="0"/>
                  </a:rPr>
                  <a:t>=0,7. However, we notice that only one of the outputs achieves the maximum rejection, while the other does not. </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To design the compensation, we must use:</a:t>
                </a:r>
              </a:p>
              <a:p>
                <a:pPr algn="just"/>
                <a:endParaRPr lang="en-US" sz="1200" dirty="0">
                  <a:latin typeface="Arial" panose="020B0604020202020204" pitchFamily="34" charset="0"/>
                  <a:cs typeface="Arial" panose="020B0604020202020204" pitchFamily="34" charset="0"/>
                </a:endParaRPr>
              </a:p>
              <a:p>
                <a:pPr algn="just"/>
                <a14:m>
                  <m:oMathPara xmlns:m="http://schemas.openxmlformats.org/officeDocument/2006/math">
                    <m:oMathParaPr>
                      <m:jc m:val="centerGroup"/>
                    </m:oMathParaPr>
                    <m:oMath xmlns:m="http://schemas.openxmlformats.org/officeDocument/2006/math">
                      <m:sSub>
                        <m:sSubPr>
                          <m:ctrlPr>
                            <a:rPr lang="es-ES" sz="1200" i="1">
                              <a:latin typeface="Cambria Math" panose="02040503050406030204" pitchFamily="18" charset="0"/>
                              <a:cs typeface="Arial" panose="020B0604020202020204" pitchFamily="34" charset="0"/>
                            </a:rPr>
                          </m:ctrlPr>
                        </m:sSubPr>
                        <m:e>
                          <m:r>
                            <a:rPr lang="es-ES" sz="1200" i="1">
                              <a:latin typeface="Cambria Math" panose="02040503050406030204" pitchFamily="18" charset="0"/>
                              <a:cs typeface="Arial" panose="020B0604020202020204" pitchFamily="34" charset="0"/>
                            </a:rPr>
                            <m:t>𝐾</m:t>
                          </m:r>
                        </m:e>
                        <m:sub>
                          <m:r>
                            <a:rPr lang="es-ES" sz="1200" i="1">
                              <a:latin typeface="Cambria Math" panose="02040503050406030204" pitchFamily="18" charset="0"/>
                              <a:cs typeface="Arial" panose="020B0604020202020204" pitchFamily="34" charset="0"/>
                            </a:rPr>
                            <m:t>𝑏</m:t>
                          </m:r>
                        </m:sub>
                      </m:sSub>
                      <m:r>
                        <a:rPr lang="es-ES" sz="1200" i="1">
                          <a:latin typeface="Cambria Math" panose="02040503050406030204" pitchFamily="18" charset="0"/>
                          <a:cs typeface="Arial" panose="020B0604020202020204" pitchFamily="34" charset="0"/>
                        </a:rPr>
                        <m:t>=</m:t>
                      </m:r>
                      <m:r>
                        <a:rPr lang="es-ES" sz="1200" i="1">
                          <a:latin typeface="Cambria Math" panose="02040503050406030204" pitchFamily="18" charset="0"/>
                          <a:cs typeface="Arial" panose="020B0604020202020204" pitchFamily="34" charset="0"/>
                        </a:rPr>
                        <m:t>0</m:t>
                      </m:r>
                      <m:r>
                        <a:rPr lang="es-ES" sz="1200" i="1">
                          <a:latin typeface="Cambria Math" panose="02040503050406030204" pitchFamily="18" charset="0"/>
                          <a:cs typeface="Arial" panose="020B0604020202020204" pitchFamily="34" charset="0"/>
                        </a:rPr>
                        <m:t>.</m:t>
                      </m:r>
                      <m:r>
                        <a:rPr lang="es-ES" sz="1200" i="1">
                          <a:latin typeface="Cambria Math" panose="02040503050406030204" pitchFamily="18" charset="0"/>
                          <a:cs typeface="Arial" panose="020B0604020202020204" pitchFamily="34" charset="0"/>
                        </a:rPr>
                        <m:t>5</m:t>
                      </m:r>
                    </m:oMath>
                  </m:oMathPara>
                </a14:m>
                <a:endParaRPr lang="es-ES" sz="1200" dirty="0">
                  <a:latin typeface="Arial" panose="020B0604020202020204" pitchFamily="34" charset="0"/>
                  <a:cs typeface="Arial" panose="020B0604020202020204" pitchFamily="34" charset="0"/>
                </a:endParaRPr>
              </a:p>
              <a:p>
                <a:pPr algn="just"/>
                <a14:m>
                  <m:oMathPara xmlns:m="http://schemas.openxmlformats.org/officeDocument/2006/math">
                    <m:oMathParaPr>
                      <m:jc m:val="centerGroup"/>
                    </m:oMathParaPr>
                    <m:oMath xmlns:m="http://schemas.openxmlformats.org/officeDocument/2006/math">
                      <m:sSub>
                        <m:sSubPr>
                          <m:ctrlPr>
                            <a:rPr lang="es-ES" sz="1200" i="1">
                              <a:latin typeface="Cambria Math" panose="02040503050406030204" pitchFamily="18" charset="0"/>
                              <a:cs typeface="Arial" panose="020B0604020202020204" pitchFamily="34" charset="0"/>
                            </a:rPr>
                          </m:ctrlPr>
                        </m:sSubPr>
                        <m:e>
                          <m:r>
                            <a:rPr lang="es-ES" sz="1200" i="1">
                              <a:latin typeface="Cambria Math" panose="02040503050406030204" pitchFamily="18" charset="0"/>
                              <a:cs typeface="Arial" panose="020B0604020202020204" pitchFamily="34" charset="0"/>
                            </a:rPr>
                            <m:t>𝐾</m:t>
                          </m:r>
                        </m:e>
                        <m:sub>
                          <m:r>
                            <a:rPr lang="es-ES" sz="1200" i="1">
                              <a:latin typeface="Cambria Math" panose="02040503050406030204" pitchFamily="18" charset="0"/>
                              <a:cs typeface="Arial" panose="020B0604020202020204" pitchFamily="34" charset="0"/>
                            </a:rPr>
                            <m:t>𝑎</m:t>
                          </m:r>
                        </m:sub>
                      </m:sSub>
                      <m:r>
                        <a:rPr lang="es-ES" sz="1200" i="1">
                          <a:latin typeface="Cambria Math" panose="02040503050406030204" pitchFamily="18" charset="0"/>
                          <a:cs typeface="Arial" panose="020B0604020202020204" pitchFamily="34" charset="0"/>
                        </a:rPr>
                        <m:t>=</m:t>
                      </m:r>
                      <m:f>
                        <m:fPr>
                          <m:ctrlPr>
                            <a:rPr lang="es-ES" sz="1200" i="1">
                              <a:latin typeface="Cambria Math" panose="02040503050406030204" pitchFamily="18" charset="0"/>
                              <a:cs typeface="Arial" panose="020B0604020202020204" pitchFamily="34" charset="0"/>
                            </a:rPr>
                          </m:ctrlPr>
                        </m:fPr>
                        <m:num>
                          <m:r>
                            <a:rPr lang="es-ES" sz="1200" i="1">
                              <a:latin typeface="Cambria Math" panose="02040503050406030204" pitchFamily="18" charset="0"/>
                              <a:cs typeface="Arial" panose="020B0604020202020204" pitchFamily="34" charset="0"/>
                            </a:rPr>
                            <m:t>1</m:t>
                          </m:r>
                        </m:num>
                        <m:den>
                          <m:r>
                            <a:rPr lang="es-ES" sz="1200" i="1">
                              <a:latin typeface="Cambria Math" panose="02040503050406030204" pitchFamily="18" charset="0"/>
                              <a:cs typeface="Arial" panose="020B0604020202020204" pitchFamily="34" charset="0"/>
                            </a:rPr>
                            <m:t>1</m:t>
                          </m:r>
                          <m:r>
                            <a:rPr lang="es-ES" sz="1200" i="1">
                              <a:latin typeface="Cambria Math" panose="02040503050406030204" pitchFamily="18" charset="0"/>
                              <a:cs typeface="Arial" panose="020B0604020202020204" pitchFamily="34" charset="0"/>
                            </a:rPr>
                            <m:t>+</m:t>
                          </m:r>
                          <m:sSup>
                            <m:sSupPr>
                              <m:ctrlPr>
                                <a:rPr lang="es-ES" sz="1200" i="1">
                                  <a:latin typeface="Cambria Math" panose="02040503050406030204" pitchFamily="18" charset="0"/>
                                  <a:cs typeface="Arial" panose="020B0604020202020204" pitchFamily="34" charset="0"/>
                                </a:rPr>
                              </m:ctrlPr>
                            </m:sSupPr>
                            <m:e>
                              <m:r>
                                <a:rPr lang="es-ES" sz="1200" i="1">
                                  <a:latin typeface="Cambria Math" panose="02040503050406030204" pitchFamily="18" charset="0"/>
                                  <a:cs typeface="Arial" panose="020B0604020202020204" pitchFamily="34" charset="0"/>
                                </a:rPr>
                                <m:t>𝑒</m:t>
                              </m:r>
                            </m:e>
                            <m:sup>
                              <m:r>
                                <a:rPr lang="es-ES" sz="1200" i="1">
                                  <a:latin typeface="Cambria Math" panose="02040503050406030204" pitchFamily="18" charset="0"/>
                                  <a:cs typeface="Arial" panose="020B0604020202020204" pitchFamily="34" charset="0"/>
                                </a:rPr>
                                <m:t>−</m:t>
                              </m:r>
                              <m:r>
                                <a:rPr lang="es-ES" sz="1200" i="1">
                                  <a:latin typeface="Cambria Math" panose="02040503050406030204" pitchFamily="18" charset="0"/>
                                  <a:ea typeface="Cambria Math" panose="02040503050406030204" pitchFamily="18" charset="0"/>
                                  <a:cs typeface="Arial" panose="020B0604020202020204" pitchFamily="34" charset="0"/>
                                </a:rPr>
                                <m:t>𝛼</m:t>
                              </m:r>
                              <m:r>
                                <m:rPr>
                                  <m:sty m:val="p"/>
                                </m:rPr>
                                <a:rPr lang="el-GR" sz="1200" i="1">
                                  <a:latin typeface="Cambria Math" panose="02040503050406030204" pitchFamily="18" charset="0"/>
                                  <a:ea typeface="Cambria Math" panose="02040503050406030204" pitchFamily="18" charset="0"/>
                                  <a:cs typeface="Arial" panose="020B0604020202020204" pitchFamily="34" charset="0"/>
                                </a:rPr>
                                <m:t>Δ</m:t>
                              </m:r>
                              <m:r>
                                <a:rPr lang="es-ES" sz="1200" i="1">
                                  <a:latin typeface="Cambria Math" panose="02040503050406030204" pitchFamily="18" charset="0"/>
                                  <a:ea typeface="Cambria Math" panose="02040503050406030204" pitchFamily="18" charset="0"/>
                                  <a:cs typeface="Arial" panose="020B0604020202020204" pitchFamily="34" charset="0"/>
                                </a:rPr>
                                <m:t>𝐿</m:t>
                              </m:r>
                            </m:sup>
                          </m:sSup>
                        </m:den>
                      </m:f>
                    </m:oMath>
                  </m:oMathPara>
                </a14:m>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mc:Choice>
        <mc:Fallback>
          <p:sp>
            <p:nvSpPr>
              <p:cNvPr id="2" name="CuadroTexto 1">
                <a:extLst>
                  <a:ext uri="{FF2B5EF4-FFF2-40B4-BE49-F238E27FC236}">
                    <a16:creationId xmlns:a16="http://schemas.microsoft.com/office/drawing/2014/main" id="{2A8BB1CC-8C13-29C6-BDAD-330927B269F1}"/>
                  </a:ext>
                </a:extLst>
              </p:cNvPr>
              <p:cNvSpPr txBox="1">
                <a:spLocks noRot="1" noChangeAspect="1" noMove="1" noResize="1" noEditPoints="1" noAdjustHandles="1" noChangeArrowheads="1" noChangeShapeType="1" noTextEdit="1"/>
              </p:cNvSpPr>
              <p:nvPr/>
            </p:nvSpPr>
            <p:spPr>
              <a:xfrm>
                <a:off x="6448739" y="1105782"/>
                <a:ext cx="5127011" cy="3766544"/>
              </a:xfrm>
              <a:prstGeom prst="rect">
                <a:avLst/>
              </a:prstGeom>
              <a:blipFill>
                <a:blip r:embed="rId5"/>
                <a:stretch>
                  <a:fillRect/>
                </a:stretch>
              </a:blipFill>
              <a:ln w="28575">
                <a:solidFill>
                  <a:srgbClr val="E0700D"/>
                </a:solidFill>
              </a:ln>
            </p:spPr>
            <p:txBody>
              <a:bodyPr/>
              <a:lstStyle/>
              <a:p>
                <a:r>
                  <a:rPr lang="es-CO">
                    <a:noFill/>
                  </a:rPr>
                  <a:t> </a:t>
                </a:r>
              </a:p>
            </p:txBody>
          </p:sp>
        </mc:Fallback>
      </mc:AlternateContent>
      <p:sp>
        <p:nvSpPr>
          <p:cNvPr id="5" name="Marcador de pie de página 2">
            <a:extLst>
              <a:ext uri="{FF2B5EF4-FFF2-40B4-BE49-F238E27FC236}">
                <a16:creationId xmlns:a16="http://schemas.microsoft.com/office/drawing/2014/main" id="{32097B55-0B62-9F6C-3D70-88711992835A}"/>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pic>
        <p:nvPicPr>
          <p:cNvPr id="12" name="Imagen 11">
            <a:extLst>
              <a:ext uri="{FF2B5EF4-FFF2-40B4-BE49-F238E27FC236}">
                <a16:creationId xmlns:a16="http://schemas.microsoft.com/office/drawing/2014/main" id="{4A326CAA-8519-3958-1A21-FEEAEB6B1080}"/>
              </a:ext>
            </a:extLst>
          </p:cNvPr>
          <p:cNvPicPr>
            <a:picLocks noChangeAspect="1"/>
          </p:cNvPicPr>
          <p:nvPr/>
        </p:nvPicPr>
        <p:blipFill>
          <a:blip r:embed="rId6"/>
          <a:stretch>
            <a:fillRect/>
          </a:stretch>
        </p:blipFill>
        <p:spPr>
          <a:xfrm>
            <a:off x="571461" y="3416203"/>
            <a:ext cx="2729670" cy="2160000"/>
          </a:xfrm>
          <a:prstGeom prst="rect">
            <a:avLst/>
          </a:prstGeom>
        </p:spPr>
      </p:pic>
      <p:pic>
        <p:nvPicPr>
          <p:cNvPr id="14" name="Imagen 13">
            <a:extLst>
              <a:ext uri="{FF2B5EF4-FFF2-40B4-BE49-F238E27FC236}">
                <a16:creationId xmlns:a16="http://schemas.microsoft.com/office/drawing/2014/main" id="{81BC057D-B8A4-D59D-9239-C70D86C3A9F3}"/>
              </a:ext>
            </a:extLst>
          </p:cNvPr>
          <p:cNvPicPr>
            <a:picLocks noChangeAspect="1"/>
          </p:cNvPicPr>
          <p:nvPr/>
        </p:nvPicPr>
        <p:blipFill>
          <a:blip r:embed="rId7"/>
          <a:stretch>
            <a:fillRect/>
          </a:stretch>
        </p:blipFill>
        <p:spPr>
          <a:xfrm>
            <a:off x="609441" y="1080382"/>
            <a:ext cx="2691690" cy="2160000"/>
          </a:xfrm>
          <a:prstGeom prst="rect">
            <a:avLst/>
          </a:prstGeom>
        </p:spPr>
      </p:pic>
      <p:pic>
        <p:nvPicPr>
          <p:cNvPr id="17" name="Imagen 16">
            <a:extLst>
              <a:ext uri="{FF2B5EF4-FFF2-40B4-BE49-F238E27FC236}">
                <a16:creationId xmlns:a16="http://schemas.microsoft.com/office/drawing/2014/main" id="{606B748E-2BD4-E7A8-48AA-8202A2327E02}"/>
              </a:ext>
            </a:extLst>
          </p:cNvPr>
          <p:cNvPicPr>
            <a:picLocks noChangeAspect="1"/>
          </p:cNvPicPr>
          <p:nvPr/>
        </p:nvPicPr>
        <p:blipFill>
          <a:blip r:embed="rId8"/>
          <a:stretch>
            <a:fillRect/>
          </a:stretch>
        </p:blipFill>
        <p:spPr>
          <a:xfrm>
            <a:off x="3377490" y="1105782"/>
            <a:ext cx="2924310" cy="2160000"/>
          </a:xfrm>
          <a:prstGeom prst="rect">
            <a:avLst/>
          </a:prstGeom>
        </p:spPr>
      </p:pic>
      <p:pic>
        <p:nvPicPr>
          <p:cNvPr id="19" name="Imagen 18">
            <a:extLst>
              <a:ext uri="{FF2B5EF4-FFF2-40B4-BE49-F238E27FC236}">
                <a16:creationId xmlns:a16="http://schemas.microsoft.com/office/drawing/2014/main" id="{1A35D8BC-CD86-64F2-BBFC-CC41B77E0693}"/>
              </a:ext>
            </a:extLst>
          </p:cNvPr>
          <p:cNvPicPr>
            <a:picLocks noChangeAspect="1"/>
          </p:cNvPicPr>
          <p:nvPr/>
        </p:nvPicPr>
        <p:blipFill>
          <a:blip r:embed="rId9"/>
          <a:stretch>
            <a:fillRect/>
          </a:stretch>
        </p:blipFill>
        <p:spPr>
          <a:xfrm>
            <a:off x="3365500" y="3416203"/>
            <a:ext cx="2957540" cy="2160000"/>
          </a:xfrm>
          <a:prstGeom prst="rect">
            <a:avLst/>
          </a:prstGeom>
        </p:spPr>
      </p:pic>
    </p:spTree>
    <p:extLst>
      <p:ext uri="{BB962C8B-B14F-4D97-AF65-F5344CB8AC3E}">
        <p14:creationId xmlns:p14="http://schemas.microsoft.com/office/powerpoint/2010/main" val="15352968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5AB88-A787-2C84-3A44-2B634D87FB5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6" name="object 16">
                <a:extLst>
                  <a:ext uri="{FF2B5EF4-FFF2-40B4-BE49-F238E27FC236}">
                    <a16:creationId xmlns:a16="http://schemas.microsoft.com/office/drawing/2014/main" id="{A153D08B-B860-A163-3940-83AD64444D01}"/>
                  </a:ext>
                </a:extLst>
              </p:cNvPr>
              <p:cNvSpPr txBox="1">
                <a:spLocks noGrp="1"/>
              </p:cNvSpPr>
              <p:nvPr>
                <p:ph type="title"/>
              </p:nvPr>
            </p:nvSpPr>
            <p:spPr>
              <a:xfrm>
                <a:off x="685800" y="76200"/>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#2 </a:t>
                </a:r>
                <a:r>
                  <a:rPr lang="en-US" sz="2500" dirty="0"/>
                  <a:t>– Recap from theory – Calculation of </a:t>
                </a:r>
                <a14:m>
                  <m:oMath xmlns:m="http://schemas.openxmlformats.org/officeDocument/2006/math">
                    <m:r>
                      <a:rPr lang="es-ES" sz="2500" b="1" i="0" smtClean="0">
                        <a:latin typeface="Cambria Math" panose="02040503050406030204" pitchFamily="18" charset="0"/>
                      </a:rPr>
                      <m:t>𝚫</m:t>
                    </m:r>
                    <m:r>
                      <a:rPr lang="es-ES" sz="2500" b="1" i="0" smtClean="0">
                        <a:latin typeface="Cambria Math" panose="02040503050406030204" pitchFamily="18" charset="0"/>
                      </a:rPr>
                      <m:t>𝐋</m:t>
                    </m:r>
                  </m:oMath>
                </a14:m>
                <a:r>
                  <a:rPr lang="es-ES" sz="2500" spc="-5" dirty="0">
                    <a:latin typeface="+mj-lt"/>
                    <a:cs typeface="Lucida Sans"/>
                  </a:rPr>
                  <a:t> </a:t>
                </a:r>
                <a:br>
                  <a:rPr lang="es-ES" sz="2500" spc="-5" dirty="0">
                    <a:latin typeface="+mj-lt"/>
                    <a:cs typeface="Lucida Sans"/>
                  </a:rPr>
                </a:br>
                <a:endParaRPr sz="2500" b="0" dirty="0">
                  <a:latin typeface="+mj-lt"/>
                  <a:cs typeface="Lucida Sans"/>
                </a:endParaRPr>
              </a:p>
            </p:txBody>
          </p:sp>
        </mc:Choice>
        <mc:Fallback xmlns="">
          <p:sp>
            <p:nvSpPr>
              <p:cNvPr id="16" name="object 16">
                <a:extLst>
                  <a:ext uri="{FF2B5EF4-FFF2-40B4-BE49-F238E27FC236}">
                    <a16:creationId xmlns:a16="http://schemas.microsoft.com/office/drawing/2014/main" id="{A153D08B-B860-A163-3940-83AD64444D01}"/>
                  </a:ext>
                </a:extLst>
              </p:cNvPr>
              <p:cNvSpPr txBox="1">
                <a:spLocks noGrp="1" noRot="1" noChangeAspect="1" noMove="1" noResize="1" noEditPoints="1" noAdjustHandles="1" noChangeArrowheads="1" noChangeShapeType="1" noTextEdit="1"/>
              </p:cNvSpPr>
              <p:nvPr>
                <p:ph type="title"/>
              </p:nvPr>
            </p:nvSpPr>
            <p:spPr>
              <a:xfrm>
                <a:off x="685800" y="76200"/>
                <a:ext cx="10994410" cy="782265"/>
              </a:xfrm>
              <a:prstGeom prst="rect">
                <a:avLst/>
              </a:prstGeom>
              <a:blipFill>
                <a:blip r:embed="rId3"/>
                <a:stretch>
                  <a:fillRect l="-1608" t="-10156"/>
                </a:stretch>
              </a:blipFill>
            </p:spPr>
            <p:txBody>
              <a:bodyPr/>
              <a:lstStyle/>
              <a:p>
                <a:r>
                  <a:rPr lang="es-CO">
                    <a:noFill/>
                  </a:rPr>
                  <a:t> </a:t>
                </a:r>
              </a:p>
            </p:txBody>
          </p:sp>
        </mc:Fallback>
      </mc:AlternateContent>
      <p:pic>
        <p:nvPicPr>
          <p:cNvPr id="83" name="Gráfico 82">
            <a:extLst>
              <a:ext uri="{FF2B5EF4-FFF2-40B4-BE49-F238E27FC236}">
                <a16:creationId xmlns:a16="http://schemas.microsoft.com/office/drawing/2014/main" id="{333888A9-82BA-4688-F856-37AB661A7D4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1891475-ED60-D0D2-1AD0-4F80E3D89439}"/>
              </a:ext>
            </a:extLst>
          </p:cNvPr>
          <p:cNvSpPr>
            <a:spLocks noGrp="1"/>
          </p:cNvSpPr>
          <p:nvPr>
            <p:ph type="sldNum" sz="quarter" idx="7"/>
          </p:nvPr>
        </p:nvSpPr>
        <p:spPr/>
        <p:txBody>
          <a:bodyPr/>
          <a:lstStyle/>
          <a:p>
            <a:fld id="{B6F15528-21DE-4FAA-801E-634DDDAF4B2B}" type="slidenum">
              <a:rPr lang="es-ES" smtClean="0"/>
              <a:t>8</a:t>
            </a:fld>
            <a:endParaRPr lang="es-ES"/>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BBBE28D8-49EC-3B49-29AC-FD2FDAF3B0AF}"/>
                  </a:ext>
                </a:extLst>
              </p:cNvPr>
              <p:cNvSpPr txBox="1">
                <a:spLocks/>
              </p:cNvSpPr>
              <p:nvPr/>
            </p:nvSpPr>
            <p:spPr>
              <a:xfrm>
                <a:off x="608012" y="4572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1600" dirty="0"/>
                  <a:t>Considering the n_{eff} values for the SOI cross-section, what would be the path difference (</a:t>
                </a:r>
                <a14:m>
                  <m:oMath xmlns:m="http://schemas.openxmlformats.org/officeDocument/2006/math">
                    <m:r>
                      <m:rPr>
                        <m:sty m:val="p"/>
                      </m:rPr>
                      <a:rPr lang="es-ES" sz="1600" b="0" i="0" smtClean="0">
                        <a:latin typeface="Cambria Math" panose="02040503050406030204" pitchFamily="18" charset="0"/>
                      </a:rPr>
                      <m:t>ΔL</m:t>
                    </m:r>
                    <m:r>
                      <a:rPr lang="es-ES" sz="1600" b="0" i="1" smtClean="0">
                        <a:latin typeface="Cambria Math" panose="02040503050406030204" pitchFamily="18" charset="0"/>
                      </a:rPr>
                      <m:t>= </m:t>
                    </m:r>
                    <m:sSub>
                      <m:sSubPr>
                        <m:ctrlPr>
                          <a:rPr lang="es-ES" sz="1600" i="1" smtClean="0">
                            <a:latin typeface="Cambria Math" panose="02040503050406030204" pitchFamily="18" charset="0"/>
                          </a:rPr>
                        </m:ctrlPr>
                      </m:sSubPr>
                      <m:e>
                        <m:r>
                          <a:rPr lang="es-ES" sz="1600" b="0" i="1" smtClean="0">
                            <a:latin typeface="Cambria Math" panose="02040503050406030204" pitchFamily="18" charset="0"/>
                          </a:rPr>
                          <m:t>𝐿</m:t>
                        </m:r>
                      </m:e>
                      <m:sub>
                        <m:r>
                          <a:rPr lang="es-ES" sz="1600" b="0" i="1" smtClean="0">
                            <a:latin typeface="Cambria Math" panose="02040503050406030204" pitchFamily="18" charset="0"/>
                          </a:rPr>
                          <m:t>𝑢</m:t>
                        </m:r>
                      </m:sub>
                    </m:sSub>
                    <m:r>
                      <a:rPr lang="es-ES" sz="1600" b="0" i="1" smtClean="0">
                        <a:latin typeface="Cambria Math" panose="02040503050406030204" pitchFamily="18" charset="0"/>
                      </a:rPr>
                      <m:t> −</m:t>
                    </m:r>
                    <m:sSub>
                      <m:sSubPr>
                        <m:ctrlPr>
                          <a:rPr lang="es-ES" sz="1600" i="1">
                            <a:latin typeface="Cambria Math" panose="02040503050406030204" pitchFamily="18" charset="0"/>
                          </a:rPr>
                        </m:ctrlPr>
                      </m:sSubPr>
                      <m:e>
                        <m:r>
                          <a:rPr lang="es-ES" sz="1600" b="0" i="1">
                            <a:latin typeface="Cambria Math" panose="02040503050406030204" pitchFamily="18" charset="0"/>
                          </a:rPr>
                          <m:t>𝐿</m:t>
                        </m:r>
                      </m:e>
                      <m:sub>
                        <m:r>
                          <a:rPr lang="es-ES" sz="1600" b="0" i="1" smtClean="0">
                            <a:latin typeface="Cambria Math" panose="02040503050406030204" pitchFamily="18" charset="0"/>
                          </a:rPr>
                          <m:t>𝑑</m:t>
                        </m:r>
                      </m:sub>
                    </m:sSub>
                  </m:oMath>
                </a14:m>
                <a:r>
                  <a:rPr lang="en-US" sz="1600" dirty="0"/>
                  <a:t>) needed to obtain a Free Spectral Range of 40 nm? Introduce the obtained value in the model to check the MZI response. </a:t>
                </a:r>
              </a:p>
              <a:p>
                <a:endParaRPr lang="en-US" sz="1600" dirty="0"/>
              </a:p>
              <a:p>
                <a:r>
                  <a:rPr lang="en-US" sz="1600" dirty="0"/>
                  <a:t>Hint: We assume 1550 nm as the central design wavelength (</a:t>
                </a:r>
                <a14:m>
                  <m:oMath xmlns:m="http://schemas.openxmlformats.org/officeDocument/2006/math">
                    <m:sSub>
                      <m:sSubPr>
                        <m:ctrlPr>
                          <a:rPr lang="es-ES" sz="1600" i="1" smtClean="0">
                            <a:latin typeface="Cambria Math" panose="02040503050406030204" pitchFamily="18" charset="0"/>
                          </a:rPr>
                        </m:ctrlPr>
                      </m:sSubPr>
                      <m:e>
                        <m:r>
                          <a:rPr lang="es-ES" sz="1600" i="1">
                            <a:latin typeface="Cambria Math" panose="02040503050406030204" pitchFamily="18" charset="0"/>
                          </a:rPr>
                          <m:t>𝜆</m:t>
                        </m:r>
                      </m:e>
                      <m:sub>
                        <m:r>
                          <a:rPr lang="es-ES" sz="1600" b="0" i="1" smtClean="0">
                            <a:latin typeface="Cambria Math" panose="02040503050406030204" pitchFamily="18" charset="0"/>
                          </a:rPr>
                          <m:t>0</m:t>
                        </m:r>
                      </m:sub>
                    </m:sSub>
                    <m:r>
                      <a:rPr lang="es-ES" sz="1600" b="0" i="1" smtClean="0">
                        <a:latin typeface="Cambria Math" panose="02040503050406030204" pitchFamily="18" charset="0"/>
                      </a:rPr>
                      <m:t>= </m:t>
                    </m:r>
                  </m:oMath>
                </a14:m>
                <a:r>
                  <a:rPr lang="en-US" sz="1600" dirty="0"/>
                  <a:t>1550 nm).</a:t>
                </a:r>
              </a:p>
              <a:p>
                <a:endParaRPr lang="en-US" sz="1600" dirty="0"/>
              </a:p>
              <a:p>
                <a:pPr algn="just"/>
                <a:endParaRPr lang="en-US" sz="1600" dirty="0"/>
              </a:p>
              <a:p>
                <a:pPr algn="just"/>
                <a:endParaRPr lang="en-US" sz="1600" b="1" i="1" dirty="0"/>
              </a:p>
              <a:p>
                <a:pPr algn="just"/>
                <a:endParaRPr lang="en-US" sz="1600" kern="0" dirty="0">
                  <a:solidFill>
                    <a:sysClr val="windowText" lastClr="000000"/>
                  </a:solidFill>
                </a:endParaRPr>
              </a:p>
              <a:p>
                <a:endParaRPr lang="en-US" sz="16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BBBE28D8-49EC-3B49-29AC-FD2FDAF3B0AF}"/>
                  </a:ext>
                </a:extLst>
              </p:cNvPr>
              <p:cNvSpPr txBox="1">
                <a:spLocks noRot="1" noChangeAspect="1" noMove="1" noResize="1" noEditPoints="1" noAdjustHandles="1" noChangeArrowheads="1" noChangeShapeType="1" noTextEdit="1"/>
              </p:cNvSpPr>
              <p:nvPr/>
            </p:nvSpPr>
            <p:spPr>
              <a:xfrm>
                <a:off x="608012" y="457200"/>
                <a:ext cx="11048999" cy="4958137"/>
              </a:xfrm>
              <a:prstGeom prst="rect">
                <a:avLst/>
              </a:prstGeom>
              <a:blipFill>
                <a:blip r:embed="rId6"/>
                <a:stretch>
                  <a:fillRect l="-331" t="-369"/>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CFDBBA6B-3646-055F-7A9C-EE01830137BE}"/>
                  </a:ext>
                </a:extLst>
              </p:cNvPr>
              <p:cNvSpPr txBox="1"/>
              <p:nvPr/>
            </p:nvSpPr>
            <p:spPr>
              <a:xfrm>
                <a:off x="685800" y="1600200"/>
                <a:ext cx="6409575" cy="4261936"/>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In this case, since we need to determine which value corresponds to </a:t>
                </a:r>
                <a14:m>
                  <m:oMath xmlns:m="http://schemas.openxmlformats.org/officeDocument/2006/math">
                    <m:r>
                      <a:rPr lang="en-US" sz="1200" i="1" smtClean="0">
                        <a:latin typeface="Cambria Math" panose="02040503050406030204" pitchFamily="18" charset="0"/>
                        <a:ea typeface="Cambria Math" panose="02040503050406030204" pitchFamily="18" charset="0"/>
                        <a:cs typeface="Arial" panose="020B0604020202020204" pitchFamily="34" charset="0"/>
                      </a:rPr>
                      <m:t>∆</m:t>
                    </m:r>
                    <m:r>
                      <a:rPr lang="es-ES" sz="1200" b="0" i="1" smtClean="0">
                        <a:latin typeface="Cambria Math" panose="02040503050406030204" pitchFamily="18" charset="0"/>
                        <a:ea typeface="Cambria Math" panose="02040503050406030204" pitchFamily="18" charset="0"/>
                        <a:cs typeface="Arial" panose="020B0604020202020204" pitchFamily="34" charset="0"/>
                      </a:rPr>
                      <m:t>𝐿</m:t>
                    </m:r>
                  </m:oMath>
                </a14:m>
                <a:r>
                  <a:rPr lang="en-US" sz="1200" dirty="0">
                    <a:latin typeface="Arial" panose="020B0604020202020204" pitchFamily="34" charset="0"/>
                    <a:cs typeface="Arial" panose="020B0604020202020204" pitchFamily="34" charset="0"/>
                  </a:rPr>
                  <a:t> to obtain an FSR of 40 nm, we rearrange the equation to solve for it. </a:t>
                </a:r>
              </a:p>
              <a:p>
                <a:pPr algn="just"/>
                <a:endParaRPr lang="en-US" sz="1200" dirty="0">
                  <a:latin typeface="Arial" panose="020B0604020202020204" pitchFamily="34" charset="0"/>
                  <a:cs typeface="Arial" panose="020B0604020202020204" pitchFamily="34" charset="0"/>
                </a:endParaRPr>
              </a:p>
              <a:p>
                <a:pPr algn="just"/>
                <a14:m>
                  <m:oMathPara xmlns:m="http://schemas.openxmlformats.org/officeDocument/2006/math">
                    <m:oMathParaPr>
                      <m:jc m:val="centerGroup"/>
                    </m:oMathParaPr>
                    <m:oMath xmlns:m="http://schemas.openxmlformats.org/officeDocument/2006/math">
                      <m:r>
                        <a:rPr lang="en-US" sz="1200" i="1" smtClean="0">
                          <a:latin typeface="Cambria Math" panose="02040503050406030204" pitchFamily="18" charset="0"/>
                          <a:ea typeface="Cambria Math" panose="02040503050406030204" pitchFamily="18" charset="0"/>
                          <a:cs typeface="Arial" panose="020B0604020202020204" pitchFamily="34" charset="0"/>
                        </a:rPr>
                        <m:t>∆</m:t>
                      </m:r>
                      <m:sSub>
                        <m:sSubPr>
                          <m:ctrlPr>
                            <a:rPr lang="es-ES" sz="1200" b="0" i="1" smtClean="0">
                              <a:latin typeface="Cambria Math" panose="02040503050406030204" pitchFamily="18" charset="0"/>
                              <a:ea typeface="Cambria Math" panose="02040503050406030204" pitchFamily="18" charset="0"/>
                              <a:cs typeface="Arial" panose="020B0604020202020204" pitchFamily="34" charset="0"/>
                            </a:rPr>
                          </m:ctrlPr>
                        </m:sSubPr>
                        <m:e>
                          <m:r>
                            <a:rPr lang="en-US" sz="1200" i="1" smtClean="0">
                              <a:latin typeface="Cambria Math" panose="02040503050406030204" pitchFamily="18" charset="0"/>
                              <a:ea typeface="Cambria Math" panose="02040503050406030204" pitchFamily="18" charset="0"/>
                              <a:cs typeface="Arial" panose="020B0604020202020204" pitchFamily="34" charset="0"/>
                            </a:rPr>
                            <m:t>𝜆</m:t>
                          </m:r>
                        </m:e>
                        <m:sub>
                          <m:r>
                            <a:rPr lang="es-ES" sz="1200" b="0" i="1" smtClean="0">
                              <a:latin typeface="Cambria Math" panose="02040503050406030204" pitchFamily="18" charset="0"/>
                              <a:ea typeface="Cambria Math" panose="02040503050406030204" pitchFamily="18" charset="0"/>
                              <a:cs typeface="Arial" panose="020B0604020202020204" pitchFamily="34" charset="0"/>
                            </a:rPr>
                            <m:t>𝐹𝑆𝑅</m:t>
                          </m:r>
                        </m:sub>
                      </m:sSub>
                      <m:r>
                        <a:rPr lang="es-ES" sz="1200" b="0" i="1" smtClean="0">
                          <a:latin typeface="Cambria Math" panose="02040503050406030204" pitchFamily="18" charset="0"/>
                          <a:ea typeface="Cambria Math" panose="02040503050406030204" pitchFamily="18" charset="0"/>
                          <a:cs typeface="Arial" panose="020B0604020202020204" pitchFamily="34" charset="0"/>
                        </a:rPr>
                        <m:t>=</m:t>
                      </m:r>
                      <m:f>
                        <m:fPr>
                          <m:ctrlPr>
                            <a:rPr lang="es-ES" sz="1200" b="0" i="1" smtClean="0">
                              <a:latin typeface="Cambria Math" panose="02040503050406030204" pitchFamily="18" charset="0"/>
                              <a:ea typeface="Cambria Math" panose="02040503050406030204" pitchFamily="18" charset="0"/>
                              <a:cs typeface="Arial" panose="020B0604020202020204" pitchFamily="34" charset="0"/>
                            </a:rPr>
                          </m:ctrlPr>
                        </m:fPr>
                        <m:num>
                          <m:sSup>
                            <m:sSupPr>
                              <m:ctrlPr>
                                <a:rPr lang="es-ES" sz="1200" b="0" i="1" smtClean="0">
                                  <a:latin typeface="Cambria Math" panose="02040503050406030204" pitchFamily="18" charset="0"/>
                                  <a:ea typeface="Cambria Math" panose="02040503050406030204" pitchFamily="18" charset="0"/>
                                  <a:cs typeface="Arial" panose="020B0604020202020204" pitchFamily="34" charset="0"/>
                                </a:rPr>
                              </m:ctrlPr>
                            </m:sSupPr>
                            <m:e>
                              <m:r>
                                <a:rPr lang="es-ES" sz="1200" b="0" i="1" smtClean="0">
                                  <a:latin typeface="Cambria Math" panose="02040503050406030204" pitchFamily="18" charset="0"/>
                                  <a:ea typeface="Cambria Math" panose="02040503050406030204" pitchFamily="18" charset="0"/>
                                  <a:cs typeface="Arial" panose="020B0604020202020204" pitchFamily="34" charset="0"/>
                                </a:rPr>
                                <m:t>𝜆</m:t>
                              </m:r>
                            </m:e>
                            <m:sup>
                              <m:r>
                                <a:rPr lang="es-ES" sz="1200" b="0" i="1" smtClean="0">
                                  <a:latin typeface="Cambria Math" panose="02040503050406030204" pitchFamily="18" charset="0"/>
                                  <a:ea typeface="Cambria Math" panose="02040503050406030204" pitchFamily="18" charset="0"/>
                                  <a:cs typeface="Arial" panose="020B0604020202020204" pitchFamily="34" charset="0"/>
                                </a:rPr>
                                <m:t>2</m:t>
                              </m:r>
                            </m:sup>
                          </m:sSup>
                        </m:num>
                        <m:den>
                          <m:sSub>
                            <m:sSubPr>
                              <m:ctrlPr>
                                <a:rPr lang="es-ES" sz="1200" b="0" i="1" smtClean="0">
                                  <a:latin typeface="Cambria Math" panose="02040503050406030204" pitchFamily="18" charset="0"/>
                                  <a:ea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ea typeface="Cambria Math" panose="02040503050406030204" pitchFamily="18" charset="0"/>
                                  <a:cs typeface="Arial" panose="020B0604020202020204" pitchFamily="34" charset="0"/>
                                </a:rPr>
                                <m:t>𝑛</m:t>
                              </m:r>
                            </m:e>
                            <m:sub>
                              <m:r>
                                <a:rPr lang="es-ES" sz="1200" b="0" i="1" smtClean="0">
                                  <a:latin typeface="Cambria Math" panose="02040503050406030204" pitchFamily="18" charset="0"/>
                                  <a:ea typeface="Cambria Math" panose="02040503050406030204" pitchFamily="18" charset="0"/>
                                  <a:cs typeface="Arial" panose="020B0604020202020204" pitchFamily="34" charset="0"/>
                                </a:rPr>
                                <m:t>𝑔</m:t>
                              </m:r>
                            </m:sub>
                          </m:sSub>
                          <m:r>
                            <a:rPr lang="es-ES" sz="1200" b="0" i="1" smtClean="0">
                              <a:latin typeface="Cambria Math" panose="02040503050406030204" pitchFamily="18" charset="0"/>
                              <a:ea typeface="Cambria Math" panose="02040503050406030204" pitchFamily="18" charset="0"/>
                              <a:cs typeface="Arial" panose="020B0604020202020204" pitchFamily="34" charset="0"/>
                            </a:rPr>
                            <m:t>(</m:t>
                          </m:r>
                          <m:r>
                            <a:rPr lang="es-ES" sz="1200" b="0" i="1" smtClean="0">
                              <a:latin typeface="Cambria Math" panose="02040503050406030204" pitchFamily="18" charset="0"/>
                              <a:ea typeface="Cambria Math" panose="02040503050406030204" pitchFamily="18" charset="0"/>
                              <a:cs typeface="Arial" panose="020B0604020202020204" pitchFamily="34" charset="0"/>
                            </a:rPr>
                            <m:t>𝜆</m:t>
                          </m:r>
                          <m:r>
                            <a:rPr lang="es-ES" sz="1200" b="0" i="1" smtClean="0">
                              <a:latin typeface="Cambria Math" panose="02040503050406030204" pitchFamily="18" charset="0"/>
                              <a:ea typeface="Cambria Math" panose="02040503050406030204" pitchFamily="18" charset="0"/>
                              <a:cs typeface="Arial" panose="020B0604020202020204" pitchFamily="34" charset="0"/>
                            </a:rPr>
                            <m:t>)∆</m:t>
                          </m:r>
                          <m:r>
                            <a:rPr lang="es-ES" sz="1200" b="0" i="1" smtClean="0">
                              <a:latin typeface="Cambria Math" panose="02040503050406030204" pitchFamily="18" charset="0"/>
                              <a:ea typeface="Cambria Math" panose="02040503050406030204" pitchFamily="18" charset="0"/>
                              <a:cs typeface="Arial" panose="020B0604020202020204" pitchFamily="34" charset="0"/>
                            </a:rPr>
                            <m:t>𝐿</m:t>
                          </m:r>
                        </m:den>
                      </m:f>
                    </m:oMath>
                  </m:oMathPara>
                </a14:m>
                <a:endParaRPr lang="en-US" sz="1200" dirty="0">
                  <a:latin typeface="Arial" panose="020B0604020202020204" pitchFamily="34" charset="0"/>
                  <a:cs typeface="Arial" panose="020B0604020202020204" pitchFamily="34" charset="0"/>
                </a:endParaRPr>
              </a:p>
              <a:p>
                <a:pPr algn="just"/>
                <a14:m>
                  <m:oMathPara xmlns:m="http://schemas.openxmlformats.org/officeDocument/2006/math">
                    <m:oMathParaPr>
                      <m:jc m:val="centerGroup"/>
                    </m:oMathParaPr>
                    <m:oMath xmlns:m="http://schemas.openxmlformats.org/officeDocument/2006/math">
                      <m:r>
                        <a:rPr lang="en-US" sz="1200" i="1">
                          <a:latin typeface="Cambria Math" panose="02040503050406030204" pitchFamily="18" charset="0"/>
                          <a:ea typeface="Cambria Math" panose="02040503050406030204" pitchFamily="18" charset="0"/>
                          <a:cs typeface="Arial" panose="020B0604020202020204" pitchFamily="34" charset="0"/>
                        </a:rPr>
                        <m:t>∆</m:t>
                      </m:r>
                      <m:r>
                        <a:rPr lang="es-ES" sz="1200" b="0" i="1" smtClean="0">
                          <a:latin typeface="Cambria Math" panose="02040503050406030204" pitchFamily="18" charset="0"/>
                          <a:ea typeface="Cambria Math" panose="02040503050406030204" pitchFamily="18" charset="0"/>
                          <a:cs typeface="Arial" panose="020B0604020202020204" pitchFamily="34" charset="0"/>
                        </a:rPr>
                        <m:t>𝐿</m:t>
                      </m:r>
                      <m:r>
                        <a:rPr lang="es-ES" sz="1200" i="1">
                          <a:latin typeface="Cambria Math" panose="02040503050406030204" pitchFamily="18" charset="0"/>
                          <a:ea typeface="Cambria Math" panose="02040503050406030204" pitchFamily="18" charset="0"/>
                          <a:cs typeface="Arial" panose="020B0604020202020204" pitchFamily="34" charset="0"/>
                        </a:rPr>
                        <m:t>=</m:t>
                      </m:r>
                      <m:f>
                        <m:fPr>
                          <m:ctrlPr>
                            <a:rPr lang="es-ES" sz="1200" i="1">
                              <a:latin typeface="Cambria Math" panose="02040503050406030204" pitchFamily="18" charset="0"/>
                              <a:ea typeface="Cambria Math" panose="02040503050406030204" pitchFamily="18" charset="0"/>
                              <a:cs typeface="Arial" panose="020B0604020202020204" pitchFamily="34" charset="0"/>
                            </a:rPr>
                          </m:ctrlPr>
                        </m:fPr>
                        <m:num>
                          <m:sSup>
                            <m:sSupPr>
                              <m:ctrlPr>
                                <a:rPr lang="es-ES" sz="1200" i="1">
                                  <a:latin typeface="Cambria Math" panose="02040503050406030204" pitchFamily="18" charset="0"/>
                                  <a:ea typeface="Cambria Math" panose="02040503050406030204" pitchFamily="18" charset="0"/>
                                  <a:cs typeface="Arial" panose="020B0604020202020204" pitchFamily="34" charset="0"/>
                                </a:rPr>
                              </m:ctrlPr>
                            </m:sSupPr>
                            <m:e>
                              <m:r>
                                <a:rPr lang="es-ES" sz="1200" i="1">
                                  <a:latin typeface="Cambria Math" panose="02040503050406030204" pitchFamily="18" charset="0"/>
                                  <a:ea typeface="Cambria Math" panose="02040503050406030204" pitchFamily="18" charset="0"/>
                                  <a:cs typeface="Arial" panose="020B0604020202020204" pitchFamily="34" charset="0"/>
                                </a:rPr>
                                <m:t>𝜆</m:t>
                              </m:r>
                            </m:e>
                            <m:sup>
                              <m:r>
                                <a:rPr lang="es-ES" sz="1200" i="1">
                                  <a:latin typeface="Cambria Math" panose="02040503050406030204" pitchFamily="18" charset="0"/>
                                  <a:ea typeface="Cambria Math" panose="02040503050406030204" pitchFamily="18" charset="0"/>
                                  <a:cs typeface="Arial" panose="020B0604020202020204" pitchFamily="34" charset="0"/>
                                </a:rPr>
                                <m:t>2</m:t>
                              </m:r>
                            </m:sup>
                          </m:sSup>
                        </m:num>
                        <m:den>
                          <m:sSub>
                            <m:sSubPr>
                              <m:ctrlPr>
                                <a:rPr lang="es-ES" sz="1200" i="1">
                                  <a:latin typeface="Cambria Math" panose="02040503050406030204" pitchFamily="18" charset="0"/>
                                  <a:ea typeface="Cambria Math" panose="02040503050406030204" pitchFamily="18" charset="0"/>
                                  <a:cs typeface="Arial" panose="020B0604020202020204" pitchFamily="34" charset="0"/>
                                </a:rPr>
                              </m:ctrlPr>
                            </m:sSubPr>
                            <m:e>
                              <m:r>
                                <a:rPr lang="es-ES" sz="1200" i="1">
                                  <a:latin typeface="Cambria Math" panose="02040503050406030204" pitchFamily="18" charset="0"/>
                                  <a:ea typeface="Cambria Math" panose="02040503050406030204" pitchFamily="18" charset="0"/>
                                  <a:cs typeface="Arial" panose="020B0604020202020204" pitchFamily="34" charset="0"/>
                                </a:rPr>
                                <m:t>𝑛</m:t>
                              </m:r>
                            </m:e>
                            <m:sub>
                              <m:r>
                                <a:rPr lang="es-ES" sz="1200" i="1">
                                  <a:latin typeface="Cambria Math" panose="02040503050406030204" pitchFamily="18" charset="0"/>
                                  <a:ea typeface="Cambria Math" panose="02040503050406030204" pitchFamily="18" charset="0"/>
                                  <a:cs typeface="Arial" panose="020B0604020202020204" pitchFamily="34" charset="0"/>
                                </a:rPr>
                                <m:t>𝑔</m:t>
                              </m:r>
                            </m:sub>
                          </m:sSub>
                          <m:r>
                            <a:rPr lang="es-ES" sz="1200" i="1">
                              <a:latin typeface="Cambria Math" panose="02040503050406030204" pitchFamily="18" charset="0"/>
                              <a:ea typeface="Cambria Math" panose="02040503050406030204" pitchFamily="18" charset="0"/>
                              <a:cs typeface="Arial" panose="020B0604020202020204" pitchFamily="34" charset="0"/>
                            </a:rPr>
                            <m:t>(</m:t>
                          </m:r>
                          <m:r>
                            <a:rPr lang="es-ES" sz="1200" i="1">
                              <a:latin typeface="Cambria Math" panose="02040503050406030204" pitchFamily="18" charset="0"/>
                              <a:ea typeface="Cambria Math" panose="02040503050406030204" pitchFamily="18" charset="0"/>
                              <a:cs typeface="Arial" panose="020B0604020202020204" pitchFamily="34" charset="0"/>
                            </a:rPr>
                            <m:t>𝜆</m:t>
                          </m:r>
                          <m:r>
                            <a:rPr lang="es-ES" sz="1200" i="1">
                              <a:latin typeface="Cambria Math" panose="02040503050406030204" pitchFamily="18" charset="0"/>
                              <a:ea typeface="Cambria Math" panose="02040503050406030204" pitchFamily="18" charset="0"/>
                              <a:cs typeface="Arial" panose="020B0604020202020204" pitchFamily="34" charset="0"/>
                            </a:rPr>
                            <m:t>)∆</m:t>
                          </m:r>
                          <m:sSub>
                            <m:sSubPr>
                              <m:ctrlPr>
                                <a:rPr lang="es-ES" sz="1200" i="1">
                                  <a:latin typeface="Cambria Math" panose="02040503050406030204" pitchFamily="18" charset="0"/>
                                  <a:ea typeface="Cambria Math" panose="02040503050406030204" pitchFamily="18" charset="0"/>
                                  <a:cs typeface="Arial" panose="020B0604020202020204" pitchFamily="34" charset="0"/>
                                </a:rPr>
                              </m:ctrlPr>
                            </m:sSubPr>
                            <m:e>
                              <m:r>
                                <a:rPr lang="en-US" sz="1200" i="1">
                                  <a:latin typeface="Cambria Math" panose="02040503050406030204" pitchFamily="18" charset="0"/>
                                  <a:ea typeface="Cambria Math" panose="02040503050406030204" pitchFamily="18" charset="0"/>
                                  <a:cs typeface="Arial" panose="020B0604020202020204" pitchFamily="34" charset="0"/>
                                </a:rPr>
                                <m:t>𝜆</m:t>
                              </m:r>
                            </m:e>
                            <m:sub>
                              <m:r>
                                <a:rPr lang="es-ES" sz="1200" i="1">
                                  <a:latin typeface="Cambria Math" panose="02040503050406030204" pitchFamily="18" charset="0"/>
                                  <a:ea typeface="Cambria Math" panose="02040503050406030204" pitchFamily="18" charset="0"/>
                                  <a:cs typeface="Arial" panose="020B0604020202020204" pitchFamily="34" charset="0"/>
                                </a:rPr>
                                <m:t>𝐹𝑆𝑅</m:t>
                              </m:r>
                            </m:sub>
                          </m:sSub>
                        </m:den>
                      </m:f>
                    </m:oMath>
                  </m:oMathPara>
                </a14:m>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To do this, we first need the group index. It is calculated as follows:</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SOI = </a:t>
                </a:r>
                <a:r>
                  <a:rPr lang="en-US" sz="1200" dirty="0" err="1">
                    <a:latin typeface="Arial" panose="020B0604020202020204" pitchFamily="34" charset="0"/>
                    <a:cs typeface="Arial" panose="020B0604020202020204" pitchFamily="34" charset="0"/>
                  </a:rPr>
                  <a:t>np.loadtxt</a:t>
                </a:r>
                <a:r>
                  <a:rPr lang="en-US" sz="1200" dirty="0">
                    <a:latin typeface="Arial" panose="020B0604020202020204" pitchFamily="34" charset="0"/>
                    <a:cs typeface="Arial" panose="020B0604020202020204" pitchFamily="34" charset="0"/>
                  </a:rPr>
                  <a:t>('SOI-w450-h220-clad600.txt', </a:t>
                </a:r>
                <a:r>
                  <a:rPr lang="en-US" sz="1200" dirty="0" err="1">
                    <a:latin typeface="Arial" panose="020B0604020202020204" pitchFamily="34" charset="0"/>
                    <a:cs typeface="Arial" panose="020B0604020202020204" pitchFamily="34" charset="0"/>
                  </a:rPr>
                  <a:t>skiprows</a:t>
                </a:r>
                <a:r>
                  <a:rPr lang="en-US" sz="1200" dirty="0">
                    <a:latin typeface="Arial" panose="020B0604020202020204" pitchFamily="34" charset="0"/>
                    <a:cs typeface="Arial" panose="020B0604020202020204" pitchFamily="34" charset="0"/>
                  </a:rPr>
                  <a:t>=1, delimiter='\t')</a:t>
                </a:r>
              </a:p>
              <a:p>
                <a:pPr algn="just"/>
                <a:r>
                  <a:rPr lang="en-US" sz="1200" dirty="0">
                    <a:latin typeface="Arial" panose="020B0604020202020204" pitchFamily="34" charset="0"/>
                    <a:cs typeface="Arial" panose="020B0604020202020204" pitchFamily="34" charset="0"/>
                  </a:rPr>
                  <a:t>wl0 = 1.55 </a:t>
                </a:r>
              </a:p>
              <a:p>
                <a:pPr algn="just"/>
                <a:r>
                  <a:rPr lang="en-US" sz="1200" dirty="0" err="1">
                    <a:latin typeface="Arial" panose="020B0604020202020204" pitchFamily="34" charset="0"/>
                    <a:cs typeface="Arial" panose="020B0604020202020204" pitchFamily="34" charset="0"/>
                  </a:rPr>
                  <a:t>wvl</a:t>
                </a:r>
                <a:r>
                  <a:rPr lang="en-US" sz="1200" dirty="0">
                    <a:latin typeface="Arial" panose="020B0604020202020204" pitchFamily="34" charset="0"/>
                    <a:cs typeface="Arial" panose="020B0604020202020204" pitchFamily="34" charset="0"/>
                  </a:rPr>
                  <a:t> = SOI[:, 0]</a:t>
                </a:r>
              </a:p>
              <a:p>
                <a:pPr algn="just"/>
                <a:r>
                  <a:rPr lang="en-US" sz="1200" dirty="0" err="1">
                    <a:latin typeface="Arial" panose="020B0604020202020204" pitchFamily="34" charset="0"/>
                    <a:cs typeface="Arial" panose="020B0604020202020204" pitchFamily="34" charset="0"/>
                  </a:rPr>
                  <a:t>n_eff</a:t>
                </a:r>
                <a:r>
                  <a:rPr lang="en-US" sz="1200" dirty="0">
                    <a:latin typeface="Arial" panose="020B0604020202020204" pitchFamily="34" charset="0"/>
                    <a:cs typeface="Arial" panose="020B0604020202020204" pitchFamily="34" charset="0"/>
                  </a:rPr>
                  <a:t>=SOI[:,3]</a:t>
                </a:r>
              </a:p>
              <a:p>
                <a:pPr algn="just"/>
                <a:r>
                  <a:rPr lang="en-US" sz="1200" dirty="0" err="1">
                    <a:latin typeface="Arial" panose="020B0604020202020204" pitchFamily="34" charset="0"/>
                    <a:cs typeface="Arial" panose="020B0604020202020204" pitchFamily="34" charset="0"/>
                  </a:rPr>
                  <a:t>dn_dlambda</a:t>
                </a:r>
                <a:r>
                  <a:rPr lang="en-US" sz="1200" dirty="0">
                    <a:latin typeface="Arial" panose="020B0604020202020204" pitchFamily="34" charset="0"/>
                    <a:cs typeface="Arial" panose="020B0604020202020204" pitchFamily="34" charset="0"/>
                  </a:rPr>
                  <a:t> = </a:t>
                </a:r>
                <a:r>
                  <a:rPr lang="en-US" sz="1200" dirty="0" err="1">
                    <a:latin typeface="Arial" panose="020B0604020202020204" pitchFamily="34" charset="0"/>
                    <a:cs typeface="Arial" panose="020B0604020202020204" pitchFamily="34" charset="0"/>
                  </a:rPr>
                  <a:t>np.gradient</a:t>
                </a:r>
                <a:r>
                  <a:rPr lang="en-US" sz="1200" dirty="0">
                    <a:latin typeface="Arial" panose="020B0604020202020204" pitchFamily="34" charset="0"/>
                    <a:cs typeface="Arial" panose="020B0604020202020204" pitchFamily="34" charset="0"/>
                  </a:rPr>
                  <a:t>(SOI[:, 3], </a:t>
                </a:r>
                <a:r>
                  <a:rPr lang="en-US" sz="1200" dirty="0" err="1">
                    <a:latin typeface="Arial" panose="020B0604020202020204" pitchFamily="34" charset="0"/>
                    <a:cs typeface="Arial" panose="020B0604020202020204" pitchFamily="34" charset="0"/>
                  </a:rPr>
                  <a:t>wvl</a:t>
                </a:r>
                <a:r>
                  <a:rPr lang="en-US" sz="1200" dirty="0">
                    <a:latin typeface="Arial" panose="020B0604020202020204" pitchFamily="34" charset="0"/>
                    <a:cs typeface="Arial" panose="020B0604020202020204" pitchFamily="34" charset="0"/>
                  </a:rPr>
                  <a:t>) #Calculate the slope for each central wavelength.</a:t>
                </a:r>
              </a:p>
              <a:p>
                <a:pPr algn="just"/>
                <a:r>
                  <a:rPr lang="en-US" sz="1200" dirty="0">
                    <a:latin typeface="Arial" panose="020B0604020202020204" pitchFamily="34" charset="0"/>
                    <a:cs typeface="Arial" panose="020B0604020202020204" pitchFamily="34" charset="0"/>
                  </a:rPr>
                  <a:t>#print((2.35452-2.35702)/(1.551-1.549)) </a:t>
                </a:r>
                <a:r>
                  <a:rPr lang="en-US" sz="1200" dirty="0">
                    <a:latin typeface="Arial" panose="020B0604020202020204" pitchFamily="34" charset="0"/>
                    <a:cs typeface="Arial" panose="020B0604020202020204" pitchFamily="34" charset="0"/>
                    <a:sym typeface="Wingdings" panose="05000000000000000000" pitchFamily="2" charset="2"/>
                  </a:rPr>
                  <a:t>Verify that the calculated value corresponds to the correct slope.</a:t>
                </a:r>
                <a:endParaRPr lang="en-US" sz="1200" dirty="0">
                  <a:latin typeface="Arial" panose="020B0604020202020204" pitchFamily="34" charset="0"/>
                  <a:cs typeface="Arial" panose="020B0604020202020204" pitchFamily="34" charset="0"/>
                </a:endParaRPr>
              </a:p>
              <a:p>
                <a:pPr algn="just"/>
                <a:r>
                  <a:rPr lang="en-US" sz="1200" dirty="0" err="1">
                    <a:latin typeface="Arial" panose="020B0604020202020204" pitchFamily="34" charset="0"/>
                    <a:cs typeface="Arial" panose="020B0604020202020204" pitchFamily="34" charset="0"/>
                  </a:rPr>
                  <a:t>i</a:t>
                </a:r>
                <a:r>
                  <a:rPr lang="en-US" sz="1200" dirty="0">
                    <a:latin typeface="Arial" panose="020B0604020202020204" pitchFamily="34" charset="0"/>
                    <a:cs typeface="Arial" panose="020B0604020202020204" pitchFamily="34" charset="0"/>
                  </a:rPr>
                  <a:t> = </a:t>
                </a:r>
                <a:r>
                  <a:rPr lang="en-US" sz="1200" dirty="0" err="1">
                    <a:latin typeface="Arial" panose="020B0604020202020204" pitchFamily="34" charset="0"/>
                    <a:cs typeface="Arial" panose="020B0604020202020204" pitchFamily="34" charset="0"/>
                  </a:rPr>
                  <a:t>np.argmin</a:t>
                </a:r>
                <a:r>
                  <a:rPr lang="en-US" sz="1200" dirty="0">
                    <a:latin typeface="Arial" panose="020B0604020202020204" pitchFamily="34" charset="0"/>
                    <a:cs typeface="Arial" panose="020B0604020202020204" pitchFamily="34" charset="0"/>
                  </a:rPr>
                  <a:t>(</a:t>
                </a:r>
                <a:r>
                  <a:rPr lang="en-US" sz="1200" dirty="0" err="1">
                    <a:latin typeface="Arial" panose="020B0604020202020204" pitchFamily="34" charset="0"/>
                    <a:cs typeface="Arial" panose="020B0604020202020204" pitchFamily="34" charset="0"/>
                  </a:rPr>
                  <a:t>np.abs</a:t>
                </a:r>
                <a:r>
                  <a:rPr lang="en-US" sz="1200" dirty="0">
                    <a:latin typeface="Arial" panose="020B0604020202020204" pitchFamily="34" charset="0"/>
                    <a:cs typeface="Arial" panose="020B0604020202020204" pitchFamily="34" charset="0"/>
                  </a:rPr>
                  <a:t>(</a:t>
                </a:r>
                <a:r>
                  <a:rPr lang="en-US" sz="1200" dirty="0" err="1">
                    <a:latin typeface="Arial" panose="020B0604020202020204" pitchFamily="34" charset="0"/>
                    <a:cs typeface="Arial" panose="020B0604020202020204" pitchFamily="34" charset="0"/>
                  </a:rPr>
                  <a:t>wvl</a:t>
                </a:r>
                <a:r>
                  <a:rPr lang="en-US" sz="1200" dirty="0">
                    <a:latin typeface="Arial" panose="020B0604020202020204" pitchFamily="34" charset="0"/>
                    <a:cs typeface="Arial" panose="020B0604020202020204" pitchFamily="34" charset="0"/>
                  </a:rPr>
                  <a:t> - wl0)) # </a:t>
                </a:r>
                <a:r>
                  <a:rPr lang="es-CO" sz="1200" dirty="0" err="1">
                    <a:latin typeface="Arial" panose="020B0604020202020204" pitchFamily="34" charset="0"/>
                    <a:cs typeface="Arial" panose="020B0604020202020204" pitchFamily="34" charset="0"/>
                  </a:rPr>
                  <a:t>Identify</a:t>
                </a:r>
                <a:r>
                  <a:rPr lang="es-CO" sz="1200" dirty="0">
                    <a:latin typeface="Arial" panose="020B0604020202020204" pitchFamily="34" charset="0"/>
                    <a:cs typeface="Arial" panose="020B0604020202020204" pitchFamily="34" charset="0"/>
                  </a:rPr>
                  <a:t> the </a:t>
                </a:r>
                <a:r>
                  <a:rPr lang="es-CO" sz="1200" dirty="0" err="1">
                    <a:latin typeface="Arial" panose="020B0604020202020204" pitchFamily="34" charset="0"/>
                    <a:cs typeface="Arial" panose="020B0604020202020204" pitchFamily="34" charset="0"/>
                  </a:rPr>
                  <a:t>index</a:t>
                </a:r>
                <a:r>
                  <a:rPr lang="es-CO" sz="1200" dirty="0">
                    <a:latin typeface="Arial" panose="020B0604020202020204" pitchFamily="34" charset="0"/>
                    <a:cs typeface="Arial" panose="020B0604020202020204" pitchFamily="34" charset="0"/>
                  </a:rPr>
                  <a:t> </a:t>
                </a:r>
                <a:r>
                  <a:rPr lang="es-CO" sz="1200" dirty="0" err="1">
                    <a:latin typeface="Arial" panose="020B0604020202020204" pitchFamily="34" charset="0"/>
                    <a:cs typeface="Arial" panose="020B0604020202020204" pitchFamily="34" charset="0"/>
                  </a:rPr>
                  <a:t>corresponding</a:t>
                </a:r>
                <a:r>
                  <a:rPr lang="es-CO" sz="1200" dirty="0">
                    <a:latin typeface="Arial" panose="020B0604020202020204" pitchFamily="34" charset="0"/>
                    <a:cs typeface="Arial" panose="020B0604020202020204" pitchFamily="34" charset="0"/>
                  </a:rPr>
                  <a:t> to the </a:t>
                </a:r>
                <a:r>
                  <a:rPr lang="es-CO" sz="1200" dirty="0" err="1">
                    <a:latin typeface="Arial" panose="020B0604020202020204" pitchFamily="34" charset="0"/>
                    <a:cs typeface="Arial" panose="020B0604020202020204" pitchFamily="34" charset="0"/>
                  </a:rPr>
                  <a:t>wavelength</a:t>
                </a:r>
                <a:r>
                  <a:rPr lang="es-CO" sz="1200" dirty="0">
                    <a:latin typeface="Arial" panose="020B0604020202020204" pitchFamily="34" charset="0"/>
                    <a:cs typeface="Arial" panose="020B0604020202020204" pitchFamily="34" charset="0"/>
                  </a:rPr>
                  <a:t> </a:t>
                </a:r>
                <a:r>
                  <a:rPr lang="es-CO" sz="1200" dirty="0" err="1">
                    <a:latin typeface="Arial" panose="020B0604020202020204" pitchFamily="34" charset="0"/>
                    <a:cs typeface="Arial" panose="020B0604020202020204" pitchFamily="34" charset="0"/>
                  </a:rPr>
                  <a:t>closest</a:t>
                </a:r>
                <a:r>
                  <a:rPr lang="es-CO" sz="1200" dirty="0">
                    <a:latin typeface="Arial" panose="020B0604020202020204" pitchFamily="34" charset="0"/>
                    <a:cs typeface="Arial" panose="020B0604020202020204" pitchFamily="34" charset="0"/>
                  </a:rPr>
                  <a:t> to wl0</a:t>
                </a:r>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ng_1550 = </a:t>
                </a:r>
                <a:r>
                  <a:rPr lang="en-US" sz="1200" dirty="0" err="1">
                    <a:latin typeface="Arial" panose="020B0604020202020204" pitchFamily="34" charset="0"/>
                    <a:cs typeface="Arial" panose="020B0604020202020204" pitchFamily="34" charset="0"/>
                  </a:rPr>
                  <a:t>n_eff</a:t>
                </a:r>
                <a:r>
                  <a:rPr lang="en-US" sz="1200" dirty="0">
                    <a:latin typeface="Arial" panose="020B0604020202020204" pitchFamily="34" charset="0"/>
                    <a:cs typeface="Arial" panose="020B0604020202020204" pitchFamily="34" charset="0"/>
                  </a:rPr>
                  <a:t>[</a:t>
                </a:r>
                <a:r>
                  <a:rPr lang="en-US" sz="1200" dirty="0" err="1">
                    <a:latin typeface="Arial" panose="020B0604020202020204" pitchFamily="34" charset="0"/>
                    <a:cs typeface="Arial" panose="020B0604020202020204" pitchFamily="34" charset="0"/>
                  </a:rPr>
                  <a:t>i</a:t>
                </a:r>
                <a:r>
                  <a:rPr lang="en-US" sz="1200" dirty="0">
                    <a:latin typeface="Arial" panose="020B0604020202020204" pitchFamily="34" charset="0"/>
                    <a:cs typeface="Arial" panose="020B0604020202020204" pitchFamily="34" charset="0"/>
                  </a:rPr>
                  <a:t>] - </a:t>
                </a:r>
                <a:r>
                  <a:rPr lang="en-US" sz="1200" dirty="0" err="1">
                    <a:latin typeface="Arial" panose="020B0604020202020204" pitchFamily="34" charset="0"/>
                    <a:cs typeface="Arial" panose="020B0604020202020204" pitchFamily="34" charset="0"/>
                  </a:rPr>
                  <a:t>wvl</a:t>
                </a:r>
                <a:r>
                  <a:rPr lang="en-US" sz="1200" dirty="0">
                    <a:latin typeface="Arial" panose="020B0604020202020204" pitchFamily="34" charset="0"/>
                    <a:cs typeface="Arial" panose="020B0604020202020204" pitchFamily="34" charset="0"/>
                  </a:rPr>
                  <a:t>[</a:t>
                </a:r>
                <a:r>
                  <a:rPr lang="en-US" sz="1200" dirty="0" err="1">
                    <a:latin typeface="Arial" panose="020B0604020202020204" pitchFamily="34" charset="0"/>
                    <a:cs typeface="Arial" panose="020B0604020202020204" pitchFamily="34" charset="0"/>
                  </a:rPr>
                  <a:t>i</a:t>
                </a:r>
                <a:r>
                  <a:rPr lang="en-US" sz="1200" dirty="0">
                    <a:latin typeface="Arial" panose="020B0604020202020204" pitchFamily="34" charset="0"/>
                    <a:cs typeface="Arial" panose="020B0604020202020204" pitchFamily="34" charset="0"/>
                  </a:rPr>
                  <a:t>] * </a:t>
                </a:r>
                <a:r>
                  <a:rPr lang="en-US" sz="1200" dirty="0" err="1">
                    <a:latin typeface="Arial" panose="020B0604020202020204" pitchFamily="34" charset="0"/>
                    <a:cs typeface="Arial" panose="020B0604020202020204" pitchFamily="34" charset="0"/>
                  </a:rPr>
                  <a:t>dn_dlambda</a:t>
                </a:r>
                <a:r>
                  <a:rPr lang="en-US" sz="1200" dirty="0">
                    <a:latin typeface="Arial" panose="020B0604020202020204" pitchFamily="34" charset="0"/>
                    <a:cs typeface="Arial" panose="020B0604020202020204" pitchFamily="34" charset="0"/>
                  </a:rPr>
                  <a:t>[</a:t>
                </a:r>
                <a:r>
                  <a:rPr lang="en-US" sz="1200" dirty="0" err="1">
                    <a:latin typeface="Arial" panose="020B0604020202020204" pitchFamily="34" charset="0"/>
                    <a:cs typeface="Arial" panose="020B0604020202020204" pitchFamily="34" charset="0"/>
                  </a:rPr>
                  <a:t>i</a:t>
                </a:r>
                <a:r>
                  <a:rPr lang="en-US" sz="1200" dirty="0">
                    <a:latin typeface="Arial" panose="020B0604020202020204" pitchFamily="34" charset="0"/>
                    <a:cs typeface="Arial" panose="020B0604020202020204" pitchFamily="34" charset="0"/>
                  </a:rPr>
                  <a:t>] # Calculate the group index.</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CFDBBA6B-3646-055F-7A9C-EE01830137BE}"/>
                  </a:ext>
                </a:extLst>
              </p:cNvPr>
              <p:cNvSpPr txBox="1">
                <a:spLocks noRot="1" noChangeAspect="1" noMove="1" noResize="1" noEditPoints="1" noAdjustHandles="1" noChangeArrowheads="1" noChangeShapeType="1" noTextEdit="1"/>
              </p:cNvSpPr>
              <p:nvPr/>
            </p:nvSpPr>
            <p:spPr>
              <a:xfrm>
                <a:off x="685800" y="1600200"/>
                <a:ext cx="6409575" cy="4261936"/>
              </a:xfrm>
              <a:prstGeom prst="rect">
                <a:avLst/>
              </a:prstGeom>
              <a:blipFill>
                <a:blip r:embed="rId7"/>
                <a:stretch>
                  <a:fillRect/>
                </a:stretch>
              </a:blipFill>
              <a:ln w="28575">
                <a:solidFill>
                  <a:srgbClr val="E0700D"/>
                </a:solidFill>
              </a:ln>
            </p:spPr>
            <p:txBody>
              <a:bodyPr/>
              <a:lstStyle/>
              <a:p>
                <a:r>
                  <a:rPr lang="es-CO">
                    <a:noFill/>
                  </a:rPr>
                  <a:t> </a:t>
                </a:r>
              </a:p>
            </p:txBody>
          </p:sp>
        </mc:Fallback>
      </mc:AlternateContent>
      <p:sp>
        <p:nvSpPr>
          <p:cNvPr id="5" name="Marcador de pie de página 2">
            <a:extLst>
              <a:ext uri="{FF2B5EF4-FFF2-40B4-BE49-F238E27FC236}">
                <a16:creationId xmlns:a16="http://schemas.microsoft.com/office/drawing/2014/main" id="{97B81335-0738-3406-18D4-5D88EB0C7954}"/>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pic>
        <p:nvPicPr>
          <p:cNvPr id="6" name="Imagen 5">
            <a:extLst>
              <a:ext uri="{FF2B5EF4-FFF2-40B4-BE49-F238E27FC236}">
                <a16:creationId xmlns:a16="http://schemas.microsoft.com/office/drawing/2014/main" id="{CE75487C-B00A-55FC-2F6D-1D4391EBDB79}"/>
              </a:ext>
            </a:extLst>
          </p:cNvPr>
          <p:cNvPicPr>
            <a:picLocks noChangeAspect="1"/>
          </p:cNvPicPr>
          <p:nvPr/>
        </p:nvPicPr>
        <p:blipFill>
          <a:blip r:embed="rId8"/>
          <a:stretch>
            <a:fillRect/>
          </a:stretch>
        </p:blipFill>
        <p:spPr>
          <a:xfrm>
            <a:off x="7244885" y="1796320"/>
            <a:ext cx="4486153" cy="3600000"/>
          </a:xfrm>
          <a:prstGeom prst="rect">
            <a:avLst/>
          </a:prstGeom>
        </p:spPr>
      </p:pic>
    </p:spTree>
    <p:extLst>
      <p:ext uri="{BB962C8B-B14F-4D97-AF65-F5344CB8AC3E}">
        <p14:creationId xmlns:p14="http://schemas.microsoft.com/office/powerpoint/2010/main" val="23370981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628601-B671-3F40-F021-F9CF095FAA7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6" name="object 16">
                <a:extLst>
                  <a:ext uri="{FF2B5EF4-FFF2-40B4-BE49-F238E27FC236}">
                    <a16:creationId xmlns:a16="http://schemas.microsoft.com/office/drawing/2014/main" id="{0224F418-A19E-C448-A855-79E8D6A40CB8}"/>
                  </a:ext>
                </a:extLst>
              </p:cNvPr>
              <p:cNvSpPr txBox="1">
                <a:spLocks noGrp="1"/>
              </p:cNvSpPr>
              <p:nvPr>
                <p:ph type="title"/>
              </p:nvPr>
            </p:nvSpPr>
            <p:spPr>
              <a:xfrm>
                <a:off x="685800" y="76200"/>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#2 </a:t>
                </a:r>
                <a:r>
                  <a:rPr lang="en-US" sz="2500" dirty="0"/>
                  <a:t>– Recap from theory – Calculation of </a:t>
                </a:r>
                <a14:m>
                  <m:oMath xmlns:m="http://schemas.openxmlformats.org/officeDocument/2006/math">
                    <m:r>
                      <a:rPr lang="es-ES" sz="2500" b="1" i="0" smtClean="0">
                        <a:latin typeface="Cambria Math" panose="02040503050406030204" pitchFamily="18" charset="0"/>
                      </a:rPr>
                      <m:t>𝚫</m:t>
                    </m:r>
                    <m:r>
                      <a:rPr lang="es-ES" sz="2500" b="1" i="0" smtClean="0">
                        <a:latin typeface="Cambria Math" panose="02040503050406030204" pitchFamily="18" charset="0"/>
                      </a:rPr>
                      <m:t>𝐋</m:t>
                    </m:r>
                  </m:oMath>
                </a14:m>
                <a:r>
                  <a:rPr lang="es-ES" sz="2500" spc="-5" dirty="0">
                    <a:latin typeface="+mj-lt"/>
                    <a:cs typeface="Lucida Sans"/>
                  </a:rPr>
                  <a:t> </a:t>
                </a:r>
                <a:br>
                  <a:rPr lang="es-ES" sz="2500" spc="-5" dirty="0">
                    <a:latin typeface="+mj-lt"/>
                    <a:cs typeface="Lucida Sans"/>
                  </a:rPr>
                </a:br>
                <a:endParaRPr sz="2500" b="0" dirty="0">
                  <a:latin typeface="+mj-lt"/>
                  <a:cs typeface="Lucida Sans"/>
                </a:endParaRPr>
              </a:p>
            </p:txBody>
          </p:sp>
        </mc:Choice>
        <mc:Fallback xmlns="">
          <p:sp>
            <p:nvSpPr>
              <p:cNvPr id="16" name="object 16">
                <a:extLst>
                  <a:ext uri="{FF2B5EF4-FFF2-40B4-BE49-F238E27FC236}">
                    <a16:creationId xmlns:a16="http://schemas.microsoft.com/office/drawing/2014/main" id="{0224F418-A19E-C448-A855-79E8D6A40CB8}"/>
                  </a:ext>
                </a:extLst>
              </p:cNvPr>
              <p:cNvSpPr txBox="1">
                <a:spLocks noGrp="1" noRot="1" noChangeAspect="1" noMove="1" noResize="1" noEditPoints="1" noAdjustHandles="1" noChangeArrowheads="1" noChangeShapeType="1" noTextEdit="1"/>
              </p:cNvSpPr>
              <p:nvPr>
                <p:ph type="title"/>
              </p:nvPr>
            </p:nvSpPr>
            <p:spPr>
              <a:xfrm>
                <a:off x="685800" y="76200"/>
                <a:ext cx="10994410" cy="782265"/>
              </a:xfrm>
              <a:prstGeom prst="rect">
                <a:avLst/>
              </a:prstGeom>
              <a:blipFill>
                <a:blip r:embed="rId3"/>
                <a:stretch>
                  <a:fillRect l="-1608" t="-10156"/>
                </a:stretch>
              </a:blipFill>
            </p:spPr>
            <p:txBody>
              <a:bodyPr/>
              <a:lstStyle/>
              <a:p>
                <a:r>
                  <a:rPr lang="es-CO">
                    <a:noFill/>
                  </a:rPr>
                  <a:t> </a:t>
                </a:r>
              </a:p>
            </p:txBody>
          </p:sp>
        </mc:Fallback>
      </mc:AlternateContent>
      <p:pic>
        <p:nvPicPr>
          <p:cNvPr id="83" name="Gráfico 82">
            <a:extLst>
              <a:ext uri="{FF2B5EF4-FFF2-40B4-BE49-F238E27FC236}">
                <a16:creationId xmlns:a16="http://schemas.microsoft.com/office/drawing/2014/main" id="{50B78BF1-66E6-8DC6-BDE6-3829F2CBB3B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CAE5094D-1912-FF9C-879C-078F857AC28B}"/>
              </a:ext>
            </a:extLst>
          </p:cNvPr>
          <p:cNvSpPr>
            <a:spLocks noGrp="1"/>
          </p:cNvSpPr>
          <p:nvPr>
            <p:ph type="sldNum" sz="quarter" idx="7"/>
          </p:nvPr>
        </p:nvSpPr>
        <p:spPr/>
        <p:txBody>
          <a:bodyPr/>
          <a:lstStyle/>
          <a:p>
            <a:fld id="{B6F15528-21DE-4FAA-801E-634DDDAF4B2B}" type="slidenum">
              <a:rPr lang="es-ES" smtClean="0"/>
              <a:t>9</a:t>
            </a:fld>
            <a:endParaRPr lang="es-ES"/>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5C71605D-B972-9E33-7C83-887CCC0FE839}"/>
                  </a:ext>
                </a:extLst>
              </p:cNvPr>
              <p:cNvSpPr txBox="1">
                <a:spLocks/>
              </p:cNvSpPr>
              <p:nvPr/>
            </p:nvSpPr>
            <p:spPr>
              <a:xfrm>
                <a:off x="608012" y="4572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1600" dirty="0"/>
                  <a:t>Considering the n_{eff} values for the SOI cross-section, what would be the path difference (</a:t>
                </a:r>
                <a14:m>
                  <m:oMath xmlns:m="http://schemas.openxmlformats.org/officeDocument/2006/math">
                    <m:r>
                      <m:rPr>
                        <m:sty m:val="p"/>
                      </m:rPr>
                      <a:rPr lang="es-ES" sz="1600" b="0" i="0" smtClean="0">
                        <a:latin typeface="Cambria Math" panose="02040503050406030204" pitchFamily="18" charset="0"/>
                      </a:rPr>
                      <m:t>ΔL</m:t>
                    </m:r>
                    <m:r>
                      <a:rPr lang="es-ES" sz="1600" b="0" i="1" smtClean="0">
                        <a:latin typeface="Cambria Math" panose="02040503050406030204" pitchFamily="18" charset="0"/>
                      </a:rPr>
                      <m:t>= </m:t>
                    </m:r>
                    <m:sSub>
                      <m:sSubPr>
                        <m:ctrlPr>
                          <a:rPr lang="es-ES" sz="1600" i="1" smtClean="0">
                            <a:latin typeface="Cambria Math" panose="02040503050406030204" pitchFamily="18" charset="0"/>
                          </a:rPr>
                        </m:ctrlPr>
                      </m:sSubPr>
                      <m:e>
                        <m:r>
                          <a:rPr lang="es-ES" sz="1600" b="0" i="1" smtClean="0">
                            <a:latin typeface="Cambria Math" panose="02040503050406030204" pitchFamily="18" charset="0"/>
                          </a:rPr>
                          <m:t>𝐿</m:t>
                        </m:r>
                      </m:e>
                      <m:sub>
                        <m:r>
                          <a:rPr lang="es-ES" sz="1600" b="0" i="1" smtClean="0">
                            <a:latin typeface="Cambria Math" panose="02040503050406030204" pitchFamily="18" charset="0"/>
                          </a:rPr>
                          <m:t>𝑢</m:t>
                        </m:r>
                      </m:sub>
                    </m:sSub>
                    <m:r>
                      <a:rPr lang="es-ES" sz="1600" b="0" i="1" smtClean="0">
                        <a:latin typeface="Cambria Math" panose="02040503050406030204" pitchFamily="18" charset="0"/>
                      </a:rPr>
                      <m:t> −</m:t>
                    </m:r>
                    <m:sSub>
                      <m:sSubPr>
                        <m:ctrlPr>
                          <a:rPr lang="es-ES" sz="1600" i="1">
                            <a:latin typeface="Cambria Math" panose="02040503050406030204" pitchFamily="18" charset="0"/>
                          </a:rPr>
                        </m:ctrlPr>
                      </m:sSubPr>
                      <m:e>
                        <m:r>
                          <a:rPr lang="es-ES" sz="1600" b="0" i="1">
                            <a:latin typeface="Cambria Math" panose="02040503050406030204" pitchFamily="18" charset="0"/>
                          </a:rPr>
                          <m:t>𝐿</m:t>
                        </m:r>
                      </m:e>
                      <m:sub>
                        <m:r>
                          <a:rPr lang="es-ES" sz="1600" b="0" i="1" smtClean="0">
                            <a:latin typeface="Cambria Math" panose="02040503050406030204" pitchFamily="18" charset="0"/>
                          </a:rPr>
                          <m:t>𝑑</m:t>
                        </m:r>
                      </m:sub>
                    </m:sSub>
                  </m:oMath>
                </a14:m>
                <a:r>
                  <a:rPr lang="en-US" sz="1600" dirty="0"/>
                  <a:t>) needed to obtain a Free Spectral Range of 40 nm? Introduce the obtained value in the model to check the MZI response. </a:t>
                </a:r>
              </a:p>
              <a:p>
                <a:endParaRPr lang="en-US" sz="1600" dirty="0"/>
              </a:p>
              <a:p>
                <a:r>
                  <a:rPr lang="en-US" sz="1600" dirty="0"/>
                  <a:t>Hint: We assume 1550 nm as the central design wavelength (</a:t>
                </a:r>
                <a14:m>
                  <m:oMath xmlns:m="http://schemas.openxmlformats.org/officeDocument/2006/math">
                    <m:sSub>
                      <m:sSubPr>
                        <m:ctrlPr>
                          <a:rPr lang="es-ES" sz="1600" i="1" smtClean="0">
                            <a:latin typeface="Cambria Math" panose="02040503050406030204" pitchFamily="18" charset="0"/>
                          </a:rPr>
                        </m:ctrlPr>
                      </m:sSubPr>
                      <m:e>
                        <m:r>
                          <a:rPr lang="es-ES" sz="1600" i="1">
                            <a:latin typeface="Cambria Math" panose="02040503050406030204" pitchFamily="18" charset="0"/>
                          </a:rPr>
                          <m:t>𝜆</m:t>
                        </m:r>
                      </m:e>
                      <m:sub>
                        <m:r>
                          <a:rPr lang="es-ES" sz="1600" b="0" i="1" smtClean="0">
                            <a:latin typeface="Cambria Math" panose="02040503050406030204" pitchFamily="18" charset="0"/>
                          </a:rPr>
                          <m:t>0</m:t>
                        </m:r>
                      </m:sub>
                    </m:sSub>
                    <m:r>
                      <a:rPr lang="es-ES" sz="1600" b="0" i="1" smtClean="0">
                        <a:latin typeface="Cambria Math" panose="02040503050406030204" pitchFamily="18" charset="0"/>
                      </a:rPr>
                      <m:t>= </m:t>
                    </m:r>
                  </m:oMath>
                </a14:m>
                <a:r>
                  <a:rPr lang="en-US" sz="1600" dirty="0"/>
                  <a:t>1550 nm).</a:t>
                </a:r>
              </a:p>
              <a:p>
                <a:endParaRPr lang="en-US" sz="1600" dirty="0"/>
              </a:p>
              <a:p>
                <a:pPr algn="just"/>
                <a:endParaRPr lang="en-US" sz="1600" dirty="0"/>
              </a:p>
              <a:p>
                <a:pPr algn="just"/>
                <a:endParaRPr lang="en-US" sz="1600" b="1" i="1" dirty="0"/>
              </a:p>
              <a:p>
                <a:pPr algn="just"/>
                <a:endParaRPr lang="en-US" sz="1600" kern="0" dirty="0">
                  <a:solidFill>
                    <a:sysClr val="windowText" lastClr="000000"/>
                  </a:solidFill>
                </a:endParaRPr>
              </a:p>
              <a:p>
                <a:endParaRPr lang="en-US" sz="16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5C71605D-B972-9E33-7C83-887CCC0FE839}"/>
                  </a:ext>
                </a:extLst>
              </p:cNvPr>
              <p:cNvSpPr txBox="1">
                <a:spLocks noRot="1" noChangeAspect="1" noMove="1" noResize="1" noEditPoints="1" noAdjustHandles="1" noChangeArrowheads="1" noChangeShapeType="1" noTextEdit="1"/>
              </p:cNvSpPr>
              <p:nvPr/>
            </p:nvSpPr>
            <p:spPr>
              <a:xfrm>
                <a:off x="608012" y="457200"/>
                <a:ext cx="11048999" cy="4958137"/>
              </a:xfrm>
              <a:prstGeom prst="rect">
                <a:avLst/>
              </a:prstGeom>
              <a:blipFill>
                <a:blip r:embed="rId6"/>
                <a:stretch>
                  <a:fillRect l="-331" t="-369"/>
                </a:stretch>
              </a:blipFill>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DE8A34C6-C3BF-F65C-7064-C0018AE445BE}"/>
                  </a:ext>
                </a:extLst>
              </p:cNvPr>
              <p:cNvSpPr txBox="1"/>
              <p:nvPr/>
            </p:nvSpPr>
            <p:spPr>
              <a:xfrm>
                <a:off x="685800" y="1799185"/>
                <a:ext cx="6096000" cy="3970318"/>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Once we obtain the group index, which is 4.29, we calculate </a:t>
                </a:r>
                <a14:m>
                  <m:oMath xmlns:m="http://schemas.openxmlformats.org/officeDocument/2006/math">
                    <m:r>
                      <a:rPr lang="en-US" sz="1200" i="1">
                        <a:latin typeface="Cambria Math" panose="02040503050406030204" pitchFamily="18" charset="0"/>
                        <a:ea typeface="Cambria Math" panose="02040503050406030204" pitchFamily="18" charset="0"/>
                        <a:cs typeface="Arial" panose="020B0604020202020204" pitchFamily="34" charset="0"/>
                      </a:rPr>
                      <m:t>∆</m:t>
                    </m:r>
                    <m:r>
                      <a:rPr lang="es-ES" sz="1200" i="1">
                        <a:latin typeface="Cambria Math" panose="02040503050406030204" pitchFamily="18" charset="0"/>
                        <a:ea typeface="Cambria Math" panose="02040503050406030204" pitchFamily="18" charset="0"/>
                        <a:cs typeface="Arial" panose="020B0604020202020204" pitchFamily="34" charset="0"/>
                      </a:rPr>
                      <m:t>𝐿</m:t>
                    </m:r>
                    <m:r>
                      <a:rPr lang="es-ES" sz="1200" b="0" i="0" smtClean="0">
                        <a:latin typeface="Cambria Math" panose="02040503050406030204" pitchFamily="18" charset="0"/>
                        <a:ea typeface="Cambria Math" panose="02040503050406030204" pitchFamily="18" charset="0"/>
                        <a:cs typeface="Arial" panose="020B0604020202020204" pitchFamily="34" charset="0"/>
                      </a:rPr>
                      <m:t> </m:t>
                    </m:r>
                  </m:oMath>
                </a14:m>
                <a:r>
                  <a:rPr lang="en-US" sz="1200" dirty="0">
                    <a:latin typeface="Arial" panose="020B0604020202020204" pitchFamily="34" charset="0"/>
                    <a:cs typeface="Arial" panose="020B0604020202020204" pitchFamily="34" charset="0"/>
                  </a:rPr>
                  <a:t>as follows: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FSR=40e-3</a:t>
                </a:r>
              </a:p>
              <a:p>
                <a:pPr algn="just"/>
                <a:r>
                  <a:rPr lang="en-US" sz="1200" dirty="0" err="1">
                    <a:latin typeface="Arial" panose="020B0604020202020204" pitchFamily="34" charset="0"/>
                    <a:cs typeface="Arial" panose="020B0604020202020204" pitchFamily="34" charset="0"/>
                  </a:rPr>
                  <a:t>deltaL</a:t>
                </a:r>
                <a:r>
                  <a:rPr lang="en-US" sz="1200" dirty="0">
                    <a:latin typeface="Arial" panose="020B0604020202020204" pitchFamily="34" charset="0"/>
                    <a:cs typeface="Arial" panose="020B0604020202020204" pitchFamily="34" charset="0"/>
                  </a:rPr>
                  <a:t>=(wl0**2)/(FSR*ng_1550)</a:t>
                </a:r>
              </a:p>
              <a:p>
                <a:pPr algn="just"/>
                <a:r>
                  <a:rPr lang="en-US" sz="1200" dirty="0">
                    <a:latin typeface="Arial" panose="020B0604020202020204" pitchFamily="34" charset="0"/>
                    <a:cs typeface="Arial" panose="020B0604020202020204" pitchFamily="34" charset="0"/>
                  </a:rPr>
                  <a:t>print(</a:t>
                </a:r>
                <a:r>
                  <a:rPr lang="en-US" sz="1200" dirty="0" err="1">
                    <a:latin typeface="Arial" panose="020B0604020202020204" pitchFamily="34" charset="0"/>
                    <a:cs typeface="Arial" panose="020B0604020202020204" pitchFamily="34" charset="0"/>
                  </a:rPr>
                  <a:t>f"La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diferencia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longitud</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caminos </a:t>
                </a:r>
                <a:r>
                  <a:rPr lang="en-US" sz="1200" dirty="0" err="1">
                    <a:latin typeface="Arial" panose="020B0604020202020204" pitchFamily="34" charset="0"/>
                    <a:cs typeface="Arial" panose="020B0604020202020204" pitchFamily="34" charset="0"/>
                  </a:rPr>
                  <a:t>debe</a:t>
                </a:r>
                <a:r>
                  <a:rPr lang="en-US" sz="1200" dirty="0">
                    <a:latin typeface="Arial" panose="020B0604020202020204" pitchFamily="34" charset="0"/>
                    <a:cs typeface="Arial" panose="020B0604020202020204" pitchFamily="34" charset="0"/>
                  </a:rPr>
                  <a:t> ser de: {</a:t>
                </a:r>
                <a:r>
                  <a:rPr lang="en-US" sz="1200" dirty="0" err="1">
                    <a:latin typeface="Arial" panose="020B0604020202020204" pitchFamily="34" charset="0"/>
                    <a:cs typeface="Arial" panose="020B0604020202020204" pitchFamily="34" charset="0"/>
                  </a:rPr>
                  <a:t>deltaL</a:t>
                </a:r>
                <a:r>
                  <a:rPr lang="en-US" sz="1200" dirty="0">
                    <a:latin typeface="Arial" panose="020B0604020202020204" pitchFamily="34" charset="0"/>
                    <a:cs typeface="Arial" panose="020B0604020202020204" pitchFamily="34" charset="0"/>
                  </a:rPr>
                  <a:t>} um")</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The difference in the path lengths must be 13.98 µm.</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Now, to verify whether we obtained the required FSR, we check it using the following code:</a:t>
                </a:r>
              </a:p>
              <a:p>
                <a:pPr algn="just"/>
                <a:endParaRPr lang="es-ES" sz="1200" dirty="0">
                  <a:latin typeface="Arial" panose="020B0604020202020204" pitchFamily="34" charset="0"/>
                  <a:cs typeface="Arial" panose="020B0604020202020204" pitchFamily="34" charset="0"/>
                </a:endParaRPr>
              </a:p>
              <a:p>
                <a:pPr algn="just"/>
                <a:r>
                  <a:rPr lang="en-US" sz="1200" dirty="0" err="1">
                    <a:latin typeface="Arial" panose="020B0604020202020204" pitchFamily="34" charset="0"/>
                    <a:cs typeface="Arial" panose="020B0604020202020204" pitchFamily="34" charset="0"/>
                  </a:rPr>
                  <a:t>maxp</a:t>
                </a:r>
                <a:r>
                  <a:rPr lang="en-US" sz="1200" dirty="0">
                    <a:latin typeface="Arial" panose="020B0604020202020204" pitchFamily="34" charset="0"/>
                    <a:cs typeface="Arial" panose="020B0604020202020204" pitchFamily="34" charset="0"/>
                  </a:rPr>
                  <a:t>=</a:t>
                </a:r>
                <a:r>
                  <a:rPr lang="en-US" sz="1200" dirty="0" err="1">
                    <a:latin typeface="Arial" panose="020B0604020202020204" pitchFamily="34" charset="0"/>
                    <a:cs typeface="Arial" panose="020B0604020202020204" pitchFamily="34" charset="0"/>
                  </a:rPr>
                  <a:t>wvl</a:t>
                </a:r>
                <a:r>
                  <a:rPr lang="en-US" sz="1200" dirty="0">
                    <a:latin typeface="Arial" panose="020B0604020202020204" pitchFamily="34" charset="0"/>
                    <a:cs typeface="Arial" panose="020B0604020202020204" pitchFamily="34" charset="0"/>
                  </a:rPr>
                  <a:t>[</a:t>
                </a:r>
                <a:r>
                  <a:rPr lang="en-US" sz="1200" dirty="0" err="1">
                    <a:latin typeface="Arial" panose="020B0604020202020204" pitchFamily="34" charset="0"/>
                    <a:cs typeface="Arial" panose="020B0604020202020204" pitchFamily="34" charset="0"/>
                  </a:rPr>
                  <a:t>np.argmax</a:t>
                </a:r>
                <a:r>
                  <a:rPr lang="en-US" sz="1200" dirty="0">
                    <a:latin typeface="Arial" panose="020B0604020202020204" pitchFamily="34" charset="0"/>
                    <a:cs typeface="Arial" panose="020B0604020202020204" pitchFamily="34" charset="0"/>
                  </a:rPr>
                  <a:t>(H22)]</a:t>
                </a:r>
              </a:p>
              <a:p>
                <a:pPr algn="just"/>
                <a:r>
                  <a:rPr lang="en-US" sz="1200" dirty="0" err="1">
                    <a:latin typeface="Arial" panose="020B0604020202020204" pitchFamily="34" charset="0"/>
                    <a:cs typeface="Arial" panose="020B0604020202020204" pitchFamily="34" charset="0"/>
                  </a:rPr>
                  <a:t>minp</a:t>
                </a:r>
                <a:r>
                  <a:rPr lang="en-US" sz="1200" dirty="0">
                    <a:latin typeface="Arial" panose="020B0604020202020204" pitchFamily="34" charset="0"/>
                    <a:cs typeface="Arial" panose="020B0604020202020204" pitchFamily="34" charset="0"/>
                  </a:rPr>
                  <a:t>=</a:t>
                </a:r>
                <a:r>
                  <a:rPr lang="en-US" sz="1200" dirty="0" err="1">
                    <a:latin typeface="Arial" panose="020B0604020202020204" pitchFamily="34" charset="0"/>
                    <a:cs typeface="Arial" panose="020B0604020202020204" pitchFamily="34" charset="0"/>
                  </a:rPr>
                  <a:t>wvl</a:t>
                </a:r>
                <a:r>
                  <a:rPr lang="en-US" sz="1200" dirty="0">
                    <a:latin typeface="Arial" panose="020B0604020202020204" pitchFamily="34" charset="0"/>
                    <a:cs typeface="Arial" panose="020B0604020202020204" pitchFamily="34" charset="0"/>
                  </a:rPr>
                  <a:t>[</a:t>
                </a:r>
                <a:r>
                  <a:rPr lang="en-US" sz="1200" dirty="0" err="1">
                    <a:latin typeface="Arial" panose="020B0604020202020204" pitchFamily="34" charset="0"/>
                    <a:cs typeface="Arial" panose="020B0604020202020204" pitchFamily="34" charset="0"/>
                  </a:rPr>
                  <a:t>np.argmin</a:t>
                </a:r>
                <a:r>
                  <a:rPr lang="en-US" sz="1200" dirty="0">
                    <a:latin typeface="Arial" panose="020B0604020202020204" pitchFamily="34" charset="0"/>
                    <a:cs typeface="Arial" panose="020B0604020202020204" pitchFamily="34" charset="0"/>
                  </a:rPr>
                  <a:t>(H22)]</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FSR=2*(</a:t>
                </a:r>
                <a:r>
                  <a:rPr lang="en-US" sz="1200" dirty="0" err="1">
                    <a:latin typeface="Arial" panose="020B0604020202020204" pitchFamily="34" charset="0"/>
                    <a:cs typeface="Arial" panose="020B0604020202020204" pitchFamily="34" charset="0"/>
                  </a:rPr>
                  <a:t>minp-maxp</a:t>
                </a:r>
                <a:r>
                  <a:rPr lang="en-US" sz="1200" dirty="0">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The result is 0.040 µm, which corresponds to 40 nm, confirming that the value is correct.</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DE8A34C6-C3BF-F65C-7064-C0018AE445BE}"/>
                  </a:ext>
                </a:extLst>
              </p:cNvPr>
              <p:cNvSpPr txBox="1">
                <a:spLocks noRot="1" noChangeAspect="1" noMove="1" noResize="1" noEditPoints="1" noAdjustHandles="1" noChangeArrowheads="1" noChangeShapeType="1" noTextEdit="1"/>
              </p:cNvSpPr>
              <p:nvPr/>
            </p:nvSpPr>
            <p:spPr>
              <a:xfrm>
                <a:off x="685800" y="1799185"/>
                <a:ext cx="6096000" cy="3970318"/>
              </a:xfrm>
              <a:prstGeom prst="rect">
                <a:avLst/>
              </a:prstGeom>
              <a:blipFill>
                <a:blip r:embed="rId7"/>
                <a:stretch>
                  <a:fillRect/>
                </a:stretch>
              </a:blipFill>
              <a:ln w="28575">
                <a:solidFill>
                  <a:srgbClr val="E0700D"/>
                </a:solidFill>
              </a:ln>
            </p:spPr>
            <p:txBody>
              <a:bodyPr/>
              <a:lstStyle/>
              <a:p>
                <a:r>
                  <a:rPr lang="es-CO">
                    <a:noFill/>
                  </a:rPr>
                  <a:t> </a:t>
                </a:r>
              </a:p>
            </p:txBody>
          </p:sp>
        </mc:Fallback>
      </mc:AlternateContent>
      <p:sp>
        <p:nvSpPr>
          <p:cNvPr id="5" name="Marcador de pie de página 2">
            <a:extLst>
              <a:ext uri="{FF2B5EF4-FFF2-40B4-BE49-F238E27FC236}">
                <a16:creationId xmlns:a16="http://schemas.microsoft.com/office/drawing/2014/main" id="{71576E55-378A-6B20-B0FA-3BB0A95D2D6C}"/>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pic>
        <p:nvPicPr>
          <p:cNvPr id="6" name="Imagen 5">
            <a:extLst>
              <a:ext uri="{FF2B5EF4-FFF2-40B4-BE49-F238E27FC236}">
                <a16:creationId xmlns:a16="http://schemas.microsoft.com/office/drawing/2014/main" id="{81F41156-2653-EE16-D454-98B1B850CB48}"/>
              </a:ext>
            </a:extLst>
          </p:cNvPr>
          <p:cNvPicPr>
            <a:picLocks noChangeAspect="1"/>
          </p:cNvPicPr>
          <p:nvPr/>
        </p:nvPicPr>
        <p:blipFill>
          <a:blip r:embed="rId8"/>
          <a:stretch>
            <a:fillRect/>
          </a:stretch>
        </p:blipFill>
        <p:spPr>
          <a:xfrm>
            <a:off x="7068563" y="1851734"/>
            <a:ext cx="4486153" cy="3600000"/>
          </a:xfrm>
          <a:prstGeom prst="rect">
            <a:avLst/>
          </a:prstGeom>
        </p:spPr>
      </p:pic>
    </p:spTree>
    <p:extLst>
      <p:ext uri="{BB962C8B-B14F-4D97-AF65-F5344CB8AC3E}">
        <p14:creationId xmlns:p14="http://schemas.microsoft.com/office/powerpoint/2010/main" val="24637747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B9552-DF22-1310-10FA-4D2D2AF77601}"/>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0632A48-0384-0EF1-389E-FBF3F9C3E7CE}"/>
              </a:ext>
            </a:extLst>
          </p:cNvPr>
          <p:cNvSpPr txBox="1">
            <a:spLocks noGrp="1"/>
          </p:cNvSpPr>
          <p:nvPr>
            <p:ph type="title"/>
          </p:nvPr>
        </p:nvSpPr>
        <p:spPr>
          <a:xfrm>
            <a:off x="612234" y="150169"/>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#3 </a:t>
            </a:r>
            <a:r>
              <a:rPr lang="en-US" sz="2500" dirty="0"/>
              <a:t>– SAX implementation </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1F43E6A6-5CC3-9B99-14AC-997478150C3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FC09DB6-1DF7-C8F9-7414-27BC280DEA0F}"/>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4" name="Marcador de texto 2">
            <a:extLst>
              <a:ext uri="{FF2B5EF4-FFF2-40B4-BE49-F238E27FC236}">
                <a16:creationId xmlns:a16="http://schemas.microsoft.com/office/drawing/2014/main" id="{EBC8DCFA-5565-A757-1F8D-F4CCCF573A63}"/>
              </a:ext>
            </a:extLst>
          </p:cNvPr>
          <p:cNvSpPr txBox="1">
            <a:spLocks/>
          </p:cNvSpPr>
          <p:nvPr/>
        </p:nvSpPr>
        <p:spPr>
          <a:xfrm>
            <a:off x="571500" y="612671"/>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1400" dirty="0"/>
              <a:t>Now, we are going to implement the design parameters in the MZI model developed in SAX and compare the response obtained with the one simulated by mathematical formulation. This will help us to identify any error in the definition of the SAX model single components. </a:t>
            </a:r>
          </a:p>
          <a:p>
            <a:br>
              <a:rPr lang="en-US" sz="1400" dirty="0"/>
            </a:br>
            <a:r>
              <a:rPr lang="en-US" sz="1400" dirty="0"/>
              <a:t>In order to implement the SAX model, take as example the following lines:</a:t>
            </a:r>
          </a:p>
          <a:p>
            <a:endParaRPr lang="en-US" sz="1400" b="0" dirty="0">
              <a:effectLst/>
              <a:latin typeface="Courier New" panose="02070309020205020404" pitchFamily="49" charset="0"/>
            </a:endParaRPr>
          </a:p>
          <a:p>
            <a:r>
              <a:rPr lang="es-ES" sz="1100" b="0" dirty="0" err="1">
                <a:effectLst/>
                <a:latin typeface="Courier New" panose="02070309020205020404" pitchFamily="49" charset="0"/>
              </a:rPr>
              <a:t>mzi_test</a:t>
            </a:r>
            <a:r>
              <a:rPr lang="es-ES" sz="1100" b="0" dirty="0">
                <a:effectLst/>
                <a:latin typeface="Courier New" panose="02070309020205020404" pitchFamily="49" charset="0"/>
              </a:rPr>
              <a:t> = </a:t>
            </a:r>
            <a:r>
              <a:rPr lang="es-ES" sz="1100" b="0" dirty="0" err="1">
                <a:effectLst/>
                <a:latin typeface="Courier New" panose="02070309020205020404" pitchFamily="49" charset="0"/>
              </a:rPr>
              <a:t>mzi</a:t>
            </a:r>
            <a:r>
              <a:rPr lang="es-ES" sz="1100" b="0" dirty="0">
                <a:effectLst/>
                <a:latin typeface="Courier New" panose="02070309020205020404" pitchFamily="49" charset="0"/>
              </a:rPr>
              <a:t>(</a:t>
            </a:r>
            <a:r>
              <a:rPr lang="es-ES" sz="1100" b="0" dirty="0" err="1">
                <a:effectLst/>
                <a:latin typeface="Courier New" panose="02070309020205020404" pitchFamily="49" charset="0"/>
              </a:rPr>
              <a:t>wl</a:t>
            </a:r>
            <a:r>
              <a:rPr lang="es-ES" sz="1100" b="0" dirty="0">
                <a:effectLst/>
                <a:latin typeface="Courier New" panose="02070309020205020404" pitchFamily="49" charset="0"/>
              </a:rPr>
              <a:t>=</a:t>
            </a:r>
            <a:r>
              <a:rPr lang="es-ES" sz="1100" b="0" dirty="0" err="1">
                <a:effectLst/>
                <a:latin typeface="Courier New" panose="02070309020205020404" pitchFamily="49" charset="0"/>
              </a:rPr>
              <a:t>wl</a:t>
            </a:r>
            <a:r>
              <a:rPr lang="es-ES" sz="1100" b="0" dirty="0">
                <a:effectLst/>
                <a:latin typeface="Courier New" panose="02070309020205020404" pitchFamily="49" charset="0"/>
              </a:rPr>
              <a:t>, </a:t>
            </a:r>
          </a:p>
          <a:p>
            <a:r>
              <a:rPr lang="es-ES" sz="1100" b="0" dirty="0">
                <a:effectLst/>
                <a:latin typeface="Courier New" panose="02070309020205020404" pitchFamily="49" charset="0"/>
              </a:rPr>
              <a:t>    </a:t>
            </a:r>
            <a:r>
              <a:rPr lang="es-ES" sz="1100" b="0" dirty="0" err="1">
                <a:effectLst/>
                <a:latin typeface="Courier New" panose="02070309020205020404" pitchFamily="49" charset="0"/>
              </a:rPr>
              <a:t>coup_a</a:t>
            </a:r>
            <a:r>
              <a:rPr lang="es-ES" sz="1100" b="0" dirty="0">
                <a:effectLst/>
                <a:latin typeface="Courier New" panose="02070309020205020404" pitchFamily="49" charset="0"/>
              </a:rPr>
              <a:t> = ...</a:t>
            </a:r>
          </a:p>
          <a:p>
            <a:r>
              <a:rPr lang="es-ES" sz="1100" dirty="0">
                <a:latin typeface="Courier New" panose="02070309020205020404" pitchFamily="49" charset="0"/>
              </a:rPr>
              <a:t>    </a:t>
            </a:r>
            <a:r>
              <a:rPr lang="es-ES" sz="1100" b="0" dirty="0" err="1">
                <a:effectLst/>
                <a:latin typeface="Courier New" panose="02070309020205020404" pitchFamily="49" charset="0"/>
              </a:rPr>
              <a:t>wvg_d</a:t>
            </a:r>
            <a:r>
              <a:rPr lang="es-ES" sz="1100" b="0" dirty="0">
                <a:effectLst/>
                <a:latin typeface="Courier New" panose="02070309020205020404" pitchFamily="49" charset="0"/>
              </a:rPr>
              <a:t>={"</a:t>
            </a:r>
            <a:r>
              <a:rPr lang="es-ES" sz="1100" b="0" dirty="0" err="1">
                <a:effectLst/>
                <a:latin typeface="Courier New" panose="02070309020205020404" pitchFamily="49" charset="0"/>
              </a:rPr>
              <a:t>length</a:t>
            </a:r>
            <a:r>
              <a:rPr lang="es-ES" sz="1100" b="0" dirty="0">
                <a:effectLst/>
                <a:latin typeface="Courier New" panose="02070309020205020404" pitchFamily="49" charset="0"/>
              </a:rPr>
              <a:t>": </a:t>
            </a:r>
            <a:r>
              <a:rPr lang="es-ES" sz="1100" b="0" dirty="0" err="1">
                <a:effectLst/>
                <a:latin typeface="Courier New" panose="02070309020205020404" pitchFamily="49" charset="0"/>
              </a:rPr>
              <a:t>l_d</a:t>
            </a:r>
            <a:r>
              <a:rPr lang="es-ES" sz="1100" b="0" dirty="0">
                <a:effectLst/>
                <a:latin typeface="Courier New" panose="02070309020205020404" pitchFamily="49" charset="0"/>
              </a:rPr>
              <a:t>, "</a:t>
            </a:r>
            <a:r>
              <a:rPr lang="es-ES" sz="1100" b="0" dirty="0" err="1">
                <a:effectLst/>
                <a:latin typeface="Courier New" panose="02070309020205020404" pitchFamily="49" charset="0"/>
              </a:rPr>
              <a:t>neff</a:t>
            </a:r>
            <a:r>
              <a:rPr lang="es-ES" sz="1100" b="0" dirty="0">
                <a:effectLst/>
                <a:latin typeface="Courier New" panose="02070309020205020404" pitchFamily="49" charset="0"/>
              </a:rPr>
              <a:t>": ...}, </a:t>
            </a:r>
          </a:p>
          <a:p>
            <a:r>
              <a:rPr lang="es-ES" sz="1100" dirty="0">
                <a:latin typeface="Courier New" panose="02070309020205020404" pitchFamily="49" charset="0"/>
              </a:rPr>
              <a:t> </a:t>
            </a:r>
            <a:r>
              <a:rPr lang="es-ES" sz="1100" b="0" dirty="0">
                <a:effectLst/>
                <a:latin typeface="Courier New" panose="02070309020205020404" pitchFamily="49" charset="0"/>
              </a:rPr>
              <a:t>   </a:t>
            </a:r>
            <a:r>
              <a:rPr lang="es-ES" sz="1100" b="0" dirty="0" err="1">
                <a:effectLst/>
                <a:latin typeface="Courier New" panose="02070309020205020404" pitchFamily="49" charset="0"/>
              </a:rPr>
              <a:t>wvg_u</a:t>
            </a:r>
            <a:r>
              <a:rPr lang="es-ES" sz="1100" b="0" dirty="0">
                <a:effectLst/>
                <a:latin typeface="Courier New" panose="02070309020205020404" pitchFamily="49" charset="0"/>
              </a:rPr>
              <a:t>={"</a:t>
            </a:r>
            <a:r>
              <a:rPr lang="es-ES" sz="1100" b="0" dirty="0" err="1">
                <a:effectLst/>
                <a:latin typeface="Courier New" panose="02070309020205020404" pitchFamily="49" charset="0"/>
              </a:rPr>
              <a:t>length</a:t>
            </a:r>
            <a:r>
              <a:rPr lang="es-ES" sz="1100" b="0" dirty="0">
                <a:effectLst/>
                <a:latin typeface="Courier New" panose="02070309020205020404" pitchFamily="49" charset="0"/>
              </a:rPr>
              <a:t>": </a:t>
            </a:r>
            <a:r>
              <a:rPr lang="es-ES" sz="1100" b="0" dirty="0" err="1">
                <a:effectLst/>
                <a:latin typeface="Courier New" panose="02070309020205020404" pitchFamily="49" charset="0"/>
              </a:rPr>
              <a:t>l_u</a:t>
            </a:r>
            <a:r>
              <a:rPr lang="es-ES" sz="1100" b="0" dirty="0">
                <a:effectLst/>
                <a:latin typeface="Courier New" panose="02070309020205020404" pitchFamily="49" charset="0"/>
              </a:rPr>
              <a:t>, "</a:t>
            </a:r>
            <a:r>
              <a:rPr lang="es-ES" sz="1100" b="0" dirty="0" err="1">
                <a:effectLst/>
                <a:latin typeface="Courier New" panose="02070309020205020404" pitchFamily="49" charset="0"/>
              </a:rPr>
              <a:t>neff</a:t>
            </a:r>
            <a:r>
              <a:rPr lang="es-ES" sz="1100" b="0" dirty="0">
                <a:effectLst/>
                <a:latin typeface="Courier New" panose="02070309020205020404" pitchFamily="49" charset="0"/>
              </a:rPr>
              <a:t>": ...},</a:t>
            </a:r>
          </a:p>
          <a:p>
            <a:r>
              <a:rPr lang="es-ES" sz="1100" b="0" dirty="0">
                <a:effectLst/>
                <a:latin typeface="Courier New" panose="02070309020205020404" pitchFamily="49" charset="0"/>
              </a:rPr>
              <a:t>    </a:t>
            </a:r>
            <a:r>
              <a:rPr lang="es-ES" sz="1100" b="0" dirty="0" err="1">
                <a:effectLst/>
                <a:latin typeface="Courier New" panose="02070309020205020404" pitchFamily="49" charset="0"/>
              </a:rPr>
              <a:t>coup_b</a:t>
            </a:r>
            <a:r>
              <a:rPr lang="es-ES" sz="1100" b="0" dirty="0">
                <a:effectLst/>
                <a:latin typeface="Courier New" panose="02070309020205020404" pitchFamily="49" charset="0"/>
              </a:rPr>
              <a:t> = ... )</a:t>
            </a:r>
          </a:p>
          <a:p>
            <a:r>
              <a:rPr lang="es-ES" sz="1100" b="0" dirty="0">
                <a:effectLst/>
                <a:latin typeface="Courier New" panose="02070309020205020404" pitchFamily="49" charset="0"/>
              </a:rPr>
              <a:t>    H00 = </a:t>
            </a:r>
            <a:r>
              <a:rPr lang="es-ES" sz="1100" b="0" dirty="0" err="1">
                <a:effectLst/>
                <a:latin typeface="Courier New" panose="02070309020205020404" pitchFamily="49" charset="0"/>
              </a:rPr>
              <a:t>mzi_test</a:t>
            </a:r>
            <a:r>
              <a:rPr lang="es-ES" sz="1100" b="0" dirty="0">
                <a:effectLst/>
                <a:latin typeface="Courier New" panose="02070309020205020404" pitchFamily="49" charset="0"/>
              </a:rPr>
              <a:t>["in0", "out0"]</a:t>
            </a:r>
          </a:p>
          <a:p>
            <a:endParaRPr lang="en-US" sz="1600" dirty="0"/>
          </a:p>
          <a:p>
            <a:pPr algn="just"/>
            <a:endParaRPr lang="en-US" sz="1600" dirty="0"/>
          </a:p>
          <a:p>
            <a:pPr algn="just"/>
            <a:endParaRPr lang="en-US" sz="1600" b="1" i="1" dirty="0"/>
          </a:p>
          <a:p>
            <a:pPr algn="just"/>
            <a:endParaRPr lang="en-US" sz="1600" kern="0" dirty="0">
              <a:solidFill>
                <a:sysClr val="windowText" lastClr="000000"/>
              </a:solidFill>
            </a:endParaRPr>
          </a:p>
          <a:p>
            <a:endParaRPr lang="en-US" sz="1600" kern="0" dirty="0">
              <a:solidFill>
                <a:sysClr val="windowText" lastClr="000000"/>
              </a:solidFill>
            </a:endParaRPr>
          </a:p>
        </p:txBody>
      </p:sp>
      <p:sp>
        <p:nvSpPr>
          <p:cNvPr id="2" name="CuadroTexto 1">
            <a:extLst>
              <a:ext uri="{FF2B5EF4-FFF2-40B4-BE49-F238E27FC236}">
                <a16:creationId xmlns:a16="http://schemas.microsoft.com/office/drawing/2014/main" id="{CA4A2D6E-5993-52B3-D251-1ADF2B0C8355}"/>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For both cases, we obtain the same FSR, which is 28 nm. It can also be observed graphically that the amplitudes are very similar, since both responses oscillate between 1 and 0, reaching their maximum and minimum values at very similar wavelengths. Therefore, using SAX is a very good approximation of the mathematical method.</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ED97C9D0-256C-D4CA-42E7-79330F040B30}"/>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pic>
        <p:nvPicPr>
          <p:cNvPr id="6" name="Imagen 5">
            <a:extLst>
              <a:ext uri="{FF2B5EF4-FFF2-40B4-BE49-F238E27FC236}">
                <a16:creationId xmlns:a16="http://schemas.microsoft.com/office/drawing/2014/main" id="{CB00AD58-B9D3-4DE6-173D-16DDDEE7195B}"/>
              </a:ext>
            </a:extLst>
          </p:cNvPr>
          <p:cNvPicPr>
            <a:picLocks noChangeAspect="1"/>
          </p:cNvPicPr>
          <p:nvPr/>
        </p:nvPicPr>
        <p:blipFill>
          <a:blip r:embed="rId5"/>
          <a:stretch>
            <a:fillRect/>
          </a:stretch>
        </p:blipFill>
        <p:spPr>
          <a:xfrm>
            <a:off x="4525845" y="1791613"/>
            <a:ext cx="3140308" cy="2520000"/>
          </a:xfrm>
          <a:prstGeom prst="rect">
            <a:avLst/>
          </a:prstGeom>
        </p:spPr>
      </p:pic>
      <p:pic>
        <p:nvPicPr>
          <p:cNvPr id="8" name="Imagen 7">
            <a:extLst>
              <a:ext uri="{FF2B5EF4-FFF2-40B4-BE49-F238E27FC236}">
                <a16:creationId xmlns:a16="http://schemas.microsoft.com/office/drawing/2014/main" id="{3F5B2F32-3FBE-7027-E095-076C55C1F0E0}"/>
              </a:ext>
            </a:extLst>
          </p:cNvPr>
          <p:cNvPicPr>
            <a:picLocks noChangeAspect="1"/>
          </p:cNvPicPr>
          <p:nvPr/>
        </p:nvPicPr>
        <p:blipFill>
          <a:blip r:embed="rId6"/>
          <a:stretch>
            <a:fillRect/>
          </a:stretch>
        </p:blipFill>
        <p:spPr>
          <a:xfrm>
            <a:off x="7666153" y="1831739"/>
            <a:ext cx="3140308" cy="2520000"/>
          </a:xfrm>
          <a:prstGeom prst="rect">
            <a:avLst/>
          </a:prstGeom>
        </p:spPr>
      </p:pic>
    </p:spTree>
    <p:extLst>
      <p:ext uri="{BB962C8B-B14F-4D97-AF65-F5344CB8AC3E}">
        <p14:creationId xmlns:p14="http://schemas.microsoft.com/office/powerpoint/2010/main" val="36664368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304800"/>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Extra assessments </a:t>
            </a: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4" name="Marcador de texto 2">
            <a:extLst>
              <a:ext uri="{FF2B5EF4-FFF2-40B4-BE49-F238E27FC236}">
                <a16:creationId xmlns:a16="http://schemas.microsoft.com/office/drawing/2014/main" id="{D838A93A-BFC8-0124-93CE-FDC193435A0C}"/>
              </a:ext>
            </a:extLst>
          </p:cNvPr>
          <p:cNvSpPr txBox="1">
            <a:spLocks/>
          </p:cNvSpPr>
          <p:nvPr/>
        </p:nvSpPr>
        <p:spPr>
          <a:xfrm>
            <a:off x="608013" y="685800"/>
            <a:ext cx="7392988"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lgn="just">
              <a:buNone/>
            </a:pPr>
            <a:r>
              <a:rPr lang="en-US" b="1" dirty="0"/>
              <a:t>Assessment 4</a:t>
            </a:r>
            <a:r>
              <a:rPr lang="en-US" dirty="0"/>
              <a:t>. Design an MZI for filtering at a specific wavelength. Calculate and adjust the arm lengths to configure the MZI to have a maximum transmission at 1550 nm.</a:t>
            </a:r>
          </a:p>
          <a:p>
            <a:pPr algn="just"/>
            <a:endParaRPr lang="en-US" sz="2000" kern="0" dirty="0">
              <a:solidFill>
                <a:sysClr val="windowText" lastClr="000000"/>
              </a:solidFill>
            </a:endParaRPr>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FDE3A197-9508-F9F1-1FEB-FF883D78C151}"/>
                  </a:ext>
                </a:extLst>
              </p:cNvPr>
              <p:cNvSpPr txBox="1"/>
              <p:nvPr/>
            </p:nvSpPr>
            <p:spPr>
              <a:xfrm>
                <a:off x="608012" y="1623666"/>
                <a:ext cx="7010559" cy="3992118"/>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We want one of the outputs to have the strongest constructive interference at a specific wavelength. Therefore, the phase difference must satisfy</a:t>
                </a:r>
                <a:endParaRPr lang="es-ES" sz="1200" dirty="0">
                  <a:latin typeface="Arial" panose="020B0604020202020204" pitchFamily="34" charset="0"/>
                  <a:cs typeface="Arial" panose="020B0604020202020204" pitchFamily="34" charset="0"/>
                </a:endParaRPr>
              </a:p>
              <a:p>
                <a:pPr algn="just"/>
                <a14:m>
                  <m:oMathPara xmlns:m="http://schemas.openxmlformats.org/officeDocument/2006/math">
                    <m:oMathParaPr>
                      <m:jc m:val="centerGroup"/>
                    </m:oMathParaPr>
                    <m:oMath xmlns:m="http://schemas.openxmlformats.org/officeDocument/2006/math">
                      <m:r>
                        <a:rPr lang="es-ES" sz="1200" i="1" dirty="0" smtClean="0">
                          <a:latin typeface="Cambria Math" panose="02040503050406030204" pitchFamily="18" charset="0"/>
                          <a:ea typeface="Cambria Math" panose="02040503050406030204" pitchFamily="18" charset="0"/>
                          <a:cs typeface="Arial" panose="020B0604020202020204" pitchFamily="34" charset="0"/>
                        </a:rPr>
                        <m:t>∆∅</m:t>
                      </m:r>
                      <m:r>
                        <m:rPr>
                          <m:nor/>
                        </m:rPr>
                        <a:rPr lang="es-ES" sz="1200" b="0" i="0" dirty="0" smtClean="0">
                          <a:latin typeface="Cambria Math" panose="02040503050406030204" pitchFamily="18" charset="0"/>
                          <a:ea typeface="Cambria Math" panose="02040503050406030204" pitchFamily="18" charset="0"/>
                          <a:cs typeface="Arial" panose="020B0604020202020204" pitchFamily="34" charset="0"/>
                        </a:rPr>
                        <m:t>=2</m:t>
                      </m:r>
                      <m:r>
                        <m:rPr>
                          <m:sty m:val="p"/>
                        </m:rPr>
                        <a:rPr lang="el-GR" sz="1200" b="0" i="1" dirty="0" smtClean="0">
                          <a:latin typeface="Cambria Math" panose="02040503050406030204" pitchFamily="18" charset="0"/>
                          <a:ea typeface="Cambria Math" panose="02040503050406030204" pitchFamily="18" charset="0"/>
                          <a:cs typeface="Arial" panose="020B0604020202020204" pitchFamily="34" charset="0"/>
                        </a:rPr>
                        <m:t>π</m:t>
                      </m:r>
                      <m:r>
                        <a:rPr lang="es-ES" sz="1200" b="0" i="1" dirty="0" smtClean="0">
                          <a:latin typeface="Cambria Math" panose="02040503050406030204" pitchFamily="18" charset="0"/>
                          <a:ea typeface="Cambria Math" panose="02040503050406030204" pitchFamily="18" charset="0"/>
                          <a:cs typeface="Arial" panose="020B0604020202020204" pitchFamily="34" charset="0"/>
                        </a:rPr>
                        <m:t>𝑚</m:t>
                      </m:r>
                    </m:oMath>
                  </m:oMathPara>
                </a14:m>
                <a:endParaRPr lang="es-ES" sz="1200" dirty="0">
                  <a:latin typeface="Arial" panose="020B0604020202020204" pitchFamily="34" charset="0"/>
                  <a:cs typeface="Arial" panose="020B0604020202020204" pitchFamily="34" charset="0"/>
                </a:endParaRPr>
              </a:p>
              <a:p>
                <a:pPr algn="just"/>
                <a:endParaRPr lang="es-E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Considering that the phase is given by</a:t>
                </a:r>
                <a:endParaRPr lang="es-ES" sz="1200" dirty="0">
                  <a:latin typeface="Arial" panose="020B0604020202020204" pitchFamily="34" charset="0"/>
                  <a:cs typeface="Arial" panose="020B0604020202020204" pitchFamily="34" charset="0"/>
                </a:endParaRPr>
              </a:p>
              <a:p>
                <a:pPr algn="just"/>
                <a14:m>
                  <m:oMathPara xmlns:m="http://schemas.openxmlformats.org/officeDocument/2006/math">
                    <m:oMathParaPr>
                      <m:jc m:val="centerGroup"/>
                    </m:oMathParaPr>
                    <m:oMath xmlns:m="http://schemas.openxmlformats.org/officeDocument/2006/math">
                      <m:r>
                        <a:rPr lang="es-ES" sz="1200" i="1" dirty="0">
                          <a:latin typeface="Cambria Math" panose="02040503050406030204" pitchFamily="18" charset="0"/>
                          <a:ea typeface="Cambria Math" panose="02040503050406030204" pitchFamily="18" charset="0"/>
                          <a:cs typeface="Arial" panose="020B0604020202020204" pitchFamily="34" charset="0"/>
                        </a:rPr>
                        <m:t>∆∅</m:t>
                      </m:r>
                      <m:r>
                        <a:rPr lang="es-ES" sz="1200" b="0" i="1" dirty="0" smtClean="0">
                          <a:latin typeface="Cambria Math" panose="02040503050406030204" pitchFamily="18" charset="0"/>
                          <a:ea typeface="Cambria Math" panose="02040503050406030204" pitchFamily="18" charset="0"/>
                          <a:cs typeface="Arial" panose="020B0604020202020204" pitchFamily="34" charset="0"/>
                        </a:rPr>
                        <m:t>=</m:t>
                      </m:r>
                      <m:r>
                        <a:rPr lang="es-ES" sz="1200" b="0" i="1" dirty="0" smtClean="0">
                          <a:latin typeface="Cambria Math" panose="02040503050406030204" pitchFamily="18" charset="0"/>
                          <a:ea typeface="Cambria Math" panose="02040503050406030204" pitchFamily="18" charset="0"/>
                          <a:cs typeface="Arial" panose="020B0604020202020204" pitchFamily="34" charset="0"/>
                        </a:rPr>
                        <m:t>𝛽</m:t>
                      </m:r>
                      <m:r>
                        <a:rPr lang="es-ES" sz="1200" b="0" i="1" dirty="0" smtClean="0">
                          <a:latin typeface="Cambria Math" panose="02040503050406030204" pitchFamily="18" charset="0"/>
                          <a:ea typeface="Cambria Math" panose="02040503050406030204" pitchFamily="18" charset="0"/>
                          <a:cs typeface="Arial" panose="020B0604020202020204" pitchFamily="34" charset="0"/>
                        </a:rPr>
                        <m:t>∗</m:t>
                      </m:r>
                      <m:f>
                        <m:fPr>
                          <m:ctrlPr>
                            <a:rPr lang="es-ES" sz="1200" b="0" i="1" dirty="0" smtClean="0">
                              <a:latin typeface="Cambria Math" panose="02040503050406030204" pitchFamily="18" charset="0"/>
                              <a:ea typeface="Cambria Math" panose="02040503050406030204" pitchFamily="18" charset="0"/>
                              <a:cs typeface="Arial" panose="020B0604020202020204" pitchFamily="34" charset="0"/>
                            </a:rPr>
                          </m:ctrlPr>
                        </m:fPr>
                        <m:num>
                          <m:r>
                            <a:rPr lang="es-ES" sz="1200" b="0" i="1" dirty="0" smtClean="0">
                              <a:latin typeface="Cambria Math" panose="02040503050406030204" pitchFamily="18" charset="0"/>
                              <a:ea typeface="Cambria Math" panose="02040503050406030204" pitchFamily="18" charset="0"/>
                              <a:cs typeface="Arial" panose="020B0604020202020204" pitchFamily="34" charset="0"/>
                            </a:rPr>
                            <m:t>∆</m:t>
                          </m:r>
                          <m:r>
                            <a:rPr lang="es-ES" sz="1200" b="0" i="1" dirty="0" smtClean="0">
                              <a:latin typeface="Cambria Math" panose="02040503050406030204" pitchFamily="18" charset="0"/>
                              <a:ea typeface="Cambria Math" panose="02040503050406030204" pitchFamily="18" charset="0"/>
                              <a:cs typeface="Arial" panose="020B0604020202020204" pitchFamily="34" charset="0"/>
                            </a:rPr>
                            <m:t>𝐿</m:t>
                          </m:r>
                        </m:num>
                        <m:den>
                          <m:r>
                            <a:rPr lang="es-ES" sz="1200" b="0" i="1" dirty="0" smtClean="0">
                              <a:latin typeface="Cambria Math" panose="02040503050406030204" pitchFamily="18" charset="0"/>
                              <a:ea typeface="Cambria Math" panose="02040503050406030204" pitchFamily="18" charset="0"/>
                              <a:cs typeface="Arial" panose="020B0604020202020204" pitchFamily="34" charset="0"/>
                            </a:rPr>
                            <m:t>2</m:t>
                          </m:r>
                        </m:den>
                      </m:f>
                      <m:r>
                        <a:rPr lang="es-ES" sz="1200" b="0" i="1" dirty="0" smtClean="0">
                          <a:latin typeface="Cambria Math" panose="02040503050406030204" pitchFamily="18" charset="0"/>
                          <a:ea typeface="Cambria Math" panose="02040503050406030204" pitchFamily="18" charset="0"/>
                          <a:cs typeface="Arial" panose="020B0604020202020204" pitchFamily="34" charset="0"/>
                        </a:rPr>
                        <m:t>=</m:t>
                      </m:r>
                      <m:r>
                        <a:rPr lang="es-ES" sz="1200" b="0" i="1" dirty="0" smtClean="0">
                          <a:latin typeface="Cambria Math" panose="02040503050406030204" pitchFamily="18" charset="0"/>
                          <a:ea typeface="Cambria Math" panose="02040503050406030204" pitchFamily="18" charset="0"/>
                          <a:cs typeface="Arial" panose="020B0604020202020204" pitchFamily="34" charset="0"/>
                        </a:rPr>
                        <m:t>𝜋</m:t>
                      </m:r>
                      <m:r>
                        <a:rPr lang="es-ES" sz="1200" b="0" i="1" dirty="0" smtClean="0">
                          <a:latin typeface="Cambria Math" panose="02040503050406030204" pitchFamily="18" charset="0"/>
                          <a:ea typeface="Cambria Math" panose="02040503050406030204" pitchFamily="18" charset="0"/>
                          <a:cs typeface="Arial" panose="020B0604020202020204" pitchFamily="34" charset="0"/>
                        </a:rPr>
                        <m:t>∗</m:t>
                      </m:r>
                      <m:sSub>
                        <m:sSubPr>
                          <m:ctrlPr>
                            <a:rPr lang="es-ES" sz="1200" b="0" i="1" dirty="0" smtClean="0">
                              <a:latin typeface="Cambria Math" panose="02040503050406030204" pitchFamily="18" charset="0"/>
                              <a:ea typeface="Cambria Math" panose="02040503050406030204" pitchFamily="18" charset="0"/>
                              <a:cs typeface="Arial" panose="020B0604020202020204" pitchFamily="34" charset="0"/>
                            </a:rPr>
                          </m:ctrlPr>
                        </m:sSubPr>
                        <m:e>
                          <m:r>
                            <a:rPr lang="es-ES" sz="1200" b="0" i="1" dirty="0" smtClean="0">
                              <a:latin typeface="Cambria Math" panose="02040503050406030204" pitchFamily="18" charset="0"/>
                              <a:ea typeface="Cambria Math" panose="02040503050406030204" pitchFamily="18" charset="0"/>
                              <a:cs typeface="Arial" panose="020B0604020202020204" pitchFamily="34" charset="0"/>
                            </a:rPr>
                            <m:t>𝑛</m:t>
                          </m:r>
                        </m:e>
                        <m:sub>
                          <m:r>
                            <a:rPr lang="es-ES" sz="1200" b="0" i="1" dirty="0" smtClean="0">
                              <a:latin typeface="Cambria Math" panose="02040503050406030204" pitchFamily="18" charset="0"/>
                              <a:ea typeface="Cambria Math" panose="02040503050406030204" pitchFamily="18" charset="0"/>
                              <a:cs typeface="Arial" panose="020B0604020202020204" pitchFamily="34" charset="0"/>
                            </a:rPr>
                            <m:t>𝑒𝑓𝑓</m:t>
                          </m:r>
                        </m:sub>
                      </m:sSub>
                      <m:r>
                        <a:rPr lang="es-ES" sz="1200" b="0" i="1" dirty="0" smtClean="0">
                          <a:latin typeface="Cambria Math" panose="02040503050406030204" pitchFamily="18" charset="0"/>
                          <a:ea typeface="Cambria Math" panose="02040503050406030204" pitchFamily="18" charset="0"/>
                          <a:cs typeface="Arial" panose="020B0604020202020204" pitchFamily="34" charset="0"/>
                        </a:rPr>
                        <m:t>∗</m:t>
                      </m:r>
                      <m:f>
                        <m:fPr>
                          <m:ctrlPr>
                            <a:rPr lang="es-ES" sz="1200" b="0" i="1" dirty="0" smtClean="0">
                              <a:latin typeface="Cambria Math" panose="02040503050406030204" pitchFamily="18" charset="0"/>
                              <a:ea typeface="Cambria Math" panose="02040503050406030204" pitchFamily="18" charset="0"/>
                              <a:cs typeface="Arial" panose="020B0604020202020204" pitchFamily="34" charset="0"/>
                            </a:rPr>
                          </m:ctrlPr>
                        </m:fPr>
                        <m:num>
                          <m:r>
                            <a:rPr lang="es-ES" sz="1200" b="0" i="1" dirty="0" smtClean="0">
                              <a:latin typeface="Cambria Math" panose="02040503050406030204" pitchFamily="18" charset="0"/>
                              <a:ea typeface="Cambria Math" panose="02040503050406030204" pitchFamily="18" charset="0"/>
                              <a:cs typeface="Arial" panose="020B0604020202020204" pitchFamily="34" charset="0"/>
                            </a:rPr>
                            <m:t>∆</m:t>
                          </m:r>
                          <m:r>
                            <a:rPr lang="es-ES" sz="1200" b="0" i="1" dirty="0" smtClean="0">
                              <a:latin typeface="Cambria Math" panose="02040503050406030204" pitchFamily="18" charset="0"/>
                              <a:ea typeface="Cambria Math" panose="02040503050406030204" pitchFamily="18" charset="0"/>
                              <a:cs typeface="Arial" panose="020B0604020202020204" pitchFamily="34" charset="0"/>
                            </a:rPr>
                            <m:t>𝐿</m:t>
                          </m:r>
                        </m:num>
                        <m:den>
                          <m:r>
                            <a:rPr lang="es-ES" sz="1200" b="0" i="1" dirty="0" smtClean="0">
                              <a:latin typeface="Cambria Math" panose="02040503050406030204" pitchFamily="18" charset="0"/>
                              <a:ea typeface="Cambria Math" panose="02040503050406030204" pitchFamily="18" charset="0"/>
                              <a:cs typeface="Arial" panose="020B0604020202020204" pitchFamily="34" charset="0"/>
                            </a:rPr>
                            <m:t>𝜆</m:t>
                          </m:r>
                        </m:den>
                      </m:f>
                    </m:oMath>
                  </m:oMathPara>
                </a14:m>
                <a:endParaRPr lang="es-E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Equating both expressions:</a:t>
                </a:r>
                <a:endParaRPr lang="es-ES" sz="1200" i="1" dirty="0">
                  <a:latin typeface="Cambria Math" panose="02040503050406030204" pitchFamily="18" charset="0"/>
                  <a:ea typeface="Cambria Math" panose="02040503050406030204" pitchFamily="18" charset="0"/>
                  <a:cs typeface="Arial" panose="020B0604020202020204" pitchFamily="34" charset="0"/>
                </a:endParaRPr>
              </a:p>
              <a:p>
                <a:pPr algn="just"/>
                <a14:m>
                  <m:oMathPara xmlns:m="http://schemas.openxmlformats.org/officeDocument/2006/math">
                    <m:oMathParaPr>
                      <m:jc m:val="centerGroup"/>
                    </m:oMathParaPr>
                    <m:oMath xmlns:m="http://schemas.openxmlformats.org/officeDocument/2006/math">
                      <m:r>
                        <a:rPr lang="es-ES" sz="1200" i="1" dirty="0">
                          <a:latin typeface="Cambria Math" panose="02040503050406030204" pitchFamily="18" charset="0"/>
                          <a:ea typeface="Cambria Math" panose="02040503050406030204" pitchFamily="18" charset="0"/>
                          <a:cs typeface="Arial" panose="020B0604020202020204" pitchFamily="34" charset="0"/>
                        </a:rPr>
                        <m:t>∆∅</m:t>
                      </m:r>
                      <m:r>
                        <a:rPr lang="es-ES" sz="1200" b="0" i="1" dirty="0" smtClean="0">
                          <a:latin typeface="Cambria Math" panose="02040503050406030204" pitchFamily="18" charset="0"/>
                          <a:ea typeface="Cambria Math" panose="02040503050406030204" pitchFamily="18" charset="0"/>
                          <a:cs typeface="Arial" panose="020B0604020202020204" pitchFamily="34" charset="0"/>
                        </a:rPr>
                        <m:t>=</m:t>
                      </m:r>
                      <m:r>
                        <a:rPr lang="es-ES" sz="1200" i="1" dirty="0">
                          <a:latin typeface="Cambria Math" panose="02040503050406030204" pitchFamily="18" charset="0"/>
                          <a:ea typeface="Cambria Math" panose="02040503050406030204" pitchFamily="18" charset="0"/>
                          <a:cs typeface="Arial" panose="020B0604020202020204" pitchFamily="34" charset="0"/>
                        </a:rPr>
                        <m:t>𝜋</m:t>
                      </m:r>
                      <m:r>
                        <a:rPr lang="es-ES" sz="1200" i="1" dirty="0">
                          <a:latin typeface="Cambria Math" panose="02040503050406030204" pitchFamily="18" charset="0"/>
                          <a:ea typeface="Cambria Math" panose="02040503050406030204" pitchFamily="18" charset="0"/>
                          <a:cs typeface="Arial" panose="020B0604020202020204" pitchFamily="34" charset="0"/>
                        </a:rPr>
                        <m:t>∗</m:t>
                      </m:r>
                      <m:sSub>
                        <m:sSubPr>
                          <m:ctrlPr>
                            <a:rPr lang="es-ES" sz="1200" i="1" dirty="0">
                              <a:latin typeface="Cambria Math" panose="02040503050406030204" pitchFamily="18" charset="0"/>
                              <a:ea typeface="Cambria Math" panose="02040503050406030204" pitchFamily="18" charset="0"/>
                              <a:cs typeface="Arial" panose="020B0604020202020204" pitchFamily="34" charset="0"/>
                            </a:rPr>
                          </m:ctrlPr>
                        </m:sSubPr>
                        <m:e>
                          <m:r>
                            <a:rPr lang="es-ES" sz="1200" i="1" dirty="0">
                              <a:latin typeface="Cambria Math" panose="02040503050406030204" pitchFamily="18" charset="0"/>
                              <a:ea typeface="Cambria Math" panose="02040503050406030204" pitchFamily="18" charset="0"/>
                              <a:cs typeface="Arial" panose="020B0604020202020204" pitchFamily="34" charset="0"/>
                            </a:rPr>
                            <m:t>𝑛</m:t>
                          </m:r>
                        </m:e>
                        <m:sub>
                          <m:r>
                            <a:rPr lang="es-ES" sz="1200" i="1" dirty="0">
                              <a:latin typeface="Cambria Math" panose="02040503050406030204" pitchFamily="18" charset="0"/>
                              <a:ea typeface="Cambria Math" panose="02040503050406030204" pitchFamily="18" charset="0"/>
                              <a:cs typeface="Arial" panose="020B0604020202020204" pitchFamily="34" charset="0"/>
                            </a:rPr>
                            <m:t>𝑒𝑓𝑓</m:t>
                          </m:r>
                        </m:sub>
                      </m:sSub>
                      <m:r>
                        <a:rPr lang="es-ES" sz="1200" i="1" dirty="0">
                          <a:latin typeface="Cambria Math" panose="02040503050406030204" pitchFamily="18" charset="0"/>
                          <a:ea typeface="Cambria Math" panose="02040503050406030204" pitchFamily="18" charset="0"/>
                          <a:cs typeface="Arial" panose="020B0604020202020204" pitchFamily="34" charset="0"/>
                        </a:rPr>
                        <m:t>∗</m:t>
                      </m:r>
                      <m:f>
                        <m:fPr>
                          <m:ctrlPr>
                            <a:rPr lang="es-ES" sz="1200" i="1" dirty="0">
                              <a:latin typeface="Cambria Math" panose="02040503050406030204" pitchFamily="18" charset="0"/>
                              <a:ea typeface="Cambria Math" panose="02040503050406030204" pitchFamily="18" charset="0"/>
                              <a:cs typeface="Arial" panose="020B0604020202020204" pitchFamily="34" charset="0"/>
                            </a:rPr>
                          </m:ctrlPr>
                        </m:fPr>
                        <m:num>
                          <m:r>
                            <a:rPr lang="es-ES" sz="1200" i="1" dirty="0">
                              <a:latin typeface="Cambria Math" panose="02040503050406030204" pitchFamily="18" charset="0"/>
                              <a:ea typeface="Cambria Math" panose="02040503050406030204" pitchFamily="18" charset="0"/>
                              <a:cs typeface="Arial" panose="020B0604020202020204" pitchFamily="34" charset="0"/>
                            </a:rPr>
                            <m:t>∆</m:t>
                          </m:r>
                          <m:r>
                            <a:rPr lang="es-ES" sz="1200" i="1" dirty="0">
                              <a:latin typeface="Cambria Math" panose="02040503050406030204" pitchFamily="18" charset="0"/>
                              <a:ea typeface="Cambria Math" panose="02040503050406030204" pitchFamily="18" charset="0"/>
                              <a:cs typeface="Arial" panose="020B0604020202020204" pitchFamily="34" charset="0"/>
                            </a:rPr>
                            <m:t>𝐿</m:t>
                          </m:r>
                        </m:num>
                        <m:den>
                          <m:r>
                            <a:rPr lang="es-ES" sz="1200" i="1" dirty="0">
                              <a:latin typeface="Cambria Math" panose="02040503050406030204" pitchFamily="18" charset="0"/>
                              <a:ea typeface="Cambria Math" panose="02040503050406030204" pitchFamily="18" charset="0"/>
                              <a:cs typeface="Arial" panose="020B0604020202020204" pitchFamily="34" charset="0"/>
                            </a:rPr>
                            <m:t>𝜆</m:t>
                          </m:r>
                        </m:den>
                      </m:f>
                      <m:r>
                        <a:rPr lang="es-ES" sz="1200" b="0" i="1" dirty="0" smtClean="0">
                          <a:latin typeface="Cambria Math" panose="02040503050406030204" pitchFamily="18" charset="0"/>
                          <a:ea typeface="Cambria Math" panose="02040503050406030204" pitchFamily="18" charset="0"/>
                          <a:cs typeface="Arial" panose="020B0604020202020204" pitchFamily="34" charset="0"/>
                        </a:rPr>
                        <m:t>=</m:t>
                      </m:r>
                      <m:r>
                        <m:rPr>
                          <m:nor/>
                        </m:rPr>
                        <a:rPr lang="es-ES" sz="1200" dirty="0">
                          <a:latin typeface="Cambria Math" panose="02040503050406030204" pitchFamily="18" charset="0"/>
                          <a:ea typeface="Cambria Math" panose="02040503050406030204" pitchFamily="18" charset="0"/>
                          <a:cs typeface="Arial" panose="020B0604020202020204" pitchFamily="34" charset="0"/>
                        </a:rPr>
                        <m:t>2</m:t>
                      </m:r>
                      <m:r>
                        <m:rPr>
                          <m:sty m:val="p"/>
                        </m:rPr>
                        <a:rPr lang="el-GR" sz="1200" i="1" dirty="0">
                          <a:latin typeface="Cambria Math" panose="02040503050406030204" pitchFamily="18" charset="0"/>
                          <a:ea typeface="Cambria Math" panose="02040503050406030204" pitchFamily="18" charset="0"/>
                          <a:cs typeface="Arial" panose="020B0604020202020204" pitchFamily="34" charset="0"/>
                        </a:rPr>
                        <m:t>π</m:t>
                      </m:r>
                      <m:r>
                        <a:rPr lang="es-ES" sz="1200" i="1" dirty="0">
                          <a:latin typeface="Cambria Math" panose="02040503050406030204" pitchFamily="18" charset="0"/>
                          <a:ea typeface="Cambria Math" panose="02040503050406030204" pitchFamily="18" charset="0"/>
                          <a:cs typeface="Arial" panose="020B0604020202020204" pitchFamily="34" charset="0"/>
                        </a:rPr>
                        <m:t>𝑚</m:t>
                      </m:r>
                    </m:oMath>
                  </m:oMathPara>
                </a14:m>
                <a:endParaRPr lang="es-ES" sz="1200" dirty="0">
                  <a:latin typeface="Arial" panose="020B0604020202020204" pitchFamily="34" charset="0"/>
                  <a:cs typeface="Arial" panose="020B0604020202020204" pitchFamily="34" charset="0"/>
                </a:endParaRPr>
              </a:p>
              <a:p>
                <a:pPr algn="just"/>
                <a:endParaRPr lang="es-E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Solving for the difference between the arms:</a:t>
                </a:r>
              </a:p>
              <a:p>
                <a:pPr algn="just"/>
                <a14:m>
                  <m:oMathPara xmlns:m="http://schemas.openxmlformats.org/officeDocument/2006/math">
                    <m:oMathParaPr>
                      <m:jc m:val="centerGroup"/>
                    </m:oMathParaPr>
                    <m:oMath xmlns:m="http://schemas.openxmlformats.org/officeDocument/2006/math">
                      <m:r>
                        <a:rPr lang="es-ES" sz="1200" i="1" dirty="0">
                          <a:latin typeface="Cambria Math" panose="02040503050406030204" pitchFamily="18" charset="0"/>
                          <a:ea typeface="Cambria Math" panose="02040503050406030204" pitchFamily="18" charset="0"/>
                          <a:cs typeface="Arial" panose="020B0604020202020204" pitchFamily="34" charset="0"/>
                        </a:rPr>
                        <m:t>∆</m:t>
                      </m:r>
                      <m:r>
                        <a:rPr lang="es-ES" sz="1200" i="1" dirty="0">
                          <a:latin typeface="Cambria Math" panose="02040503050406030204" pitchFamily="18" charset="0"/>
                          <a:ea typeface="Cambria Math" panose="02040503050406030204" pitchFamily="18" charset="0"/>
                          <a:cs typeface="Arial" panose="020B0604020202020204" pitchFamily="34" charset="0"/>
                        </a:rPr>
                        <m:t>𝐿</m:t>
                      </m:r>
                      <m:r>
                        <a:rPr lang="es-ES" sz="1200" i="1" dirty="0">
                          <a:latin typeface="Cambria Math" panose="02040503050406030204" pitchFamily="18" charset="0"/>
                          <a:ea typeface="Cambria Math" panose="02040503050406030204" pitchFamily="18" charset="0"/>
                          <a:cs typeface="Arial" panose="020B0604020202020204" pitchFamily="34" charset="0"/>
                        </a:rPr>
                        <m:t>=</m:t>
                      </m:r>
                      <m:f>
                        <m:fPr>
                          <m:ctrlPr>
                            <a:rPr lang="es-ES" sz="1200" b="0" i="1" dirty="0" smtClean="0">
                              <a:latin typeface="Cambria Math" panose="02040503050406030204" pitchFamily="18" charset="0"/>
                              <a:ea typeface="Cambria Math" panose="02040503050406030204" pitchFamily="18" charset="0"/>
                              <a:cs typeface="Arial" panose="020B0604020202020204" pitchFamily="34" charset="0"/>
                            </a:rPr>
                          </m:ctrlPr>
                        </m:fPr>
                        <m:num>
                          <m:r>
                            <m:rPr>
                              <m:nor/>
                            </m:rPr>
                            <a:rPr lang="es-ES" sz="1200" dirty="0">
                              <a:latin typeface="Cambria Math" panose="02040503050406030204" pitchFamily="18" charset="0"/>
                              <a:ea typeface="Cambria Math" panose="02040503050406030204" pitchFamily="18" charset="0"/>
                              <a:cs typeface="Arial" panose="020B0604020202020204" pitchFamily="34" charset="0"/>
                            </a:rPr>
                            <m:t>2</m:t>
                          </m:r>
                          <m:r>
                            <m:rPr>
                              <m:sty m:val="p"/>
                            </m:rPr>
                            <a:rPr lang="el-GR" sz="1200" i="1" dirty="0">
                              <a:latin typeface="Cambria Math" panose="02040503050406030204" pitchFamily="18" charset="0"/>
                              <a:ea typeface="Cambria Math" panose="02040503050406030204" pitchFamily="18" charset="0"/>
                              <a:cs typeface="Arial" panose="020B0604020202020204" pitchFamily="34" charset="0"/>
                            </a:rPr>
                            <m:t>π</m:t>
                          </m:r>
                          <m:r>
                            <a:rPr lang="es-ES" sz="1200" i="1" dirty="0">
                              <a:latin typeface="Cambria Math" panose="02040503050406030204" pitchFamily="18" charset="0"/>
                              <a:ea typeface="Cambria Math" panose="02040503050406030204" pitchFamily="18" charset="0"/>
                              <a:cs typeface="Arial" panose="020B0604020202020204" pitchFamily="34" charset="0"/>
                            </a:rPr>
                            <m:t>𝑚</m:t>
                          </m:r>
                          <m:r>
                            <a:rPr lang="es-ES" sz="1200" i="1" dirty="0">
                              <a:latin typeface="Cambria Math" panose="02040503050406030204" pitchFamily="18" charset="0"/>
                              <a:ea typeface="Cambria Math" panose="02040503050406030204" pitchFamily="18" charset="0"/>
                              <a:cs typeface="Arial" panose="020B0604020202020204" pitchFamily="34" charset="0"/>
                            </a:rPr>
                            <m:t>𝜆</m:t>
                          </m:r>
                        </m:num>
                        <m:den>
                          <m:r>
                            <a:rPr lang="es-ES" sz="1200" i="1" dirty="0">
                              <a:latin typeface="Cambria Math" panose="02040503050406030204" pitchFamily="18" charset="0"/>
                              <a:ea typeface="Cambria Math" panose="02040503050406030204" pitchFamily="18" charset="0"/>
                              <a:cs typeface="Arial" panose="020B0604020202020204" pitchFamily="34" charset="0"/>
                            </a:rPr>
                            <m:t>𝜋</m:t>
                          </m:r>
                          <m:sSub>
                            <m:sSubPr>
                              <m:ctrlPr>
                                <a:rPr lang="es-ES" sz="1200" i="1" dirty="0">
                                  <a:latin typeface="Cambria Math" panose="02040503050406030204" pitchFamily="18" charset="0"/>
                                  <a:ea typeface="Cambria Math" panose="02040503050406030204" pitchFamily="18" charset="0"/>
                                  <a:cs typeface="Arial" panose="020B0604020202020204" pitchFamily="34" charset="0"/>
                                </a:rPr>
                              </m:ctrlPr>
                            </m:sSubPr>
                            <m:e>
                              <m:r>
                                <a:rPr lang="es-ES" sz="1200" i="1" dirty="0">
                                  <a:latin typeface="Cambria Math" panose="02040503050406030204" pitchFamily="18" charset="0"/>
                                  <a:ea typeface="Cambria Math" panose="02040503050406030204" pitchFamily="18" charset="0"/>
                                  <a:cs typeface="Arial" panose="020B0604020202020204" pitchFamily="34" charset="0"/>
                                </a:rPr>
                                <m:t>𝑛</m:t>
                              </m:r>
                            </m:e>
                            <m:sub>
                              <m:r>
                                <a:rPr lang="es-ES" sz="1200" i="1" dirty="0">
                                  <a:latin typeface="Cambria Math" panose="02040503050406030204" pitchFamily="18" charset="0"/>
                                  <a:ea typeface="Cambria Math" panose="02040503050406030204" pitchFamily="18" charset="0"/>
                                  <a:cs typeface="Arial" panose="020B0604020202020204" pitchFamily="34" charset="0"/>
                                </a:rPr>
                                <m:t>𝑒𝑓𝑓</m:t>
                              </m:r>
                              <m:r>
                                <a:rPr lang="es-ES" sz="1200" b="0" i="1" dirty="0" smtClean="0">
                                  <a:latin typeface="Cambria Math" panose="02040503050406030204" pitchFamily="18" charset="0"/>
                                  <a:ea typeface="Cambria Math" panose="02040503050406030204" pitchFamily="18" charset="0"/>
                                  <a:cs typeface="Arial" panose="020B0604020202020204" pitchFamily="34" charset="0"/>
                                </a:rPr>
                                <m:t> </m:t>
                              </m:r>
                            </m:sub>
                          </m:sSub>
                        </m:den>
                      </m:f>
                      <m:r>
                        <a:rPr lang="es-ES" sz="1200" b="0" i="1" dirty="0" smtClean="0">
                          <a:latin typeface="Cambria Math" panose="02040503050406030204" pitchFamily="18" charset="0"/>
                          <a:ea typeface="Cambria Math" panose="02040503050406030204" pitchFamily="18" charset="0"/>
                          <a:cs typeface="Arial" panose="020B0604020202020204" pitchFamily="34" charset="0"/>
                        </a:rPr>
                        <m:t>=</m:t>
                      </m:r>
                      <m:f>
                        <m:fPr>
                          <m:ctrlPr>
                            <a:rPr lang="es-ES" sz="1200" b="0" i="1" dirty="0" smtClean="0">
                              <a:latin typeface="Cambria Math" panose="02040503050406030204" pitchFamily="18" charset="0"/>
                              <a:ea typeface="Cambria Math" panose="02040503050406030204" pitchFamily="18" charset="0"/>
                              <a:cs typeface="Arial" panose="020B0604020202020204" pitchFamily="34" charset="0"/>
                            </a:rPr>
                          </m:ctrlPr>
                        </m:fPr>
                        <m:num>
                          <m:r>
                            <a:rPr lang="es-ES" sz="1200" b="0" i="1" dirty="0" smtClean="0">
                              <a:latin typeface="Cambria Math" panose="02040503050406030204" pitchFamily="18" charset="0"/>
                              <a:ea typeface="Cambria Math" panose="02040503050406030204" pitchFamily="18" charset="0"/>
                              <a:cs typeface="Arial" panose="020B0604020202020204" pitchFamily="34" charset="0"/>
                            </a:rPr>
                            <m:t>2</m:t>
                          </m:r>
                          <m:r>
                            <a:rPr lang="es-ES" sz="1200" i="1" dirty="0">
                              <a:latin typeface="Cambria Math" panose="02040503050406030204" pitchFamily="18" charset="0"/>
                              <a:ea typeface="Cambria Math" panose="02040503050406030204" pitchFamily="18" charset="0"/>
                              <a:cs typeface="Arial" panose="020B0604020202020204" pitchFamily="34" charset="0"/>
                            </a:rPr>
                            <m:t>𝑚</m:t>
                          </m:r>
                          <m:r>
                            <a:rPr lang="es-ES" sz="1200" i="1" dirty="0">
                              <a:latin typeface="Cambria Math" panose="02040503050406030204" pitchFamily="18" charset="0"/>
                              <a:ea typeface="Cambria Math" panose="02040503050406030204" pitchFamily="18" charset="0"/>
                              <a:cs typeface="Arial" panose="020B0604020202020204" pitchFamily="34" charset="0"/>
                            </a:rPr>
                            <m:t>𝜆</m:t>
                          </m:r>
                        </m:num>
                        <m:den>
                          <m:sSub>
                            <m:sSubPr>
                              <m:ctrlPr>
                                <a:rPr lang="es-ES" sz="1200" b="0" i="1" dirty="0" smtClean="0">
                                  <a:latin typeface="Cambria Math" panose="02040503050406030204" pitchFamily="18" charset="0"/>
                                  <a:ea typeface="Cambria Math" panose="02040503050406030204" pitchFamily="18" charset="0"/>
                                  <a:cs typeface="Arial" panose="020B0604020202020204" pitchFamily="34" charset="0"/>
                                </a:rPr>
                              </m:ctrlPr>
                            </m:sSubPr>
                            <m:e>
                              <m:r>
                                <a:rPr lang="es-ES" sz="1200" b="0" i="1" dirty="0" smtClean="0">
                                  <a:latin typeface="Cambria Math" panose="02040503050406030204" pitchFamily="18" charset="0"/>
                                  <a:ea typeface="Cambria Math" panose="02040503050406030204" pitchFamily="18" charset="0"/>
                                  <a:cs typeface="Arial" panose="020B0604020202020204" pitchFamily="34" charset="0"/>
                                </a:rPr>
                                <m:t>𝑛</m:t>
                              </m:r>
                            </m:e>
                            <m:sub>
                              <m:r>
                                <a:rPr lang="es-ES" sz="1200" b="0" i="1" dirty="0" smtClean="0">
                                  <a:latin typeface="Cambria Math" panose="02040503050406030204" pitchFamily="18" charset="0"/>
                                  <a:ea typeface="Cambria Math" panose="02040503050406030204" pitchFamily="18" charset="0"/>
                                  <a:cs typeface="Arial" panose="020B0604020202020204" pitchFamily="34" charset="0"/>
                                </a:rPr>
                                <m:t>𝑒𝑓𝑓</m:t>
                              </m:r>
                            </m:sub>
                          </m:sSub>
                        </m:den>
                      </m:f>
                    </m:oMath>
                  </m:oMathPara>
                </a14:m>
                <a:endParaRPr lang="es-ES" sz="1200" dirty="0">
                  <a:latin typeface="Arial" panose="020B0604020202020204" pitchFamily="34" charset="0"/>
                  <a:cs typeface="Arial" panose="020B0604020202020204" pitchFamily="34" charset="0"/>
                </a:endParaRPr>
              </a:p>
              <a:p>
                <a:pPr algn="just"/>
                <a:endParaRPr lang="es-ES" sz="1200" dirty="0">
                  <a:latin typeface="Arial" panose="020B0604020202020204" pitchFamily="34" charset="0"/>
                  <a:cs typeface="Arial" panose="020B0604020202020204" pitchFamily="34" charset="0"/>
                </a:endParaRPr>
              </a:p>
              <a:p>
                <a:pPr algn="just"/>
                <a:r>
                  <a:rPr lang="es-ES" sz="1200" dirty="0" err="1">
                    <a:latin typeface="Arial" panose="020B0604020202020204" pitchFamily="34" charset="0"/>
                    <a:cs typeface="Arial" panose="020B0604020202020204" pitchFamily="34" charset="0"/>
                  </a:rPr>
                  <a:t>Taking</a:t>
                </a:r>
                <a:r>
                  <a:rPr lang="es-ES" sz="1200" dirty="0">
                    <a:latin typeface="Arial" panose="020B0604020202020204" pitchFamily="34" charset="0"/>
                    <a:cs typeface="Arial" panose="020B0604020202020204" pitchFamily="34" charset="0"/>
                  </a:rPr>
                  <a:t> m=20:</a:t>
                </a:r>
              </a:p>
              <a:p>
                <a:pPr algn="just"/>
                <a14:m>
                  <m:oMathPara xmlns:m="http://schemas.openxmlformats.org/officeDocument/2006/math">
                    <m:oMathParaPr>
                      <m:jc m:val="centerGroup"/>
                    </m:oMathParaPr>
                    <m:oMath xmlns:m="http://schemas.openxmlformats.org/officeDocument/2006/math">
                      <m:r>
                        <a:rPr lang="es-ES" sz="1200" i="1" dirty="0">
                          <a:latin typeface="Cambria Math" panose="02040503050406030204" pitchFamily="18" charset="0"/>
                          <a:ea typeface="Cambria Math" panose="02040503050406030204" pitchFamily="18" charset="0"/>
                          <a:cs typeface="Arial" panose="020B0604020202020204" pitchFamily="34" charset="0"/>
                        </a:rPr>
                        <m:t>∆</m:t>
                      </m:r>
                      <m:r>
                        <a:rPr lang="es-ES" sz="1200" i="1" dirty="0">
                          <a:latin typeface="Cambria Math" panose="02040503050406030204" pitchFamily="18" charset="0"/>
                          <a:ea typeface="Cambria Math" panose="02040503050406030204" pitchFamily="18" charset="0"/>
                          <a:cs typeface="Arial" panose="020B0604020202020204" pitchFamily="34" charset="0"/>
                        </a:rPr>
                        <m:t>𝐿</m:t>
                      </m:r>
                      <m:r>
                        <a:rPr lang="es-ES" sz="1200" i="1" dirty="0">
                          <a:latin typeface="Cambria Math" panose="02040503050406030204" pitchFamily="18" charset="0"/>
                          <a:ea typeface="Cambria Math" panose="02040503050406030204" pitchFamily="18" charset="0"/>
                          <a:cs typeface="Arial" panose="020B0604020202020204" pitchFamily="34" charset="0"/>
                        </a:rPr>
                        <m:t>=</m:t>
                      </m:r>
                      <m:f>
                        <m:fPr>
                          <m:ctrlPr>
                            <a:rPr lang="es-ES" sz="1200" i="1" dirty="0">
                              <a:latin typeface="Cambria Math" panose="02040503050406030204" pitchFamily="18" charset="0"/>
                              <a:ea typeface="Cambria Math" panose="02040503050406030204" pitchFamily="18" charset="0"/>
                              <a:cs typeface="Arial" panose="020B0604020202020204" pitchFamily="34" charset="0"/>
                            </a:rPr>
                          </m:ctrlPr>
                        </m:fPr>
                        <m:num>
                          <m:r>
                            <a:rPr lang="es-ES" sz="1200" i="1" dirty="0">
                              <a:latin typeface="Cambria Math" panose="02040503050406030204" pitchFamily="18" charset="0"/>
                              <a:ea typeface="Cambria Math" panose="02040503050406030204" pitchFamily="18" charset="0"/>
                              <a:cs typeface="Arial" panose="020B0604020202020204" pitchFamily="34" charset="0"/>
                            </a:rPr>
                            <m:t>2</m:t>
                          </m:r>
                          <m:r>
                            <a:rPr lang="es-ES" sz="1200" b="0" i="1" dirty="0" smtClean="0">
                              <a:latin typeface="Cambria Math" panose="02040503050406030204" pitchFamily="18" charset="0"/>
                              <a:ea typeface="Cambria Math" panose="02040503050406030204" pitchFamily="18" charset="0"/>
                              <a:cs typeface="Arial" panose="020B0604020202020204" pitchFamily="34" charset="0"/>
                            </a:rPr>
                            <m:t>0</m:t>
                          </m:r>
                          <m:r>
                            <a:rPr lang="es-ES" sz="1200" i="1" dirty="0">
                              <a:latin typeface="Cambria Math" panose="02040503050406030204" pitchFamily="18" charset="0"/>
                              <a:ea typeface="Cambria Math" panose="02040503050406030204" pitchFamily="18" charset="0"/>
                              <a:cs typeface="Arial" panose="020B0604020202020204" pitchFamily="34" charset="0"/>
                            </a:rPr>
                            <m:t>𝜆</m:t>
                          </m:r>
                        </m:num>
                        <m:den>
                          <m:sSub>
                            <m:sSubPr>
                              <m:ctrlPr>
                                <a:rPr lang="es-ES" sz="1200" i="1" dirty="0">
                                  <a:latin typeface="Cambria Math" panose="02040503050406030204" pitchFamily="18" charset="0"/>
                                  <a:ea typeface="Cambria Math" panose="02040503050406030204" pitchFamily="18" charset="0"/>
                                  <a:cs typeface="Arial" panose="020B0604020202020204" pitchFamily="34" charset="0"/>
                                </a:rPr>
                              </m:ctrlPr>
                            </m:sSubPr>
                            <m:e>
                              <m:r>
                                <a:rPr lang="es-ES" sz="1200" i="1" dirty="0">
                                  <a:latin typeface="Cambria Math" panose="02040503050406030204" pitchFamily="18" charset="0"/>
                                  <a:ea typeface="Cambria Math" panose="02040503050406030204" pitchFamily="18" charset="0"/>
                                  <a:cs typeface="Arial" panose="020B0604020202020204" pitchFamily="34" charset="0"/>
                                </a:rPr>
                                <m:t>𝑛</m:t>
                              </m:r>
                            </m:e>
                            <m:sub>
                              <m:r>
                                <a:rPr lang="es-ES" sz="1200" i="1" dirty="0">
                                  <a:latin typeface="Cambria Math" panose="02040503050406030204" pitchFamily="18" charset="0"/>
                                  <a:ea typeface="Cambria Math" panose="02040503050406030204" pitchFamily="18" charset="0"/>
                                  <a:cs typeface="Arial" panose="020B0604020202020204" pitchFamily="34" charset="0"/>
                                </a:rPr>
                                <m:t>𝑒𝑓𝑓</m:t>
                              </m:r>
                            </m:sub>
                          </m:sSub>
                        </m:den>
                      </m:f>
                    </m:oMath>
                  </m:oMathPara>
                </a14:m>
                <a:endParaRPr lang="es-E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In the code, the value of </a:t>
                </a:r>
                <a:r>
                  <a:rPr lang="en-US" sz="1200" dirty="0" err="1">
                    <a:latin typeface="Arial" panose="020B0604020202020204" pitchFamily="34" charset="0"/>
                    <a:cs typeface="Arial" panose="020B0604020202020204" pitchFamily="34" charset="0"/>
                  </a:rPr>
                  <a:t>neff</a:t>
                </a:r>
                <a:r>
                  <a:rPr lang="en-US" sz="1200" dirty="0">
                    <a:latin typeface="Arial" panose="020B0604020202020204" pitchFamily="34" charset="0"/>
                    <a:cs typeface="Arial" panose="020B0604020202020204" pitchFamily="34" charset="0"/>
                  </a:rPr>
                  <a:t>​ at 1550 nm is obtained, and 𝜆 =1550nm is also used. From this, the corresponding plots are generated, where we observe that at 1550 nm the magnitude in logarithmic scale reaches approximately −300 </a:t>
                </a:r>
                <a:r>
                  <a:rPr lang="en-US" sz="1200" dirty="0" err="1">
                    <a:latin typeface="Arial" panose="020B0604020202020204" pitchFamily="34" charset="0"/>
                    <a:cs typeface="Arial" panose="020B0604020202020204" pitchFamily="34" charset="0"/>
                  </a:rPr>
                  <a:t>dB.</a:t>
                </a:r>
                <a:endParaRPr lang="en-US" sz="12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FDE3A197-9508-F9F1-1FEB-FF883D78C151}"/>
                  </a:ext>
                </a:extLst>
              </p:cNvPr>
              <p:cNvSpPr txBox="1">
                <a:spLocks noRot="1" noChangeAspect="1" noMove="1" noResize="1" noEditPoints="1" noAdjustHandles="1" noChangeArrowheads="1" noChangeShapeType="1" noTextEdit="1"/>
              </p:cNvSpPr>
              <p:nvPr/>
            </p:nvSpPr>
            <p:spPr>
              <a:xfrm>
                <a:off x="608012" y="1623666"/>
                <a:ext cx="7010559" cy="3992118"/>
              </a:xfrm>
              <a:prstGeom prst="rect">
                <a:avLst/>
              </a:prstGeom>
              <a:blipFill>
                <a:blip r:embed="rId5"/>
                <a:stretch>
                  <a:fillRect/>
                </a:stretch>
              </a:blipFill>
              <a:ln w="28575">
                <a:solidFill>
                  <a:srgbClr val="E0700D"/>
                </a:solidFill>
              </a:ln>
            </p:spPr>
            <p:txBody>
              <a:bodyPr/>
              <a:lstStyle/>
              <a:p>
                <a:r>
                  <a:rPr lang="es-CO">
                    <a:noFill/>
                  </a:rPr>
                  <a:t> </a:t>
                </a:r>
              </a:p>
            </p:txBody>
          </p:sp>
        </mc:Fallback>
      </mc:AlternateContent>
      <p:sp>
        <p:nvSpPr>
          <p:cNvPr id="6" name="Marcador de pie de página 2">
            <a:extLst>
              <a:ext uri="{FF2B5EF4-FFF2-40B4-BE49-F238E27FC236}">
                <a16:creationId xmlns:a16="http://schemas.microsoft.com/office/drawing/2014/main" id="{04C1A7E9-6C33-172D-E7B9-CCF643221E6A}"/>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pic>
        <p:nvPicPr>
          <p:cNvPr id="5" name="Imagen 4">
            <a:extLst>
              <a:ext uri="{FF2B5EF4-FFF2-40B4-BE49-F238E27FC236}">
                <a16:creationId xmlns:a16="http://schemas.microsoft.com/office/drawing/2014/main" id="{DFB23D65-11D2-E477-D1ED-308D0BBCFB0F}"/>
              </a:ext>
            </a:extLst>
          </p:cNvPr>
          <p:cNvPicPr>
            <a:picLocks noChangeAspect="1"/>
          </p:cNvPicPr>
          <p:nvPr/>
        </p:nvPicPr>
        <p:blipFill>
          <a:blip r:embed="rId6"/>
          <a:stretch>
            <a:fillRect/>
          </a:stretch>
        </p:blipFill>
        <p:spPr>
          <a:xfrm>
            <a:off x="8175514" y="1290000"/>
            <a:ext cx="3140308" cy="2520000"/>
          </a:xfrm>
          <a:prstGeom prst="rect">
            <a:avLst/>
          </a:prstGeom>
        </p:spPr>
      </p:pic>
      <p:pic>
        <p:nvPicPr>
          <p:cNvPr id="8" name="Imagen 7">
            <a:extLst>
              <a:ext uri="{FF2B5EF4-FFF2-40B4-BE49-F238E27FC236}">
                <a16:creationId xmlns:a16="http://schemas.microsoft.com/office/drawing/2014/main" id="{3E49DFA5-129A-625C-3599-6B75236A43E9}"/>
              </a:ext>
            </a:extLst>
          </p:cNvPr>
          <p:cNvPicPr>
            <a:picLocks noChangeAspect="1"/>
          </p:cNvPicPr>
          <p:nvPr/>
        </p:nvPicPr>
        <p:blipFill>
          <a:blip r:embed="rId7"/>
          <a:stretch>
            <a:fillRect/>
          </a:stretch>
        </p:blipFill>
        <p:spPr>
          <a:xfrm>
            <a:off x="8124877" y="3880800"/>
            <a:ext cx="3228923" cy="2520000"/>
          </a:xfrm>
          <a:prstGeom prst="rect">
            <a:avLst/>
          </a:prstGeom>
        </p:spPr>
      </p:pic>
    </p:spTree>
    <p:extLst>
      <p:ext uri="{BB962C8B-B14F-4D97-AF65-F5344CB8AC3E}">
        <p14:creationId xmlns:p14="http://schemas.microsoft.com/office/powerpoint/2010/main" val="36604382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A0BA23-35B2-D9E5-7980-513FD62608DB}"/>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0538AF2-BF1E-EF54-D743-66F1B79EA251}"/>
              </a:ext>
            </a:extLst>
          </p:cNvPr>
          <p:cNvSpPr txBox="1">
            <a:spLocks noGrp="1"/>
          </p:cNvSpPr>
          <p:nvPr>
            <p:ph type="title"/>
          </p:nvPr>
        </p:nvSpPr>
        <p:spPr>
          <a:xfrm>
            <a:off x="502195" y="-6887"/>
            <a:ext cx="10994410" cy="443711"/>
          </a:xfrm>
          <a:prstGeom prst="rect">
            <a:avLst/>
          </a:prstGeom>
        </p:spPr>
        <p:txBody>
          <a:bodyPr vert="horz" wrap="square" lIns="0" tIns="12700" rIns="0" bIns="0" rtlCol="0">
            <a:spAutoFit/>
          </a:bodyPr>
          <a:lstStyle/>
          <a:p>
            <a:pPr marL="12700">
              <a:lnSpc>
                <a:spcPct val="100000"/>
              </a:lnSpc>
              <a:spcBef>
                <a:spcPts val="100"/>
              </a:spcBef>
            </a:pPr>
            <a:r>
              <a:rPr lang="en-US" sz="2800" dirty="0"/>
              <a:t>Extra assessments </a:t>
            </a:r>
            <a:endParaRPr lang="en-US" sz="2800" b="0" dirty="0">
              <a:latin typeface="+mj-lt"/>
              <a:cs typeface="Lucida Sans"/>
            </a:endParaRPr>
          </a:p>
        </p:txBody>
      </p:sp>
      <p:pic>
        <p:nvPicPr>
          <p:cNvPr id="83" name="Gráfico 82">
            <a:extLst>
              <a:ext uri="{FF2B5EF4-FFF2-40B4-BE49-F238E27FC236}">
                <a16:creationId xmlns:a16="http://schemas.microsoft.com/office/drawing/2014/main" id="{1A8E1F07-EF11-E47D-377F-53B82A6C752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77625" y="6356057"/>
            <a:ext cx="6409575" cy="363174"/>
          </a:xfrm>
          <a:prstGeom prst="rect">
            <a:avLst/>
          </a:prstGeom>
        </p:spPr>
      </p:pic>
      <p:sp>
        <p:nvSpPr>
          <p:cNvPr id="84" name="Marcador de número de diapositiva 83">
            <a:extLst>
              <a:ext uri="{FF2B5EF4-FFF2-40B4-BE49-F238E27FC236}">
                <a16:creationId xmlns:a16="http://schemas.microsoft.com/office/drawing/2014/main" id="{7AF9FDDA-4BE1-02EF-DE16-81440E0B18D9}"/>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4" name="Marcador de texto 2">
            <a:extLst>
              <a:ext uri="{FF2B5EF4-FFF2-40B4-BE49-F238E27FC236}">
                <a16:creationId xmlns:a16="http://schemas.microsoft.com/office/drawing/2014/main" id="{638C9B24-9961-8108-24A0-DF2DAF3E1686}"/>
              </a:ext>
            </a:extLst>
          </p:cNvPr>
          <p:cNvSpPr txBox="1">
            <a:spLocks/>
          </p:cNvSpPr>
          <p:nvPr/>
        </p:nvSpPr>
        <p:spPr>
          <a:xfrm>
            <a:off x="6606200" y="407294"/>
            <a:ext cx="4977787"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b="1" dirty="0"/>
              <a:t>Assessment 5. </a:t>
            </a:r>
            <a:r>
              <a:rPr lang="en-US" dirty="0"/>
              <a:t>Let's see how the response of the MZI varies with the effective index. Vary the effective index of one of the arms and analyze how the spectrum shifts. To do this, you can use the data provided in the .txt files entitled ‘</a:t>
            </a:r>
            <a:r>
              <a:rPr lang="en-US" dirty="0" err="1"/>
              <a:t>SiN</a:t>
            </a:r>
            <a:r>
              <a:rPr lang="en-US" dirty="0"/>
              <a:t>’. Can you give an example of an application where this configuration is used?</a:t>
            </a:r>
          </a:p>
          <a:p>
            <a:pPr algn="just"/>
            <a:endParaRPr lang="en-US" sz="1600" kern="0" dirty="0">
              <a:solidFill>
                <a:sysClr val="windowText" lastClr="000000"/>
              </a:solidFill>
            </a:endParaRPr>
          </a:p>
        </p:txBody>
      </p:sp>
      <p:sp>
        <p:nvSpPr>
          <p:cNvPr id="2" name="CuadroTexto 1">
            <a:extLst>
              <a:ext uri="{FF2B5EF4-FFF2-40B4-BE49-F238E27FC236}">
                <a16:creationId xmlns:a16="http://schemas.microsoft.com/office/drawing/2014/main" id="{4A0FCE55-C80A-05CF-8F18-B295D9FBB56D}"/>
              </a:ext>
            </a:extLst>
          </p:cNvPr>
          <p:cNvSpPr txBox="1"/>
          <p:nvPr/>
        </p:nvSpPr>
        <p:spPr>
          <a:xfrm>
            <a:off x="6630220" y="2576053"/>
            <a:ext cx="4929745" cy="3231654"/>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In the first two cases, the length of the arms was taken as 2000 um. As we can see, the change of material modifies the effective indices, which in turn changes the FSR, since it is directly related to the variation of the refractive index.</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In the first case, this corresponds to the smallest refractive index change, the second case corresponds to the largest refractive index change, and the third case represents the intermediate index change. This shows that the larger the refractive index difference, the smaller the FSR.</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In the case of using </a:t>
            </a:r>
            <a:r>
              <a:rPr lang="en-US" sz="1200" dirty="0" err="1">
                <a:latin typeface="Arial" panose="020B0604020202020204" pitchFamily="34" charset="0"/>
                <a:cs typeface="Arial" panose="020B0604020202020204" pitchFamily="34" charset="0"/>
              </a:rPr>
              <a:t>SiNx</a:t>
            </a:r>
            <a:r>
              <a:rPr lang="en-US" sz="1200" dirty="0">
                <a:latin typeface="Arial" panose="020B0604020202020204" pitchFamily="34" charset="0"/>
                <a:cs typeface="Arial" panose="020B0604020202020204" pitchFamily="34" charset="0"/>
              </a:rPr>
              <a:t> with air cladding, it is possible to design a sensor, where the substance to be detected is placed in the surrounding region so that it interacts with the waveguide, thereby slightly modifying the effective index of the waveguide.</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A similar situation could occur in the case of </a:t>
            </a:r>
            <a:r>
              <a:rPr lang="en-US" sz="1200" dirty="0" err="1">
                <a:latin typeface="Arial" panose="020B0604020202020204" pitchFamily="34" charset="0"/>
                <a:cs typeface="Arial" panose="020B0604020202020204" pitchFamily="34" charset="0"/>
              </a:rPr>
              <a:t>SiNx</a:t>
            </a:r>
            <a:r>
              <a:rPr lang="en-US" sz="1200" dirty="0">
                <a:latin typeface="Arial" panose="020B0604020202020204" pitchFamily="34" charset="0"/>
                <a:cs typeface="Arial" panose="020B0604020202020204" pitchFamily="34" charset="0"/>
              </a:rPr>
              <a:t> with water cladding.</a:t>
            </a:r>
          </a:p>
        </p:txBody>
      </p:sp>
      <p:sp>
        <p:nvSpPr>
          <p:cNvPr id="6" name="Marcador de pie de página 2">
            <a:extLst>
              <a:ext uri="{FF2B5EF4-FFF2-40B4-BE49-F238E27FC236}">
                <a16:creationId xmlns:a16="http://schemas.microsoft.com/office/drawing/2014/main" id="{DEBE76A6-1AE3-A7C5-EC5E-45F3C5560F86}"/>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pic>
        <p:nvPicPr>
          <p:cNvPr id="5" name="Imagen 4">
            <a:extLst>
              <a:ext uri="{FF2B5EF4-FFF2-40B4-BE49-F238E27FC236}">
                <a16:creationId xmlns:a16="http://schemas.microsoft.com/office/drawing/2014/main" id="{41E13E7D-0ECF-954C-1644-4ECF4057A0D7}"/>
              </a:ext>
            </a:extLst>
          </p:cNvPr>
          <p:cNvPicPr>
            <a:picLocks noChangeAspect="1"/>
          </p:cNvPicPr>
          <p:nvPr/>
        </p:nvPicPr>
        <p:blipFill>
          <a:blip r:embed="rId5"/>
          <a:stretch>
            <a:fillRect/>
          </a:stretch>
        </p:blipFill>
        <p:spPr>
          <a:xfrm>
            <a:off x="3180000" y="457200"/>
            <a:ext cx="2916000" cy="2340000"/>
          </a:xfrm>
          <a:prstGeom prst="rect">
            <a:avLst/>
          </a:prstGeom>
        </p:spPr>
      </p:pic>
      <p:sp>
        <p:nvSpPr>
          <p:cNvPr id="7" name="CuadroTexto 6">
            <a:extLst>
              <a:ext uri="{FF2B5EF4-FFF2-40B4-BE49-F238E27FC236}">
                <a16:creationId xmlns:a16="http://schemas.microsoft.com/office/drawing/2014/main" id="{F2B3601B-4753-7AC0-5831-F61335BF5B21}"/>
              </a:ext>
            </a:extLst>
          </p:cNvPr>
          <p:cNvSpPr txBox="1"/>
          <p:nvPr/>
        </p:nvSpPr>
        <p:spPr>
          <a:xfrm>
            <a:off x="3844542" y="2721000"/>
            <a:ext cx="1850058" cy="461665"/>
          </a:xfrm>
          <a:prstGeom prst="rect">
            <a:avLst/>
          </a:prstGeom>
          <a:noFill/>
        </p:spPr>
        <p:txBody>
          <a:bodyPr wrap="none" rtlCol="0">
            <a:spAutoFit/>
          </a:bodyPr>
          <a:lstStyle/>
          <a:p>
            <a:pPr algn="ctr"/>
            <a:r>
              <a:rPr lang="en-US" sz="1200" b="1" i="1" dirty="0" err="1"/>
              <a:t>SiN_cladding</a:t>
            </a:r>
            <a:r>
              <a:rPr lang="en-US" sz="1200" b="1" i="1" dirty="0"/>
              <a:t> y  </a:t>
            </a:r>
            <a:r>
              <a:rPr lang="en-US" sz="1200" b="1" i="1" dirty="0" err="1"/>
              <a:t>SiN_water</a:t>
            </a:r>
            <a:endParaRPr lang="es-CO" sz="1200" b="1" i="1" dirty="0"/>
          </a:p>
          <a:p>
            <a:pPr algn="ctr"/>
            <a:r>
              <a:rPr lang="es-CO" sz="1200" dirty="0"/>
              <a:t>FSR es 0.04704705 </a:t>
            </a:r>
            <a:r>
              <a:rPr lang="es-CO" sz="1200" dirty="0" err="1"/>
              <a:t>um</a:t>
            </a:r>
            <a:endParaRPr lang="es-CO" sz="1200" dirty="0"/>
          </a:p>
        </p:txBody>
      </p:sp>
      <p:pic>
        <p:nvPicPr>
          <p:cNvPr id="9" name="Imagen 8">
            <a:extLst>
              <a:ext uri="{FF2B5EF4-FFF2-40B4-BE49-F238E27FC236}">
                <a16:creationId xmlns:a16="http://schemas.microsoft.com/office/drawing/2014/main" id="{56F65896-558C-50CE-8A2B-847F9915B07F}"/>
              </a:ext>
            </a:extLst>
          </p:cNvPr>
          <p:cNvPicPr>
            <a:picLocks noChangeAspect="1"/>
          </p:cNvPicPr>
          <p:nvPr/>
        </p:nvPicPr>
        <p:blipFill>
          <a:blip r:embed="rId6"/>
          <a:stretch>
            <a:fillRect/>
          </a:stretch>
        </p:blipFill>
        <p:spPr>
          <a:xfrm>
            <a:off x="152400" y="3283041"/>
            <a:ext cx="2916000" cy="2340000"/>
          </a:xfrm>
          <a:prstGeom prst="rect">
            <a:avLst/>
          </a:prstGeom>
        </p:spPr>
      </p:pic>
      <p:sp>
        <p:nvSpPr>
          <p:cNvPr id="10" name="CuadroTexto 9">
            <a:extLst>
              <a:ext uri="{FF2B5EF4-FFF2-40B4-BE49-F238E27FC236}">
                <a16:creationId xmlns:a16="http://schemas.microsoft.com/office/drawing/2014/main" id="{158EDBF9-E411-4DA7-A4B9-CC6F8F0E91EC}"/>
              </a:ext>
            </a:extLst>
          </p:cNvPr>
          <p:cNvSpPr txBox="1"/>
          <p:nvPr/>
        </p:nvSpPr>
        <p:spPr>
          <a:xfrm>
            <a:off x="669771" y="5533573"/>
            <a:ext cx="1890261" cy="523220"/>
          </a:xfrm>
          <a:prstGeom prst="rect">
            <a:avLst/>
          </a:prstGeom>
          <a:noFill/>
        </p:spPr>
        <p:txBody>
          <a:bodyPr wrap="none" rtlCol="0">
            <a:spAutoFit/>
          </a:bodyPr>
          <a:lstStyle/>
          <a:p>
            <a:r>
              <a:rPr lang="en-US" sz="1400" b="1" i="1" dirty="0" err="1"/>
              <a:t>SiN_cladding</a:t>
            </a:r>
            <a:r>
              <a:rPr lang="en-US" sz="1400" b="1" i="1" dirty="0"/>
              <a:t> y  </a:t>
            </a:r>
            <a:r>
              <a:rPr lang="en-US" sz="1400" b="1" i="1" dirty="0" err="1"/>
              <a:t>SiN_air</a:t>
            </a:r>
            <a:endParaRPr lang="en-US" sz="1400" b="1" i="1" dirty="0"/>
          </a:p>
          <a:p>
            <a:r>
              <a:rPr lang="es-CO" sz="1400" dirty="0"/>
              <a:t>FSR = 0.03973974 </a:t>
            </a:r>
            <a:r>
              <a:rPr lang="es-CO" sz="1400" dirty="0" err="1"/>
              <a:t>um</a:t>
            </a:r>
            <a:endParaRPr lang="es-CO" sz="1400" dirty="0"/>
          </a:p>
        </p:txBody>
      </p:sp>
      <p:sp>
        <p:nvSpPr>
          <p:cNvPr id="13" name="CuadroTexto 12">
            <a:extLst>
              <a:ext uri="{FF2B5EF4-FFF2-40B4-BE49-F238E27FC236}">
                <a16:creationId xmlns:a16="http://schemas.microsoft.com/office/drawing/2014/main" id="{272AED13-4A4A-9CEE-D453-8B196D9CBF18}"/>
              </a:ext>
            </a:extLst>
          </p:cNvPr>
          <p:cNvSpPr txBox="1"/>
          <p:nvPr/>
        </p:nvSpPr>
        <p:spPr>
          <a:xfrm>
            <a:off x="3502563" y="5522893"/>
            <a:ext cx="2496837" cy="954107"/>
          </a:xfrm>
          <a:prstGeom prst="rect">
            <a:avLst/>
          </a:prstGeom>
          <a:noFill/>
        </p:spPr>
        <p:txBody>
          <a:bodyPr wrap="none" rtlCol="0">
            <a:spAutoFit/>
          </a:bodyPr>
          <a:lstStyle/>
          <a:p>
            <a:pPr algn="ctr"/>
            <a:r>
              <a:rPr lang="en-US" sz="1400" b="1" i="1" dirty="0" err="1"/>
              <a:t>SiN_water</a:t>
            </a:r>
            <a:r>
              <a:rPr lang="en-US" sz="1400" b="1" i="1" dirty="0"/>
              <a:t> y  </a:t>
            </a:r>
            <a:r>
              <a:rPr lang="en-US" sz="1400" b="1" i="1" dirty="0" err="1"/>
              <a:t>SiN_air</a:t>
            </a:r>
            <a:endParaRPr lang="es-ES" sz="1400" b="1" i="1" dirty="0"/>
          </a:p>
          <a:p>
            <a:pPr algn="ctr"/>
            <a:r>
              <a:rPr lang="es-ES" sz="1400" dirty="0"/>
              <a:t>FSR = [0.03933934 0.01841842]</a:t>
            </a:r>
          </a:p>
          <a:p>
            <a:pPr algn="ctr"/>
            <a:r>
              <a:rPr lang="en-US" sz="1400" dirty="0"/>
              <a:t>L=8000</a:t>
            </a:r>
          </a:p>
          <a:p>
            <a:endParaRPr lang="es-CO" sz="1400" dirty="0"/>
          </a:p>
        </p:txBody>
      </p:sp>
      <p:pic>
        <p:nvPicPr>
          <p:cNvPr id="15" name="Imagen 14">
            <a:extLst>
              <a:ext uri="{FF2B5EF4-FFF2-40B4-BE49-F238E27FC236}">
                <a16:creationId xmlns:a16="http://schemas.microsoft.com/office/drawing/2014/main" id="{ACA14D7D-C237-FF93-7243-377E1C98DB93}"/>
              </a:ext>
            </a:extLst>
          </p:cNvPr>
          <p:cNvPicPr>
            <a:picLocks noChangeAspect="1"/>
          </p:cNvPicPr>
          <p:nvPr/>
        </p:nvPicPr>
        <p:blipFill>
          <a:blip r:embed="rId7"/>
          <a:stretch>
            <a:fillRect/>
          </a:stretch>
        </p:blipFill>
        <p:spPr>
          <a:xfrm>
            <a:off x="3180000" y="3283041"/>
            <a:ext cx="2916000" cy="2340000"/>
          </a:xfrm>
          <a:prstGeom prst="rect">
            <a:avLst/>
          </a:prstGeom>
        </p:spPr>
      </p:pic>
      <p:pic>
        <p:nvPicPr>
          <p:cNvPr id="20" name="Imagen 19">
            <a:extLst>
              <a:ext uri="{FF2B5EF4-FFF2-40B4-BE49-F238E27FC236}">
                <a16:creationId xmlns:a16="http://schemas.microsoft.com/office/drawing/2014/main" id="{944CDCF8-040D-D25B-9247-A9E7A8EE3300}"/>
              </a:ext>
            </a:extLst>
          </p:cNvPr>
          <p:cNvPicPr>
            <a:picLocks noChangeAspect="1"/>
          </p:cNvPicPr>
          <p:nvPr/>
        </p:nvPicPr>
        <p:blipFill>
          <a:blip r:embed="rId8"/>
          <a:stretch>
            <a:fillRect/>
          </a:stretch>
        </p:blipFill>
        <p:spPr>
          <a:xfrm>
            <a:off x="152400" y="457200"/>
            <a:ext cx="2962286" cy="2340000"/>
          </a:xfrm>
          <a:prstGeom prst="rect">
            <a:avLst/>
          </a:prstGeom>
        </p:spPr>
      </p:pic>
    </p:spTree>
    <p:extLst>
      <p:ext uri="{BB962C8B-B14F-4D97-AF65-F5344CB8AC3E}">
        <p14:creationId xmlns:p14="http://schemas.microsoft.com/office/powerpoint/2010/main" val="11412989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BA82E-CEBE-F38B-9321-13F213FB0C83}"/>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6FC06AA-E724-B66D-6384-D5DCE2D20CAA}"/>
              </a:ext>
            </a:extLst>
          </p:cNvPr>
          <p:cNvSpPr txBox="1">
            <a:spLocks noGrp="1"/>
          </p:cNvSpPr>
          <p:nvPr>
            <p:ph type="title"/>
          </p:nvPr>
        </p:nvSpPr>
        <p:spPr>
          <a:xfrm>
            <a:off x="460171" y="102418"/>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Extra assessments </a:t>
            </a:r>
            <a:endParaRPr lang="en-US" sz="2500" b="0" dirty="0">
              <a:latin typeface="+mj-lt"/>
              <a:cs typeface="Lucida Sans"/>
            </a:endParaRPr>
          </a:p>
        </p:txBody>
      </p:sp>
      <p:pic>
        <p:nvPicPr>
          <p:cNvPr id="83" name="Gráfico 82">
            <a:extLst>
              <a:ext uri="{FF2B5EF4-FFF2-40B4-BE49-F238E27FC236}">
                <a16:creationId xmlns:a16="http://schemas.microsoft.com/office/drawing/2014/main" id="{71BFD1CE-12B5-A10A-3CA6-159B2030B25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633C3D8-EC22-2418-B608-79F0CFBE1294}"/>
              </a:ext>
            </a:extLst>
          </p:cNvPr>
          <p:cNvSpPr>
            <a:spLocks noGrp="1"/>
          </p:cNvSpPr>
          <p:nvPr>
            <p:ph type="sldNum" sz="quarter" idx="7"/>
          </p:nvPr>
        </p:nvSpPr>
        <p:spPr/>
        <p:txBody>
          <a:bodyPr/>
          <a:lstStyle/>
          <a:p>
            <a:fld id="{B6F15528-21DE-4FAA-801E-634DDDAF4B2B}" type="slidenum">
              <a:rPr lang="es-ES" smtClean="0"/>
              <a:t>13</a:t>
            </a:fld>
            <a:endParaRPr lang="es-ES"/>
          </a:p>
        </p:txBody>
      </p:sp>
      <p:sp>
        <p:nvSpPr>
          <p:cNvPr id="4" name="Marcador de texto 2">
            <a:extLst>
              <a:ext uri="{FF2B5EF4-FFF2-40B4-BE49-F238E27FC236}">
                <a16:creationId xmlns:a16="http://schemas.microsoft.com/office/drawing/2014/main" id="{40DAEC74-1052-5C21-5AB8-07A30F1DAB2E}"/>
              </a:ext>
            </a:extLst>
          </p:cNvPr>
          <p:cNvSpPr txBox="1">
            <a:spLocks/>
          </p:cNvSpPr>
          <p:nvPr/>
        </p:nvSpPr>
        <p:spPr>
          <a:xfrm>
            <a:off x="405582" y="4999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b="1" dirty="0"/>
              <a:t>Advanced level assessment.</a:t>
            </a:r>
            <a:r>
              <a:rPr lang="en-US" dirty="0"/>
              <a:t> Explore how cascading two MZIs affects the transmission spectrum. To do so, design a system in which two MZIs are cascaded. Simulate and observe the spectrum, explaining how the transmission peaks behave</a:t>
            </a:r>
            <a:r>
              <a:rPr lang="en-US" b="1" dirty="0"/>
              <a:t>.</a:t>
            </a:r>
          </a:p>
          <a:p>
            <a:pPr algn="just"/>
            <a:endParaRPr lang="en-US" sz="2000" kern="0" dirty="0">
              <a:solidFill>
                <a:sysClr val="windowText" lastClr="000000"/>
              </a:solidFill>
            </a:endParaRPr>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D609D4F1-CF43-15F5-B5F5-F12E92F8533F}"/>
                  </a:ext>
                </a:extLst>
              </p:cNvPr>
              <p:cNvSpPr txBox="1"/>
              <p:nvPr/>
            </p:nvSpPr>
            <p:spPr>
              <a:xfrm>
                <a:off x="5913413" y="3657607"/>
                <a:ext cx="5973787" cy="2123658"/>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When the interferometers are cascaded, we observe that the response changes to three maxima and three minima within the same wavelength interval. Therefore, the device can now filter three different signal bands at its outputs, meaning it can filter approximately from 1530 to 1540 nm, around 1540 to 1554 nm, and around 1554 to 1567 nm.</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Regarding the FSR, we observe that it changes from 28 nm for a single MZI to approximately 11 nm when the interferometers are cascaded.</a:t>
                </a:r>
              </a:p>
              <a:p>
                <a:pPr algn="just"/>
                <a:r>
                  <a:rPr lang="en-US" sz="1200" dirty="0">
                    <a:latin typeface="Arial" panose="020B0604020202020204" pitchFamily="34" charset="0"/>
                    <a:cs typeface="Arial" panose="020B0604020202020204" pitchFamily="34" charset="0"/>
                  </a:rPr>
                  <a:t>Finally, </a:t>
                </a:r>
                <a:r>
                  <a:rPr lang="en-US" sz="1200" dirty="0" err="1">
                    <a:latin typeface="Arial" panose="020B0604020202020204" pitchFamily="34" charset="0"/>
                    <a:cs typeface="Arial" panose="020B0604020202020204" pitchFamily="34" charset="0"/>
                  </a:rPr>
                  <a:t>i</a:t>
                </a:r>
                <a:r>
                  <a:rPr lang="en-US" sz="1200" dirty="0">
                    <a:latin typeface="Arial" panose="020B0604020202020204" pitchFamily="34" charset="0"/>
                    <a:cs typeface="Arial" panose="020B0604020202020204" pitchFamily="34" charset="0"/>
                  </a:rPr>
                  <a:t> performed a simulation to observe what happens if we use only one MZI with</a:t>
                </a:r>
                <a:r>
                  <a:rPr lang="es-ES" sz="1200" dirty="0">
                    <a:cs typeface="Arial" panose="020B0604020202020204" pitchFamily="34" charset="0"/>
                  </a:rPr>
                  <a:t> </a:t>
                </a:r>
                <a14:m>
                  <m:oMath xmlns:m="http://schemas.openxmlformats.org/officeDocument/2006/math">
                    <m:sSub>
                      <m:sSubPr>
                        <m:ctrlPr>
                          <a:rPr lang="es-ES" sz="1200" i="1">
                            <a:latin typeface="Cambria Math" panose="02040503050406030204" pitchFamily="18" charset="0"/>
                            <a:cs typeface="Arial" panose="020B0604020202020204" pitchFamily="34" charset="0"/>
                          </a:rPr>
                        </m:ctrlPr>
                      </m:sSubPr>
                      <m:e>
                        <m:r>
                          <a:rPr lang="es-ES" sz="1200" i="1">
                            <a:latin typeface="Cambria Math" panose="02040503050406030204" pitchFamily="18" charset="0"/>
                            <a:cs typeface="Arial" panose="020B0604020202020204" pitchFamily="34" charset="0"/>
                          </a:rPr>
                          <m:t>𝐿</m:t>
                        </m:r>
                      </m:e>
                      <m:sub>
                        <m:r>
                          <a:rPr lang="es-ES" sz="1200" i="1">
                            <a:latin typeface="Cambria Math" panose="02040503050406030204" pitchFamily="18" charset="0"/>
                            <a:cs typeface="Arial" panose="020B0604020202020204" pitchFamily="34" charset="0"/>
                          </a:rPr>
                          <m:t>𝑢</m:t>
                        </m:r>
                      </m:sub>
                    </m:sSub>
                    <m:r>
                      <a:rPr lang="es-ES" sz="1200" i="1">
                        <a:latin typeface="Cambria Math" panose="02040503050406030204" pitchFamily="18" charset="0"/>
                        <a:cs typeface="Arial" panose="020B0604020202020204" pitchFamily="34" charset="0"/>
                      </a:rPr>
                      <m:t>=5</m:t>
                    </m:r>
                    <m:r>
                      <a:rPr lang="es-ES" sz="1200" b="0" i="1" smtClean="0">
                        <a:latin typeface="Cambria Math" panose="02040503050406030204" pitchFamily="18" charset="0"/>
                        <a:cs typeface="Arial" panose="020B0604020202020204" pitchFamily="34" charset="0"/>
                      </a:rPr>
                      <m:t>0</m:t>
                    </m:r>
                    <m:r>
                      <a:rPr lang="es-ES" sz="1200" i="1">
                        <a:latin typeface="Cambria Math" panose="02040503050406030204" pitchFamily="18" charset="0"/>
                        <a:cs typeface="Arial" panose="020B0604020202020204" pitchFamily="34" charset="0"/>
                      </a:rPr>
                      <m:t> </m:t>
                    </m:r>
                    <m:r>
                      <a:rPr lang="es-ES" sz="1200" i="1">
                        <a:latin typeface="Cambria Math" panose="02040503050406030204" pitchFamily="18" charset="0"/>
                        <a:ea typeface="Cambria Math" panose="02040503050406030204" pitchFamily="18" charset="0"/>
                        <a:cs typeface="Arial" panose="020B0604020202020204" pitchFamily="34" charset="0"/>
                      </a:rPr>
                      <m:t>𝜇</m:t>
                    </m:r>
                    <m:r>
                      <a:rPr lang="es-ES" sz="1200" i="1">
                        <a:latin typeface="Cambria Math" panose="02040503050406030204" pitchFamily="18" charset="0"/>
                        <a:ea typeface="Cambria Math" panose="02040503050406030204" pitchFamily="18" charset="0"/>
                        <a:cs typeface="Arial" panose="020B0604020202020204" pitchFamily="34" charset="0"/>
                      </a:rPr>
                      <m:t>𝑚</m:t>
                    </m:r>
                  </m:oMath>
                </a14:m>
                <a:r>
                  <a:rPr lang="en-US" sz="1200" dirty="0">
                    <a:latin typeface="Arial" panose="020B0604020202020204" pitchFamily="34" charset="0"/>
                    <a:cs typeface="Arial" panose="020B0604020202020204" pitchFamily="34" charset="0"/>
                  </a:rPr>
                  <a:t> and </a:t>
                </a:r>
                <a14:m>
                  <m:oMath xmlns:m="http://schemas.openxmlformats.org/officeDocument/2006/math">
                    <m:sSub>
                      <m:sSubPr>
                        <m:ctrlPr>
                          <a:rPr lang="es-ES" sz="1200" i="1">
                            <a:latin typeface="Cambria Math" panose="02040503050406030204" pitchFamily="18" charset="0"/>
                            <a:cs typeface="Arial" panose="020B0604020202020204" pitchFamily="34" charset="0"/>
                          </a:rPr>
                        </m:ctrlPr>
                      </m:sSubPr>
                      <m:e>
                        <m:r>
                          <a:rPr lang="es-ES" sz="1200" i="1">
                            <a:latin typeface="Cambria Math" panose="02040503050406030204" pitchFamily="18" charset="0"/>
                            <a:cs typeface="Arial" panose="020B0604020202020204" pitchFamily="34" charset="0"/>
                          </a:rPr>
                          <m:t>𝐿</m:t>
                        </m:r>
                      </m:e>
                      <m:sub>
                        <m:r>
                          <a:rPr lang="es-ES" sz="1200" i="1">
                            <a:latin typeface="Cambria Math" panose="02040503050406030204" pitchFamily="18" charset="0"/>
                            <a:cs typeface="Arial" panose="020B0604020202020204" pitchFamily="34" charset="0"/>
                          </a:rPr>
                          <m:t>𝑑</m:t>
                        </m:r>
                      </m:sub>
                    </m:sSub>
                    <m:r>
                      <a:rPr lang="es-ES" sz="1200" i="1">
                        <a:latin typeface="Cambria Math" panose="02040503050406030204" pitchFamily="18" charset="0"/>
                        <a:cs typeface="Arial" panose="020B0604020202020204" pitchFamily="34" charset="0"/>
                      </a:rPr>
                      <m:t>=</m:t>
                    </m:r>
                    <m:r>
                      <a:rPr lang="es-ES" sz="1200" b="0" i="1" smtClean="0">
                        <a:latin typeface="Cambria Math" panose="02040503050406030204" pitchFamily="18" charset="0"/>
                        <a:cs typeface="Arial" panose="020B0604020202020204" pitchFamily="34" charset="0"/>
                      </a:rPr>
                      <m:t>10</m:t>
                    </m:r>
                    <m:r>
                      <a:rPr lang="es-ES" sz="1200" i="1">
                        <a:latin typeface="Cambria Math" panose="02040503050406030204" pitchFamily="18" charset="0"/>
                        <a:cs typeface="Arial" panose="020B0604020202020204" pitchFamily="34" charset="0"/>
                      </a:rPr>
                      <m:t> </m:t>
                    </m:r>
                    <m:r>
                      <a:rPr lang="es-ES" sz="1200" i="1">
                        <a:latin typeface="Cambria Math" panose="02040503050406030204" pitchFamily="18" charset="0"/>
                        <a:ea typeface="Cambria Math" panose="02040503050406030204" pitchFamily="18" charset="0"/>
                        <a:cs typeface="Arial" panose="020B0604020202020204" pitchFamily="34" charset="0"/>
                      </a:rPr>
                      <m:t>𝜇</m:t>
                    </m:r>
                    <m:r>
                      <a:rPr lang="es-ES" sz="1200" i="1">
                        <a:latin typeface="Cambria Math" panose="02040503050406030204" pitchFamily="18" charset="0"/>
                        <a:ea typeface="Cambria Math" panose="02040503050406030204" pitchFamily="18" charset="0"/>
                        <a:cs typeface="Arial" panose="020B0604020202020204" pitchFamily="34" charset="0"/>
                      </a:rPr>
                      <m:t>𝑚</m:t>
                    </m:r>
                  </m:oMath>
                </a14:m>
                <a:r>
                  <a:rPr lang="en-US" sz="1200" dirty="0">
                    <a:latin typeface="Arial" panose="020B0604020202020204" pitchFamily="34" charset="0"/>
                    <a:cs typeface="Arial" panose="020B0604020202020204" pitchFamily="34" charset="0"/>
                  </a:rPr>
                  <a:t> which corresponds to the total path length behavior of the two arms of the MZI. The result shows that we obtain a very similar response.</a:t>
                </a:r>
              </a:p>
            </p:txBody>
          </p:sp>
        </mc:Choice>
        <mc:Fallback xmlns="">
          <p:sp>
            <p:nvSpPr>
              <p:cNvPr id="2" name="CuadroTexto 1">
                <a:extLst>
                  <a:ext uri="{FF2B5EF4-FFF2-40B4-BE49-F238E27FC236}">
                    <a16:creationId xmlns:a16="http://schemas.microsoft.com/office/drawing/2014/main" id="{D609D4F1-CF43-15F5-B5F5-F12E92F8533F}"/>
                  </a:ext>
                </a:extLst>
              </p:cNvPr>
              <p:cNvSpPr txBox="1">
                <a:spLocks noRot="1" noChangeAspect="1" noMove="1" noResize="1" noEditPoints="1" noAdjustHandles="1" noChangeArrowheads="1" noChangeShapeType="1" noTextEdit="1"/>
              </p:cNvSpPr>
              <p:nvPr/>
            </p:nvSpPr>
            <p:spPr>
              <a:xfrm>
                <a:off x="5913413" y="3657607"/>
                <a:ext cx="5973787" cy="2123658"/>
              </a:xfrm>
              <a:prstGeom prst="rect">
                <a:avLst/>
              </a:prstGeom>
              <a:blipFill>
                <a:blip r:embed="rId5"/>
                <a:stretch>
                  <a:fillRect b="-283"/>
                </a:stretch>
              </a:blipFill>
              <a:ln w="28575">
                <a:solidFill>
                  <a:srgbClr val="E0700D"/>
                </a:solidFill>
              </a:ln>
            </p:spPr>
            <p:txBody>
              <a:bodyPr/>
              <a:lstStyle/>
              <a:p>
                <a:r>
                  <a:rPr lang="es-CO">
                    <a:noFill/>
                  </a:rPr>
                  <a:t> </a:t>
                </a:r>
              </a:p>
            </p:txBody>
          </p:sp>
        </mc:Fallback>
      </mc:AlternateContent>
      <p:sp>
        <p:nvSpPr>
          <p:cNvPr id="6" name="Marcador de pie de página 2">
            <a:extLst>
              <a:ext uri="{FF2B5EF4-FFF2-40B4-BE49-F238E27FC236}">
                <a16:creationId xmlns:a16="http://schemas.microsoft.com/office/drawing/2014/main" id="{1AAE88B0-5961-DE09-697B-1F68171869EE}"/>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pic>
        <p:nvPicPr>
          <p:cNvPr id="9" name="Imagen 8">
            <a:extLst>
              <a:ext uri="{FF2B5EF4-FFF2-40B4-BE49-F238E27FC236}">
                <a16:creationId xmlns:a16="http://schemas.microsoft.com/office/drawing/2014/main" id="{77309D4D-66E0-DFBD-A961-A217F8049F99}"/>
              </a:ext>
            </a:extLst>
          </p:cNvPr>
          <p:cNvPicPr>
            <a:picLocks noChangeAspect="1"/>
          </p:cNvPicPr>
          <p:nvPr/>
        </p:nvPicPr>
        <p:blipFill>
          <a:blip r:embed="rId6"/>
          <a:stretch>
            <a:fillRect/>
          </a:stretch>
        </p:blipFill>
        <p:spPr>
          <a:xfrm>
            <a:off x="133573" y="1333686"/>
            <a:ext cx="2691692" cy="2160000"/>
          </a:xfrm>
          <a:prstGeom prst="rect">
            <a:avLst/>
          </a:prstGeom>
        </p:spPr>
      </p:pic>
      <p:pic>
        <p:nvPicPr>
          <p:cNvPr id="10" name="Imagen 9">
            <a:extLst>
              <a:ext uri="{FF2B5EF4-FFF2-40B4-BE49-F238E27FC236}">
                <a16:creationId xmlns:a16="http://schemas.microsoft.com/office/drawing/2014/main" id="{1FDDB07F-835C-42C3-F69A-610B5D4EC622}"/>
              </a:ext>
            </a:extLst>
          </p:cNvPr>
          <p:cNvPicPr>
            <a:picLocks noChangeAspect="1"/>
          </p:cNvPicPr>
          <p:nvPr/>
        </p:nvPicPr>
        <p:blipFill>
          <a:blip r:embed="rId7"/>
          <a:stretch>
            <a:fillRect/>
          </a:stretch>
        </p:blipFill>
        <p:spPr>
          <a:xfrm>
            <a:off x="95595" y="3555000"/>
            <a:ext cx="2729670" cy="2160000"/>
          </a:xfrm>
          <a:prstGeom prst="rect">
            <a:avLst/>
          </a:prstGeom>
        </p:spPr>
      </p:pic>
      <p:pic>
        <p:nvPicPr>
          <p:cNvPr id="14" name="Imagen 13">
            <a:extLst>
              <a:ext uri="{FF2B5EF4-FFF2-40B4-BE49-F238E27FC236}">
                <a16:creationId xmlns:a16="http://schemas.microsoft.com/office/drawing/2014/main" id="{F6E9BE04-3A6C-892B-CDCB-FED4134902BE}"/>
              </a:ext>
            </a:extLst>
          </p:cNvPr>
          <p:cNvPicPr>
            <a:picLocks noChangeAspect="1"/>
          </p:cNvPicPr>
          <p:nvPr/>
        </p:nvPicPr>
        <p:blipFill>
          <a:blip r:embed="rId8"/>
          <a:stretch>
            <a:fillRect/>
          </a:stretch>
        </p:blipFill>
        <p:spPr>
          <a:xfrm>
            <a:off x="2843703" y="3555000"/>
            <a:ext cx="2729670" cy="2160000"/>
          </a:xfrm>
          <a:prstGeom prst="rect">
            <a:avLst/>
          </a:prstGeom>
        </p:spPr>
      </p:pic>
      <p:pic>
        <p:nvPicPr>
          <p:cNvPr id="19" name="Imagen 18">
            <a:extLst>
              <a:ext uri="{FF2B5EF4-FFF2-40B4-BE49-F238E27FC236}">
                <a16:creationId xmlns:a16="http://schemas.microsoft.com/office/drawing/2014/main" id="{4B118D86-820A-7DEB-3856-E7D62688A6FE}"/>
              </a:ext>
            </a:extLst>
          </p:cNvPr>
          <p:cNvPicPr>
            <a:picLocks noChangeAspect="1"/>
          </p:cNvPicPr>
          <p:nvPr/>
        </p:nvPicPr>
        <p:blipFill>
          <a:blip r:embed="rId9"/>
          <a:stretch>
            <a:fillRect/>
          </a:stretch>
        </p:blipFill>
        <p:spPr>
          <a:xfrm>
            <a:off x="5670895" y="1350015"/>
            <a:ext cx="2691692" cy="2160000"/>
          </a:xfrm>
          <a:prstGeom prst="rect">
            <a:avLst/>
          </a:prstGeom>
        </p:spPr>
      </p:pic>
      <p:pic>
        <p:nvPicPr>
          <p:cNvPr id="21" name="Imagen 20">
            <a:extLst>
              <a:ext uri="{FF2B5EF4-FFF2-40B4-BE49-F238E27FC236}">
                <a16:creationId xmlns:a16="http://schemas.microsoft.com/office/drawing/2014/main" id="{6922A48E-8F14-1C8A-2291-80292FB63A79}"/>
              </a:ext>
            </a:extLst>
          </p:cNvPr>
          <p:cNvPicPr>
            <a:picLocks noChangeAspect="1"/>
          </p:cNvPicPr>
          <p:nvPr/>
        </p:nvPicPr>
        <p:blipFill>
          <a:blip r:embed="rId10"/>
          <a:stretch>
            <a:fillRect/>
          </a:stretch>
        </p:blipFill>
        <p:spPr>
          <a:xfrm>
            <a:off x="2914633" y="1337315"/>
            <a:ext cx="2691692" cy="2160000"/>
          </a:xfrm>
          <a:prstGeom prst="rect">
            <a:avLst/>
          </a:prstGeom>
        </p:spPr>
      </p:pic>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AEE24892-12C0-A21F-B193-3B59ABA45CFE}"/>
                  </a:ext>
                </a:extLst>
              </p:cNvPr>
              <p:cNvSpPr txBox="1"/>
              <p:nvPr/>
            </p:nvSpPr>
            <p:spPr>
              <a:xfrm>
                <a:off x="8451955" y="2309686"/>
                <a:ext cx="3435245"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In this case, I used two MZIs with delay imbalance. One has </a:t>
                </a:r>
                <a14:m>
                  <m:oMath xmlns:m="http://schemas.openxmlformats.org/officeDocument/2006/math">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𝐿</m:t>
                        </m:r>
                      </m:e>
                      <m:sub>
                        <m:r>
                          <a:rPr lang="es-ES" sz="1200" b="0" i="1" smtClean="0">
                            <a:latin typeface="Cambria Math" panose="02040503050406030204" pitchFamily="18" charset="0"/>
                            <a:cs typeface="Arial" panose="020B0604020202020204" pitchFamily="34" charset="0"/>
                          </a:rPr>
                          <m:t>𝑢</m:t>
                        </m:r>
                      </m:sub>
                    </m:sSub>
                    <m:r>
                      <a:rPr lang="es-ES" sz="1200" b="0" i="1" smtClean="0">
                        <a:latin typeface="Cambria Math" panose="02040503050406030204" pitchFamily="18" charset="0"/>
                        <a:cs typeface="Arial" panose="020B0604020202020204" pitchFamily="34" charset="0"/>
                      </a:rPr>
                      <m:t>=5 </m:t>
                    </m:r>
                    <m:r>
                      <a:rPr lang="es-ES" sz="1200" b="0" i="1" smtClean="0">
                        <a:latin typeface="Cambria Math" panose="02040503050406030204" pitchFamily="18" charset="0"/>
                        <a:ea typeface="Cambria Math" panose="02040503050406030204" pitchFamily="18" charset="0"/>
                        <a:cs typeface="Arial" panose="020B0604020202020204" pitchFamily="34" charset="0"/>
                      </a:rPr>
                      <m:t>𝜇</m:t>
                    </m:r>
                    <m:r>
                      <a:rPr lang="es-ES" sz="1200" b="0" i="1" smtClean="0">
                        <a:latin typeface="Cambria Math" panose="02040503050406030204" pitchFamily="18" charset="0"/>
                        <a:ea typeface="Cambria Math" panose="02040503050406030204" pitchFamily="18" charset="0"/>
                        <a:cs typeface="Arial" panose="020B0604020202020204" pitchFamily="34" charset="0"/>
                      </a:rPr>
                      <m:t>𝑚</m:t>
                    </m:r>
                  </m:oMath>
                </a14:m>
                <a:r>
                  <a:rPr lang="en-US" sz="1200" dirty="0">
                    <a:latin typeface="Arial" panose="020B0604020202020204" pitchFamily="34" charset="0"/>
                    <a:cs typeface="Arial" panose="020B0604020202020204" pitchFamily="34" charset="0"/>
                  </a:rPr>
                  <a:t> and </a:t>
                </a:r>
                <a14:m>
                  <m:oMath xmlns:m="http://schemas.openxmlformats.org/officeDocument/2006/math">
                    <m:sSub>
                      <m:sSubPr>
                        <m:ctrlPr>
                          <a:rPr lang="es-ES" sz="1200" i="1">
                            <a:latin typeface="Cambria Math" panose="02040503050406030204" pitchFamily="18" charset="0"/>
                            <a:cs typeface="Arial" panose="020B0604020202020204" pitchFamily="34" charset="0"/>
                          </a:rPr>
                        </m:ctrlPr>
                      </m:sSubPr>
                      <m:e>
                        <m:r>
                          <a:rPr lang="es-ES" sz="1200" i="1">
                            <a:latin typeface="Cambria Math" panose="02040503050406030204" pitchFamily="18" charset="0"/>
                            <a:cs typeface="Arial" panose="020B0604020202020204" pitchFamily="34" charset="0"/>
                          </a:rPr>
                          <m:t>𝐿</m:t>
                        </m:r>
                      </m:e>
                      <m:sub>
                        <m:r>
                          <a:rPr lang="es-ES" sz="1200" b="0" i="1" smtClean="0">
                            <a:latin typeface="Cambria Math" panose="02040503050406030204" pitchFamily="18" charset="0"/>
                            <a:cs typeface="Arial" panose="020B0604020202020204" pitchFamily="34" charset="0"/>
                          </a:rPr>
                          <m:t>𝑑</m:t>
                        </m:r>
                      </m:sub>
                    </m:sSub>
                    <m:r>
                      <a:rPr lang="es-ES" sz="1200" i="1">
                        <a:latin typeface="Cambria Math" panose="02040503050406030204" pitchFamily="18" charset="0"/>
                        <a:cs typeface="Arial" panose="020B0604020202020204" pitchFamily="34" charset="0"/>
                      </a:rPr>
                      <m:t>=</m:t>
                    </m:r>
                    <m:r>
                      <a:rPr lang="es-ES" sz="1200" b="0" i="1" smtClean="0">
                        <a:latin typeface="Cambria Math" panose="02040503050406030204" pitchFamily="18" charset="0"/>
                        <a:cs typeface="Arial" panose="020B0604020202020204" pitchFamily="34" charset="0"/>
                      </a:rPr>
                      <m:t>2</m:t>
                    </m:r>
                    <m:r>
                      <a:rPr lang="es-ES" sz="1200" i="1">
                        <a:latin typeface="Cambria Math" panose="02040503050406030204" pitchFamily="18" charset="0"/>
                        <a:cs typeface="Arial" panose="020B0604020202020204" pitchFamily="34" charset="0"/>
                      </a:rPr>
                      <m:t>5 </m:t>
                    </m:r>
                    <m:r>
                      <a:rPr lang="es-ES" sz="1200" i="1">
                        <a:latin typeface="Cambria Math" panose="02040503050406030204" pitchFamily="18" charset="0"/>
                        <a:ea typeface="Cambria Math" panose="02040503050406030204" pitchFamily="18" charset="0"/>
                        <a:cs typeface="Arial" panose="020B0604020202020204" pitchFamily="34" charset="0"/>
                      </a:rPr>
                      <m:t>𝜇</m:t>
                    </m:r>
                    <m:r>
                      <a:rPr lang="es-ES" sz="1200" i="1">
                        <a:latin typeface="Cambria Math" panose="02040503050406030204" pitchFamily="18" charset="0"/>
                        <a:ea typeface="Cambria Math" panose="02040503050406030204" pitchFamily="18" charset="0"/>
                        <a:cs typeface="Arial" panose="020B0604020202020204" pitchFamily="34" charset="0"/>
                      </a:rPr>
                      <m:t>𝑚</m:t>
                    </m:r>
                  </m:oMath>
                </a14:m>
                <a:r>
                  <a:rPr lang="en-US" sz="1200" dirty="0">
                    <a:latin typeface="Arial" panose="020B0604020202020204" pitchFamily="34" charset="0"/>
                    <a:cs typeface="Arial" panose="020B0604020202020204" pitchFamily="34" charset="0"/>
                  </a:rPr>
                  <a:t>, while the other has</a:t>
                </a:r>
                <a14:m>
                  <m:oMath xmlns:m="http://schemas.openxmlformats.org/officeDocument/2006/math">
                    <m:sSub>
                      <m:sSubPr>
                        <m:ctrlPr>
                          <a:rPr lang="es-ES" sz="1200" i="1">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 </m:t>
                        </m:r>
                        <m:r>
                          <a:rPr lang="es-ES" sz="1200" i="1">
                            <a:latin typeface="Cambria Math" panose="02040503050406030204" pitchFamily="18" charset="0"/>
                            <a:cs typeface="Arial" panose="020B0604020202020204" pitchFamily="34" charset="0"/>
                          </a:rPr>
                          <m:t>𝐿</m:t>
                        </m:r>
                      </m:e>
                      <m:sub>
                        <m:r>
                          <a:rPr lang="es-ES" sz="1200" i="1">
                            <a:latin typeface="Cambria Math" panose="02040503050406030204" pitchFamily="18" charset="0"/>
                            <a:cs typeface="Arial" panose="020B0604020202020204" pitchFamily="34" charset="0"/>
                          </a:rPr>
                          <m:t>𝑢</m:t>
                        </m:r>
                      </m:sub>
                    </m:sSub>
                    <m:r>
                      <a:rPr lang="es-ES" sz="1200" i="1">
                        <a:latin typeface="Cambria Math" panose="02040503050406030204" pitchFamily="18" charset="0"/>
                        <a:cs typeface="Arial" panose="020B0604020202020204" pitchFamily="34" charset="0"/>
                      </a:rPr>
                      <m:t>=</m:t>
                    </m:r>
                    <m:r>
                      <a:rPr lang="es-ES" sz="1200" b="0" i="1" smtClean="0">
                        <a:latin typeface="Cambria Math" panose="02040503050406030204" pitchFamily="18" charset="0"/>
                        <a:cs typeface="Arial" panose="020B0604020202020204" pitchFamily="34" charset="0"/>
                      </a:rPr>
                      <m:t>2</m:t>
                    </m:r>
                    <m:r>
                      <a:rPr lang="es-ES" sz="1200" i="1">
                        <a:latin typeface="Cambria Math" panose="02040503050406030204" pitchFamily="18" charset="0"/>
                        <a:cs typeface="Arial" panose="020B0604020202020204" pitchFamily="34" charset="0"/>
                      </a:rPr>
                      <m:t>5 </m:t>
                    </m:r>
                    <m:r>
                      <a:rPr lang="es-ES" sz="1200" i="1">
                        <a:latin typeface="Cambria Math" panose="02040503050406030204" pitchFamily="18" charset="0"/>
                        <a:ea typeface="Cambria Math" panose="02040503050406030204" pitchFamily="18" charset="0"/>
                        <a:cs typeface="Arial" panose="020B0604020202020204" pitchFamily="34" charset="0"/>
                      </a:rPr>
                      <m:t>𝜇</m:t>
                    </m:r>
                    <m:r>
                      <a:rPr lang="es-ES" sz="1200" i="1">
                        <a:latin typeface="Cambria Math" panose="02040503050406030204" pitchFamily="18" charset="0"/>
                        <a:ea typeface="Cambria Math" panose="02040503050406030204" pitchFamily="18" charset="0"/>
                        <a:cs typeface="Arial" panose="020B0604020202020204" pitchFamily="34" charset="0"/>
                      </a:rPr>
                      <m:t>𝑚</m:t>
                    </m:r>
                  </m:oMath>
                </a14:m>
                <a:r>
                  <a:rPr lang="en-US" sz="1200" dirty="0">
                    <a:latin typeface="Arial" panose="020B0604020202020204" pitchFamily="34" charset="0"/>
                    <a:cs typeface="Arial" panose="020B0604020202020204" pitchFamily="34" charset="0"/>
                  </a:rPr>
                  <a:t> and </a:t>
                </a:r>
                <a14:m>
                  <m:oMath xmlns:m="http://schemas.openxmlformats.org/officeDocument/2006/math">
                    <m:sSub>
                      <m:sSubPr>
                        <m:ctrlPr>
                          <a:rPr lang="es-ES" sz="1200" i="1">
                            <a:latin typeface="Cambria Math" panose="02040503050406030204" pitchFamily="18" charset="0"/>
                            <a:cs typeface="Arial" panose="020B0604020202020204" pitchFamily="34" charset="0"/>
                          </a:rPr>
                        </m:ctrlPr>
                      </m:sSubPr>
                      <m:e>
                        <m:r>
                          <a:rPr lang="es-ES" sz="1200" i="1">
                            <a:latin typeface="Cambria Math" panose="02040503050406030204" pitchFamily="18" charset="0"/>
                            <a:cs typeface="Arial" panose="020B0604020202020204" pitchFamily="34" charset="0"/>
                          </a:rPr>
                          <m:t>𝐿</m:t>
                        </m:r>
                      </m:e>
                      <m:sub>
                        <m:r>
                          <a:rPr lang="es-ES" sz="1200" b="0" i="1" smtClean="0">
                            <a:latin typeface="Cambria Math" panose="02040503050406030204" pitchFamily="18" charset="0"/>
                            <a:cs typeface="Arial" panose="020B0604020202020204" pitchFamily="34" charset="0"/>
                          </a:rPr>
                          <m:t>𝑑</m:t>
                        </m:r>
                      </m:sub>
                    </m:sSub>
                    <m:r>
                      <a:rPr lang="es-ES" sz="1200" i="1">
                        <a:latin typeface="Cambria Math" panose="02040503050406030204" pitchFamily="18" charset="0"/>
                        <a:cs typeface="Arial" panose="020B0604020202020204" pitchFamily="34" charset="0"/>
                      </a:rPr>
                      <m:t>=5 </m:t>
                    </m:r>
                    <m:r>
                      <a:rPr lang="es-ES" sz="1200" i="1">
                        <a:latin typeface="Cambria Math" panose="02040503050406030204" pitchFamily="18" charset="0"/>
                        <a:ea typeface="Cambria Math" panose="02040503050406030204" pitchFamily="18" charset="0"/>
                        <a:cs typeface="Arial" panose="020B0604020202020204" pitchFamily="34" charset="0"/>
                      </a:rPr>
                      <m:t>𝜇</m:t>
                    </m:r>
                    <m:r>
                      <a:rPr lang="es-ES" sz="1200" i="1">
                        <a:latin typeface="Cambria Math" panose="02040503050406030204" pitchFamily="18" charset="0"/>
                        <a:ea typeface="Cambria Math" panose="02040503050406030204" pitchFamily="18" charset="0"/>
                        <a:cs typeface="Arial" panose="020B0604020202020204" pitchFamily="34" charset="0"/>
                      </a:rPr>
                      <m:t>𝑚</m:t>
                    </m:r>
                  </m:oMath>
                </a14:m>
                <a:r>
                  <a:rPr lang="en-US" sz="1200" dirty="0">
                    <a:latin typeface="Arial" panose="020B0604020202020204" pitchFamily="34" charset="0"/>
                    <a:cs typeface="Arial" panose="020B0604020202020204" pitchFamily="34" charset="0"/>
                  </a:rPr>
                  <a:t>, In the previous case, shown in slide 5, the response of MZI 2 could be observed, where H22​ had one maximum and two minima.</a:t>
                </a:r>
              </a:p>
            </p:txBody>
          </p:sp>
        </mc:Choice>
        <mc:Fallback xmlns="">
          <p:sp>
            <p:nvSpPr>
              <p:cNvPr id="22" name="CuadroTexto 21">
                <a:extLst>
                  <a:ext uri="{FF2B5EF4-FFF2-40B4-BE49-F238E27FC236}">
                    <a16:creationId xmlns:a16="http://schemas.microsoft.com/office/drawing/2014/main" id="{AEE24892-12C0-A21F-B193-3B59ABA45CFE}"/>
                  </a:ext>
                </a:extLst>
              </p:cNvPr>
              <p:cNvSpPr txBox="1">
                <a:spLocks noRot="1" noChangeAspect="1" noMove="1" noResize="1" noEditPoints="1" noAdjustHandles="1" noChangeArrowheads="1" noChangeShapeType="1" noTextEdit="1"/>
              </p:cNvSpPr>
              <p:nvPr/>
            </p:nvSpPr>
            <p:spPr>
              <a:xfrm>
                <a:off x="8451955" y="2309686"/>
                <a:ext cx="3435245" cy="1200329"/>
              </a:xfrm>
              <a:prstGeom prst="rect">
                <a:avLst/>
              </a:prstGeom>
              <a:blipFill>
                <a:blip r:embed="rId11"/>
                <a:stretch>
                  <a:fillRect b="-990"/>
                </a:stretch>
              </a:blipFill>
              <a:ln w="28575">
                <a:solidFill>
                  <a:srgbClr val="E0700D"/>
                </a:solidFill>
              </a:ln>
            </p:spPr>
            <p:txBody>
              <a:bodyPr/>
              <a:lstStyle/>
              <a:p>
                <a:r>
                  <a:rPr lang="es-CO">
                    <a:noFill/>
                  </a:rPr>
                  <a:t> </a:t>
                </a:r>
              </a:p>
            </p:txBody>
          </p:sp>
        </mc:Fallback>
      </mc:AlternateContent>
    </p:spTree>
    <p:extLst>
      <p:ext uri="{BB962C8B-B14F-4D97-AF65-F5344CB8AC3E}">
        <p14:creationId xmlns:p14="http://schemas.microsoft.com/office/powerpoint/2010/main" val="19239817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14</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9625</TotalTime>
  <Words>2657</Words>
  <Application>Microsoft Office PowerPoint</Application>
  <PresentationFormat>Panorámica</PresentationFormat>
  <Paragraphs>219</Paragraphs>
  <Slides>14</Slides>
  <Notes>11</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14</vt:i4>
      </vt:variant>
    </vt:vector>
  </HeadingPairs>
  <TitlesOfParts>
    <vt:vector size="22" baseType="lpstr">
      <vt:lpstr>Aptos</vt:lpstr>
      <vt:lpstr>Arial</vt:lpstr>
      <vt:lpstr>Calibri</vt:lpstr>
      <vt:lpstr>Cambria Math</vt:lpstr>
      <vt:lpstr>Courier New</vt:lpstr>
      <vt:lpstr>Lucida Sans</vt:lpstr>
      <vt:lpstr>Wingdings</vt:lpstr>
      <vt:lpstr>Office Theme</vt:lpstr>
      <vt:lpstr>Presentación de PowerPoint</vt:lpstr>
      <vt:lpstr>Instructions General</vt:lpstr>
      <vt:lpstr>ASSESSMENT #1 – Recap from theory – Balanced MZI  </vt:lpstr>
      <vt:lpstr>ASSESSMENT #1 – Recap from theory – Phase Imbalance MZI </vt:lpstr>
      <vt:lpstr>ASSESSMENT #1 – Recap from theory – Delay Imbalance MZI </vt:lpstr>
      <vt:lpstr>ASSESSMENT #1 – Recap from theory – Delay Imbalance MZI </vt:lpstr>
      <vt:lpstr>ASSESSMENT #1 – Recap from theory – Amplitude Imbalance MZI </vt:lpstr>
      <vt:lpstr>ASSESSMENT #2 – Recap from theory – Calculation of ΔL  </vt:lpstr>
      <vt:lpstr>ASSESSMENT #2 – Recap from theory – Calculation of ΔL  </vt:lpstr>
      <vt:lpstr>ASSESSMENT #3 – SAX implementation  </vt:lpstr>
      <vt:lpstr>Extra assessments </vt:lpstr>
      <vt:lpstr>Extra assessments </vt:lpstr>
      <vt:lpstr>Extra assessments </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Paula Daniela Ortiz Cuervo</cp:lastModifiedBy>
  <cp:revision>30</cp:revision>
  <dcterms:created xsi:type="dcterms:W3CDTF">2025-01-27T02:46:57Z</dcterms:created>
  <dcterms:modified xsi:type="dcterms:W3CDTF">2026-03-16T20:31:52Z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
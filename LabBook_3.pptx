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handoutMasterIdLst>
    <p:handoutMasterId r:id="rId17"/>
  </p:handoutMasterIdLst>
  <p:sldIdLst>
    <p:sldId id="256" r:id="rId2"/>
    <p:sldId id="289" r:id="rId3"/>
    <p:sldId id="290" r:id="rId4"/>
    <p:sldId id="300" r:id="rId5"/>
    <p:sldId id="301" r:id="rId6"/>
    <p:sldId id="304" r:id="rId7"/>
    <p:sldId id="302" r:id="rId8"/>
    <p:sldId id="295" r:id="rId9"/>
    <p:sldId id="303" r:id="rId10"/>
    <p:sldId id="296" r:id="rId11"/>
    <p:sldId id="293" r:id="rId12"/>
    <p:sldId id="299" r:id="rId13"/>
    <p:sldId id="298" r:id="rId14"/>
    <p:sldId id="288" r:id="rId15"/>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65" d="100"/>
          <a:sy n="65" d="100"/>
        </p:scale>
        <p:origin x="1326" y="60"/>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16/03/2026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16/03/2026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FE488-4E66-AF04-A35A-BCA49383BB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485F94-8FAB-447E-E341-32CA1FCEFD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BD403A0-7CB2-7918-1493-CCD360CFFBC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A389E9D-397F-6C32-926C-A9D04CF3E67A}"/>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284932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975C8-8149-A7E2-71C2-53FFB8A380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66304E-DCC3-3C88-7DEE-29A5D9EC27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6E9CE3-F1A8-CD1C-C5C9-8A7144DAF87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A09B51C-BE01-676E-7D38-AEF1C18E326F}"/>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344780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65839-8CE1-5283-E691-8B831E64A0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E68D19-98F5-44C9-F03B-99887395EB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0106AE8-49BD-5392-FD40-39CBFCC44D9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6BB8905-9351-4C18-1512-01B7D2E2D7C8}"/>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1367161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1C31-4D3D-513B-5024-3611E0FCBC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C18478-92BE-9A29-2CB6-0CEC1336BC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B4B91D-4EA7-3A1A-D66A-48B274B2BF4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0D14FB1-F995-68C3-1ED4-67F8AEB9C9FC}"/>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3301120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DD022-CC09-7035-2671-68750B4D206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D861D4-5E6C-75E1-44E5-BEB6C11566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0301FA4-F973-C7E2-7522-BA1A3F792D3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AFA5614-7030-373E-360F-9F03C8EE7B7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112342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2917382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0654B-42E1-EAF4-BE89-36C7316061F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1E3869-9EA1-0926-9172-65F71C4828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21554DC-1EF0-8487-96AC-9AA712B9280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CB821DD-D99C-C540-5F48-3C4B0E5289C8}"/>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450590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00804-44DC-B533-9400-CDECF2673A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762BE2-355B-23B5-1152-51B7EF9E84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046D4F4-20D0-D01D-088C-44F6ACC356A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FF46F51-99CF-52E5-4414-92D337DCB687}"/>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2533047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4.sv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sv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50.png"/><Relationship Id="rId7" Type="http://schemas.openxmlformats.org/officeDocument/2006/relationships/image" Target="../media/image25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0.png"/><Relationship Id="rId7" Type="http://schemas.openxmlformats.org/officeDocument/2006/relationships/image" Target="../media/image28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90.pn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360.png"/><Relationship Id="rId5" Type="http://schemas.openxmlformats.org/officeDocument/2006/relationships/image" Target="../media/image320.png"/><Relationship Id="rId10" Type="http://schemas.openxmlformats.org/officeDocument/2006/relationships/image" Target="../media/image43.png"/><Relationship Id="rId4" Type="http://schemas.openxmlformats.org/officeDocument/2006/relationships/image" Target="../media/image4.svg"/><Relationship Id="rId9" Type="http://schemas.openxmlformats.org/officeDocument/2006/relationships/image" Target="../media/image42.png"/></Relationships>
</file>

<file path=ppt/slides/_rels/slide1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Paula Daniela Ortiz Cuervo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n-US" kern="0" dirty="0">
                <a:solidFill>
                  <a:sysClr val="windowText" lastClr="000000"/>
                </a:solidFill>
              </a:rPr>
              <a:t>Either run locally or at Cloud workspace</a:t>
            </a: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4"/>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5"/>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7"/>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Balanced MZI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2" name="CuadroTexto 1">
            <a:extLst>
              <a:ext uri="{FF2B5EF4-FFF2-40B4-BE49-F238E27FC236}">
                <a16:creationId xmlns:a16="http://schemas.microsoft.com/office/drawing/2014/main" id="{D0F8CF3B-B920-DBFC-F825-0C87B51EADA7}"/>
              </a:ext>
            </a:extLst>
          </p:cNvPr>
          <p:cNvSpPr txBox="1"/>
          <p:nvPr/>
        </p:nvSpPr>
        <p:spPr>
          <a:xfrm>
            <a:off x="6784203" y="1316217"/>
            <a:ext cx="5054874" cy="4339650"/>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We observe that for the case of a balanced MZI, there is no spectral periodicity. This occurs because when we split the signal into both paths, no phase shift is introduced (since the MZI is balanced). Without this phase difference, spectral periodicity does not arise; instead, we find that one of the outputs exhibits constructive interference while the other shows destructive interference.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Now, if the coupler changes to a 90:10 ratio, we see that we no longer have purely destructive or purely constructive interference. This is because the power in each arm is no longer the same. In this scenario, destructive interference results in approximately 0.35, while constructive interference reaches around 0.65.</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If we consider excess losses, we will find that the magnitude of constructive interference cannot reach 1. This is because the output power is no longer equal to the input power; some power is lost. In this case, we introduced a loss of 0.1 for each coupler. As a result, nearly 0.2 of the power is lost, as observed in the graph.</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8" name="Imagen 7">
            <a:extLst>
              <a:ext uri="{FF2B5EF4-FFF2-40B4-BE49-F238E27FC236}">
                <a16:creationId xmlns:a16="http://schemas.microsoft.com/office/drawing/2014/main" id="{63CC0B9C-49D2-29AD-7D1D-CA402576D4CA}"/>
              </a:ext>
            </a:extLst>
          </p:cNvPr>
          <p:cNvPicPr>
            <a:picLocks noChangeAspect="1"/>
          </p:cNvPicPr>
          <p:nvPr/>
        </p:nvPicPr>
        <p:blipFill>
          <a:blip r:embed="rId5"/>
          <a:stretch>
            <a:fillRect/>
          </a:stretch>
        </p:blipFill>
        <p:spPr>
          <a:xfrm>
            <a:off x="685800" y="1028379"/>
            <a:ext cx="2880000" cy="2311109"/>
          </a:xfrm>
          <a:prstGeom prst="rect">
            <a:avLst/>
          </a:prstGeom>
        </p:spPr>
      </p:pic>
      <p:pic>
        <p:nvPicPr>
          <p:cNvPr id="9" name="Imagen 8">
            <a:extLst>
              <a:ext uri="{FF2B5EF4-FFF2-40B4-BE49-F238E27FC236}">
                <a16:creationId xmlns:a16="http://schemas.microsoft.com/office/drawing/2014/main" id="{6A68F622-8166-81F4-CFF8-C4234F79271E}"/>
              </a:ext>
            </a:extLst>
          </p:cNvPr>
          <p:cNvPicPr>
            <a:picLocks noChangeAspect="1"/>
          </p:cNvPicPr>
          <p:nvPr/>
        </p:nvPicPr>
        <p:blipFill>
          <a:blip r:embed="rId6"/>
          <a:stretch>
            <a:fillRect/>
          </a:stretch>
        </p:blipFill>
        <p:spPr>
          <a:xfrm>
            <a:off x="685800" y="3668600"/>
            <a:ext cx="2880000" cy="2275000"/>
          </a:xfrm>
          <a:prstGeom prst="rect">
            <a:avLst/>
          </a:prstGeom>
        </p:spPr>
      </p:pic>
      <p:pic>
        <p:nvPicPr>
          <p:cNvPr id="13" name="Imagen 12">
            <a:extLst>
              <a:ext uri="{FF2B5EF4-FFF2-40B4-BE49-F238E27FC236}">
                <a16:creationId xmlns:a16="http://schemas.microsoft.com/office/drawing/2014/main" id="{1A0BF41F-D4A4-6BF4-EA4C-E8DEFE3653DB}"/>
              </a:ext>
            </a:extLst>
          </p:cNvPr>
          <p:cNvPicPr>
            <a:picLocks noChangeAspect="1"/>
          </p:cNvPicPr>
          <p:nvPr/>
        </p:nvPicPr>
        <p:blipFill>
          <a:blip r:embed="rId7"/>
          <a:stretch>
            <a:fillRect/>
          </a:stretch>
        </p:blipFill>
        <p:spPr>
          <a:xfrm>
            <a:off x="3597000" y="2362200"/>
            <a:ext cx="2880000" cy="2247684"/>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3D4AE-00C4-5739-13B5-8207554BB1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808C1D5-9FC9-2549-800C-71B6CC0EE5BC}"/>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Phase Imbalance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DB79E5F-21EA-0288-58B2-D8C871448F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4E7C246-01EB-A6E2-2AC3-18CAD6267572}"/>
              </a:ext>
            </a:extLst>
          </p:cNvPr>
          <p:cNvSpPr>
            <a:spLocks noGrp="1"/>
          </p:cNvSpPr>
          <p:nvPr>
            <p:ph type="sldNum" sz="quarter" idx="7"/>
          </p:nvPr>
        </p:nvSpPr>
        <p:spPr/>
        <p:txBody>
          <a:bodyPr/>
          <a:lstStyle/>
          <a:p>
            <a:fld id="{B6F15528-21DE-4FAA-801E-634DDDAF4B2B}" type="slidenum">
              <a:rPr lang="es-ES" smtClean="0"/>
              <a:t>4</a:t>
            </a:fld>
            <a:endParaRPr lang="es-ES"/>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00D2574A-3601-651C-20E5-E2B5C8F4DA0A}"/>
                  </a:ext>
                </a:extLst>
              </p:cNvPr>
              <p:cNvSpPr txBox="1"/>
              <p:nvPr/>
            </p:nvSpPr>
            <p:spPr>
              <a:xfrm>
                <a:off x="3662010" y="914400"/>
                <a:ext cx="8246800" cy="5676362"/>
              </a:xfrm>
              <a:prstGeom prst="rect">
                <a:avLst/>
              </a:prstGeom>
              <a:solidFill>
                <a:schemeClr val="bg1">
                  <a:lumMod val="95000"/>
                </a:schemeClr>
              </a:solidFill>
              <a:ln w="28575">
                <a:solidFill>
                  <a:srgbClr val="E0700D"/>
                </a:solidFill>
              </a:ln>
            </p:spPr>
            <p:txBody>
              <a:bodyPr wrap="square" rtlCol="0">
                <a:spAutoFit/>
              </a:bodyPr>
              <a:lstStyle/>
              <a:p>
                <a:r>
                  <a:rPr lang="en-US" sz="1200" dirty="0">
                    <a:latin typeface="Arial" panose="020B0604020202020204" pitchFamily="34" charset="0"/>
                    <a:cs typeface="Arial" panose="020B0604020202020204" pitchFamily="34" charset="0"/>
                  </a:rPr>
                  <a:t>To achieve a phase imbalance, the effective index of one of the arms is varied, which generates a phase shift. For the cross-sectional design, two types of waveguides were used: one called </a:t>
                </a:r>
                <a:r>
                  <a:rPr lang="en-US" sz="1200" dirty="0" err="1">
                    <a:latin typeface="Arial" panose="020B0604020202020204" pitchFamily="34" charset="0"/>
                    <a:cs typeface="Arial" panose="020B0604020202020204" pitchFamily="34" charset="0"/>
                  </a:rPr>
                  <a:t>SiN_clad</a:t>
                </a:r>
                <a:r>
                  <a:rPr lang="en-US" sz="1200" dirty="0">
                    <a:latin typeface="Arial" panose="020B0604020202020204" pitchFamily="34" charset="0"/>
                    <a:cs typeface="Arial" panose="020B0604020202020204" pitchFamily="34" charset="0"/>
                  </a:rPr>
                  <a:t> and the other </a:t>
                </a:r>
                <a:r>
                  <a:rPr lang="en-US" sz="1200" dirty="0" err="1">
                    <a:latin typeface="Arial" panose="020B0604020202020204" pitchFamily="34" charset="0"/>
                    <a:cs typeface="Arial" panose="020B0604020202020204" pitchFamily="34" charset="0"/>
                  </a:rPr>
                  <a:t>SiN_wat</a:t>
                </a:r>
                <a:r>
                  <a:rPr lang="en-US" sz="1200" dirty="0">
                    <a:latin typeface="Arial" panose="020B0604020202020204" pitchFamily="34" charset="0"/>
                    <a:cs typeface="Arial" panose="020B0604020202020204" pitchFamily="34" charset="0"/>
                  </a:rPr>
                  <a:t>, with an index difference of approximately 0.03 for the TE0 mode. </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We observe that one of the ports exhibits a squared cosine behavior, while the other shows a squared sine behavior. This occurs because the total input power must always be conserved; that is, the sum of both outputs must equal 1. Mathematically, the sum of cos^2 and sin⁡^2 equals 1. Additionally, this behavior arises because the coupling coefficients are 0.5, meaning the power is equally divided between the two outputs. The complementary response of the two arms is given by the following equations:</a:t>
                </a:r>
              </a:p>
              <a:p>
                <a:endParaRPr lang="es-CO" sz="12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𝐻</m:t>
                          </m:r>
                        </m:e>
                        <m:sub>
                          <m:r>
                            <a:rPr lang="es-ES" sz="1200" b="0" i="1" smtClean="0">
                              <a:latin typeface="Cambria Math" panose="02040503050406030204" pitchFamily="18" charset="0"/>
                              <a:cs typeface="Arial" panose="020B0604020202020204" pitchFamily="34" charset="0"/>
                            </a:rPr>
                            <m:t>21</m:t>
                          </m:r>
                        </m:sub>
                      </m:sSub>
                      <m:d>
                        <m:dPr>
                          <m:ctrlPr>
                            <a:rPr lang="es-ES" sz="1200" b="0" i="1" smtClean="0">
                              <a:latin typeface="Cambria Math" panose="02040503050406030204" pitchFamily="18" charset="0"/>
                              <a:cs typeface="Arial" panose="020B0604020202020204" pitchFamily="34" charset="0"/>
                            </a:rPr>
                          </m:ctrlPr>
                        </m:dPr>
                        <m:e>
                          <m:r>
                            <a:rPr lang="es-ES" sz="1200" b="0" i="1" smtClean="0">
                              <a:latin typeface="Cambria Math" panose="02040503050406030204" pitchFamily="18" charset="0"/>
                              <a:ea typeface="Cambria Math" panose="02040503050406030204" pitchFamily="18" charset="0"/>
                              <a:cs typeface="Arial" panose="020B0604020202020204" pitchFamily="34" charset="0"/>
                            </a:rPr>
                            <m:t>𝜆</m:t>
                          </m:r>
                        </m:e>
                      </m:d>
                      <m:r>
                        <a:rPr lang="es-ES" sz="1200" b="0" i="1" smtClean="0">
                          <a:latin typeface="Cambria Math" panose="02040503050406030204" pitchFamily="18" charset="0"/>
                          <a:ea typeface="Cambria Math" panose="02040503050406030204" pitchFamily="18" charset="0"/>
                          <a:cs typeface="Arial" panose="020B0604020202020204" pitchFamily="34" charset="0"/>
                        </a:rPr>
                        <m:t>=</m:t>
                      </m:r>
                      <m:func>
                        <m:func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funcPr>
                        <m:fName>
                          <m:sSup>
                            <m:sSup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s-ES" sz="1200" b="0" i="0" smtClean="0">
                                  <a:latin typeface="Cambria Math" panose="02040503050406030204" pitchFamily="18" charset="0"/>
                                  <a:ea typeface="Cambria Math" panose="02040503050406030204" pitchFamily="18" charset="0"/>
                                  <a:cs typeface="Arial" panose="020B0604020202020204" pitchFamily="34" charset="0"/>
                                </a:rPr>
                                <m:t>cos</m:t>
                              </m:r>
                            </m:e>
                            <m:sup>
                              <m:r>
                                <a:rPr lang="es-ES" sz="1200" b="0" i="1" smtClean="0">
                                  <a:latin typeface="Cambria Math" panose="02040503050406030204" pitchFamily="18" charset="0"/>
                                  <a:ea typeface="Cambria Math" panose="02040503050406030204" pitchFamily="18" charset="0"/>
                                  <a:cs typeface="Arial" panose="020B0604020202020204" pitchFamily="34" charset="0"/>
                                </a:rPr>
                                <m:t>2</m:t>
                              </m:r>
                            </m:sup>
                          </m:sSup>
                        </m:fName>
                        <m:e>
                          <m:d>
                            <m:d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num>
                                <m:den>
                                  <m:r>
                                    <a:rPr lang="es-ES" sz="1200" b="0" i="1" smtClean="0">
                                      <a:latin typeface="Cambria Math" panose="02040503050406030204" pitchFamily="18" charset="0"/>
                                      <a:ea typeface="Cambria Math" panose="02040503050406030204" pitchFamily="18" charset="0"/>
                                      <a:cs typeface="Arial" panose="020B0604020202020204" pitchFamily="34" charset="0"/>
                                    </a:rPr>
                                    <m:t>2</m:t>
                                  </m:r>
                                </m:den>
                              </m:f>
                              <m:d>
                                <m:d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dPr>
                                <m:e>
                                  <m:sSub>
                                    <m:sSub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ea typeface="Cambria Math" panose="02040503050406030204" pitchFamily="18" charset="0"/>
                                          <a:cs typeface="Arial" panose="020B0604020202020204" pitchFamily="34" charset="0"/>
                                        </a:rPr>
                                        <m:t>𝛽</m:t>
                                      </m:r>
                                    </m:e>
                                    <m:sub>
                                      <m:r>
                                        <a:rPr lang="es-ES" sz="1200" b="0" i="1" smtClean="0">
                                          <a:latin typeface="Cambria Math" panose="02040503050406030204" pitchFamily="18" charset="0"/>
                                          <a:ea typeface="Cambria Math" panose="02040503050406030204" pitchFamily="18" charset="0"/>
                                          <a:cs typeface="Arial" panose="020B0604020202020204" pitchFamily="34" charset="0"/>
                                        </a:rPr>
                                        <m:t>𝑢</m:t>
                                      </m:r>
                                    </m:sub>
                                  </m:sSub>
                                  <m:d>
                                    <m:d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dPr>
                                    <m:e>
                                      <m:r>
                                        <a:rPr lang="es-ES" sz="1200" b="0" i="1" smtClean="0">
                                          <a:latin typeface="Cambria Math" panose="02040503050406030204" pitchFamily="18" charset="0"/>
                                          <a:ea typeface="Cambria Math" panose="02040503050406030204" pitchFamily="18" charset="0"/>
                                          <a:cs typeface="Arial" panose="020B0604020202020204" pitchFamily="34" charset="0"/>
                                        </a:rPr>
                                        <m:t>𝜆</m:t>
                                      </m:r>
                                    </m:e>
                                  </m:d>
                                  <m:r>
                                    <a:rPr lang="es-ES" sz="12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ea typeface="Cambria Math" panose="02040503050406030204" pitchFamily="18" charset="0"/>
                                          <a:cs typeface="Arial" panose="020B0604020202020204" pitchFamily="34" charset="0"/>
                                        </a:rPr>
                                        <m:t>𝛽</m:t>
                                      </m:r>
                                    </m:e>
                                    <m:sub>
                                      <m:r>
                                        <a:rPr lang="es-ES" sz="1200" b="0" i="1" smtClean="0">
                                          <a:latin typeface="Cambria Math" panose="02040503050406030204" pitchFamily="18" charset="0"/>
                                          <a:ea typeface="Cambria Math" panose="02040503050406030204" pitchFamily="18" charset="0"/>
                                          <a:cs typeface="Arial" panose="020B0604020202020204" pitchFamily="34" charset="0"/>
                                        </a:rPr>
                                        <m:t>𝑑</m:t>
                                      </m:r>
                                    </m:sub>
                                  </m:sSub>
                                  <m:d>
                                    <m:d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dPr>
                                    <m:e>
                                      <m:r>
                                        <a:rPr lang="es-ES" sz="1200" b="0" i="1" smtClean="0">
                                          <a:latin typeface="Cambria Math" panose="02040503050406030204" pitchFamily="18" charset="0"/>
                                          <a:ea typeface="Cambria Math" panose="02040503050406030204" pitchFamily="18" charset="0"/>
                                          <a:cs typeface="Arial" panose="020B0604020202020204" pitchFamily="34" charset="0"/>
                                        </a:rPr>
                                        <m:t>𝜆</m:t>
                                      </m:r>
                                    </m:e>
                                  </m:d>
                                </m:e>
                              </m:d>
                            </m:e>
                          </m:d>
                        </m:e>
                      </m:func>
                    </m:oMath>
                  </m:oMathPara>
                </a14:m>
                <a:endParaRPr lang="es-CO" sz="12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𝐻</m:t>
                          </m:r>
                        </m:e>
                        <m:sub>
                          <m:r>
                            <a:rPr lang="es-ES" sz="1200" i="1">
                              <a:latin typeface="Cambria Math" panose="02040503050406030204" pitchFamily="18" charset="0"/>
                              <a:cs typeface="Arial" panose="020B0604020202020204" pitchFamily="34" charset="0"/>
                            </a:rPr>
                            <m:t>2</m:t>
                          </m:r>
                          <m:r>
                            <a:rPr lang="es-ES" sz="1200" b="0" i="1" smtClean="0">
                              <a:latin typeface="Cambria Math" panose="02040503050406030204" pitchFamily="18" charset="0"/>
                              <a:cs typeface="Arial" panose="020B0604020202020204" pitchFamily="34" charset="0"/>
                            </a:rPr>
                            <m:t>2</m:t>
                          </m:r>
                        </m:sub>
                      </m:sSub>
                      <m:d>
                        <m:dPr>
                          <m:ctrlPr>
                            <a:rPr lang="es-ES" sz="1200" i="1">
                              <a:latin typeface="Cambria Math" panose="02040503050406030204" pitchFamily="18" charset="0"/>
                              <a:cs typeface="Arial" panose="020B0604020202020204" pitchFamily="34" charset="0"/>
                            </a:rPr>
                          </m:ctrlPr>
                        </m:dPr>
                        <m:e>
                          <m:r>
                            <a:rPr lang="es-ES" sz="1200" i="1">
                              <a:latin typeface="Cambria Math" panose="02040503050406030204" pitchFamily="18" charset="0"/>
                              <a:ea typeface="Cambria Math" panose="02040503050406030204" pitchFamily="18" charset="0"/>
                              <a:cs typeface="Arial" panose="020B0604020202020204" pitchFamily="34" charset="0"/>
                            </a:rPr>
                            <m:t>𝜆</m:t>
                          </m:r>
                        </m:e>
                      </m:d>
                      <m:r>
                        <a:rPr lang="es-ES" sz="1200" i="1">
                          <a:latin typeface="Cambria Math" panose="02040503050406030204" pitchFamily="18" charset="0"/>
                          <a:ea typeface="Cambria Math" panose="02040503050406030204" pitchFamily="18" charset="0"/>
                          <a:cs typeface="Arial" panose="020B0604020202020204" pitchFamily="34" charset="0"/>
                        </a:rPr>
                        <m:t>=</m:t>
                      </m:r>
                      <m:func>
                        <m:funcPr>
                          <m:ctrlPr>
                            <a:rPr lang="es-ES" sz="1200" i="1">
                              <a:latin typeface="Cambria Math" panose="02040503050406030204" pitchFamily="18" charset="0"/>
                              <a:ea typeface="Cambria Math" panose="02040503050406030204" pitchFamily="18" charset="0"/>
                              <a:cs typeface="Arial" panose="020B0604020202020204" pitchFamily="34" charset="0"/>
                            </a:rPr>
                          </m:ctrlPr>
                        </m:funcPr>
                        <m:fName>
                          <m:sSup>
                            <m:sSupPr>
                              <m:ctrlPr>
                                <a:rPr lang="es-ES" sz="12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s-ES" sz="1200" b="0" i="0" smtClean="0">
                                  <a:latin typeface="Cambria Math" panose="02040503050406030204" pitchFamily="18" charset="0"/>
                                  <a:ea typeface="Cambria Math" panose="02040503050406030204" pitchFamily="18" charset="0"/>
                                  <a:cs typeface="Arial" panose="020B0604020202020204" pitchFamily="34" charset="0"/>
                                </a:rPr>
                                <m:t>sin</m:t>
                              </m:r>
                            </m:e>
                            <m:sup>
                              <m:r>
                                <a:rPr lang="es-ES" sz="1200" i="1">
                                  <a:latin typeface="Cambria Math" panose="02040503050406030204" pitchFamily="18" charset="0"/>
                                  <a:ea typeface="Cambria Math" panose="02040503050406030204" pitchFamily="18" charset="0"/>
                                  <a:cs typeface="Arial" panose="020B0604020202020204" pitchFamily="34" charset="0"/>
                                </a:rPr>
                                <m:t>2</m:t>
                              </m:r>
                            </m:sup>
                          </m:sSup>
                        </m:fName>
                        <m:e>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f>
                                <m:fPr>
                                  <m:ctrlPr>
                                    <a:rPr lang="es-ES" sz="1200" i="1">
                                      <a:latin typeface="Cambria Math" panose="02040503050406030204" pitchFamily="18" charset="0"/>
                                      <a:ea typeface="Cambria Math" panose="02040503050406030204" pitchFamily="18" charset="0"/>
                                      <a:cs typeface="Arial" panose="020B0604020202020204" pitchFamily="34" charset="0"/>
                                    </a:rPr>
                                  </m:ctrlPr>
                                </m:fPr>
                                <m:num>
                                  <m:r>
                                    <a:rPr lang="es-ES" sz="1200" i="1">
                                      <a:latin typeface="Cambria Math" panose="02040503050406030204" pitchFamily="18" charset="0"/>
                                      <a:ea typeface="Cambria Math" panose="02040503050406030204" pitchFamily="18" charset="0"/>
                                      <a:cs typeface="Arial" panose="020B0604020202020204" pitchFamily="34" charset="0"/>
                                    </a:rPr>
                                    <m:t>𝐿</m:t>
                                  </m:r>
                                </m:num>
                                <m:den>
                                  <m:r>
                                    <a:rPr lang="es-ES" sz="1200" i="1">
                                      <a:latin typeface="Cambria Math" panose="02040503050406030204" pitchFamily="18" charset="0"/>
                                      <a:ea typeface="Cambria Math" panose="02040503050406030204" pitchFamily="18" charset="0"/>
                                      <a:cs typeface="Arial" panose="020B0604020202020204" pitchFamily="34" charset="0"/>
                                    </a:rPr>
                                    <m:t>2</m:t>
                                  </m:r>
                                </m:den>
                              </m:f>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sSub>
                                    <m:sSubPr>
                                      <m:ctrlPr>
                                        <a:rPr lang="es-ES" sz="1200" i="1">
                                          <a:latin typeface="Cambria Math" panose="02040503050406030204" pitchFamily="18" charset="0"/>
                                          <a:ea typeface="Cambria Math" panose="02040503050406030204" pitchFamily="18" charset="0"/>
                                          <a:cs typeface="Arial" panose="020B0604020202020204" pitchFamily="34" charset="0"/>
                                        </a:rPr>
                                      </m:ctrlPr>
                                    </m:sSubPr>
                                    <m:e>
                                      <m:r>
                                        <a:rPr lang="es-ES" sz="1200" i="1">
                                          <a:latin typeface="Cambria Math" panose="02040503050406030204" pitchFamily="18" charset="0"/>
                                          <a:ea typeface="Cambria Math" panose="02040503050406030204" pitchFamily="18" charset="0"/>
                                          <a:cs typeface="Arial" panose="020B0604020202020204" pitchFamily="34" charset="0"/>
                                        </a:rPr>
                                        <m:t>𝛽</m:t>
                                      </m:r>
                                    </m:e>
                                    <m:sub>
                                      <m:r>
                                        <a:rPr lang="es-ES" sz="1200" i="1">
                                          <a:latin typeface="Cambria Math" panose="02040503050406030204" pitchFamily="18" charset="0"/>
                                          <a:ea typeface="Cambria Math" panose="02040503050406030204" pitchFamily="18" charset="0"/>
                                          <a:cs typeface="Arial" panose="020B0604020202020204" pitchFamily="34" charset="0"/>
                                        </a:rPr>
                                        <m:t>𝑢</m:t>
                                      </m:r>
                                    </m:sub>
                                  </m:sSub>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r>
                                        <a:rPr lang="es-ES" sz="1200" i="1">
                                          <a:latin typeface="Cambria Math" panose="02040503050406030204" pitchFamily="18" charset="0"/>
                                          <a:ea typeface="Cambria Math" panose="02040503050406030204" pitchFamily="18" charset="0"/>
                                          <a:cs typeface="Arial" panose="020B0604020202020204" pitchFamily="34" charset="0"/>
                                        </a:rPr>
                                        <m:t>𝜆</m:t>
                                      </m:r>
                                    </m:e>
                                  </m:d>
                                  <m:r>
                                    <a:rPr lang="es-ES" sz="1200" i="1">
                                      <a:latin typeface="Cambria Math" panose="02040503050406030204" pitchFamily="18" charset="0"/>
                                      <a:ea typeface="Cambria Math" panose="02040503050406030204" pitchFamily="18" charset="0"/>
                                      <a:cs typeface="Arial" panose="020B0604020202020204" pitchFamily="34" charset="0"/>
                                    </a:rPr>
                                    <m:t>−</m:t>
                                  </m:r>
                                  <m:sSub>
                                    <m:sSubPr>
                                      <m:ctrlPr>
                                        <a:rPr lang="es-ES" sz="1200" i="1">
                                          <a:latin typeface="Cambria Math" panose="02040503050406030204" pitchFamily="18" charset="0"/>
                                          <a:ea typeface="Cambria Math" panose="02040503050406030204" pitchFamily="18" charset="0"/>
                                          <a:cs typeface="Arial" panose="020B0604020202020204" pitchFamily="34" charset="0"/>
                                        </a:rPr>
                                      </m:ctrlPr>
                                    </m:sSubPr>
                                    <m:e>
                                      <m:r>
                                        <a:rPr lang="es-ES" sz="1200" i="1">
                                          <a:latin typeface="Cambria Math" panose="02040503050406030204" pitchFamily="18" charset="0"/>
                                          <a:ea typeface="Cambria Math" panose="02040503050406030204" pitchFamily="18" charset="0"/>
                                          <a:cs typeface="Arial" panose="020B0604020202020204" pitchFamily="34" charset="0"/>
                                        </a:rPr>
                                        <m:t>𝛽</m:t>
                                      </m:r>
                                    </m:e>
                                    <m:sub>
                                      <m:r>
                                        <a:rPr lang="es-ES" sz="1200" i="1">
                                          <a:latin typeface="Cambria Math" panose="02040503050406030204" pitchFamily="18" charset="0"/>
                                          <a:ea typeface="Cambria Math" panose="02040503050406030204" pitchFamily="18" charset="0"/>
                                          <a:cs typeface="Arial" panose="020B0604020202020204" pitchFamily="34" charset="0"/>
                                        </a:rPr>
                                        <m:t>𝑑</m:t>
                                      </m:r>
                                    </m:sub>
                                  </m:sSub>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r>
                                        <a:rPr lang="es-ES" sz="1200" i="1">
                                          <a:latin typeface="Cambria Math" panose="02040503050406030204" pitchFamily="18" charset="0"/>
                                          <a:ea typeface="Cambria Math" panose="02040503050406030204" pitchFamily="18" charset="0"/>
                                          <a:cs typeface="Arial" panose="020B0604020202020204" pitchFamily="34" charset="0"/>
                                        </a:rPr>
                                        <m:t>𝜆</m:t>
                                      </m:r>
                                    </m:e>
                                  </m:d>
                                </m:e>
                              </m:d>
                            </m:e>
                          </m:d>
                        </m:e>
                      </m:func>
                    </m:oMath>
                  </m:oMathPara>
                </a14:m>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this case, the device could also function as a tunable coupler, meaning the output ratio between the two ports can be varied by changing the effective index of each arm. This could also be achieved using a phase shifter that exploits the thermo-optic effect to modify the refractive index, thereby creating a phase difference.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For this approach, the device must be centered at a specific wavelength, for example 1.55 µm. At this wavelength, one branch might output 0.6 while the other outputs 0.4. Here, we can determine the required phase difference Δ𝛽(𝜆) to produce the desired output according to:</a:t>
                </a:r>
              </a:p>
              <a:p>
                <a:pPr algn="just"/>
                <a14:m>
                  <m:oMathPara xmlns:m="http://schemas.openxmlformats.org/officeDocument/2006/math">
                    <m:oMathParaPr>
                      <m:jc m:val="centerGroup"/>
                    </m:oMathParaPr>
                    <m:oMath xmlns:m="http://schemas.openxmlformats.org/officeDocument/2006/math">
                      <m:r>
                        <m:rPr>
                          <m:sty m:val="p"/>
                        </m:rPr>
                        <a:rPr lang="es-ES" sz="1200" i="1">
                          <a:latin typeface="Cambria Math" panose="02040503050406030204" pitchFamily="18" charset="0"/>
                          <a:cs typeface="Arial" panose="020B0604020202020204" pitchFamily="34" charset="0"/>
                        </a:rPr>
                        <m:t>P</m:t>
                      </m:r>
                      <m:r>
                        <a:rPr lang="es-ES" sz="1200" b="0" i="1" smtClean="0">
                          <a:latin typeface="Cambria Math" panose="02040503050406030204" pitchFamily="18" charset="0"/>
                          <a:cs typeface="Arial" panose="020B0604020202020204" pitchFamily="34" charset="0"/>
                        </a:rPr>
                        <m:t>𝑜𝑡𝑒𝑛𝑐𝑖𝑎</m:t>
                      </m:r>
                      <m:r>
                        <a:rPr lang="es-ES" sz="1200" b="0" i="1" smtClean="0">
                          <a:latin typeface="Cambria Math" panose="02040503050406030204" pitchFamily="18" charset="0"/>
                          <a:cs typeface="Arial" panose="020B0604020202020204" pitchFamily="34" charset="0"/>
                        </a:rPr>
                        <m:t> </m:t>
                      </m:r>
                      <m:r>
                        <a:rPr lang="es-ES" sz="1200" b="0" i="1" smtClean="0">
                          <a:latin typeface="Cambria Math" panose="02040503050406030204" pitchFamily="18" charset="0"/>
                          <a:cs typeface="Arial" panose="020B0604020202020204" pitchFamily="34" charset="0"/>
                        </a:rPr>
                        <m:t>𝑑𝑒</m:t>
                      </m:r>
                      <m:r>
                        <a:rPr lang="es-ES" sz="1200" b="0" i="1" smtClean="0">
                          <a:latin typeface="Cambria Math" panose="02040503050406030204" pitchFamily="18" charset="0"/>
                          <a:cs typeface="Arial" panose="020B0604020202020204" pitchFamily="34" charset="0"/>
                        </a:rPr>
                        <m:t> </m:t>
                      </m:r>
                      <m:r>
                        <a:rPr lang="es-ES" sz="1200" b="0" i="1" smtClean="0">
                          <a:latin typeface="Cambria Math" panose="02040503050406030204" pitchFamily="18" charset="0"/>
                          <a:cs typeface="Arial" panose="020B0604020202020204" pitchFamily="34" charset="0"/>
                        </a:rPr>
                        <m:t>𝑠𝑎𝑙𝑖𝑑𝑎</m:t>
                      </m:r>
                      <m:r>
                        <a:rPr lang="es-ES" sz="1200" b="0" i="1" smtClean="0">
                          <a:latin typeface="Cambria Math" panose="02040503050406030204" pitchFamily="18" charset="0"/>
                          <a:cs typeface="Arial" panose="020B0604020202020204" pitchFamily="34" charset="0"/>
                        </a:rPr>
                        <m:t>=</m:t>
                      </m:r>
                      <m:func>
                        <m:funcPr>
                          <m:ctrlPr>
                            <a:rPr lang="es-ES" sz="1200" b="0" i="1" smtClean="0">
                              <a:latin typeface="Cambria Math" panose="02040503050406030204" pitchFamily="18" charset="0"/>
                              <a:cs typeface="Arial" panose="020B0604020202020204" pitchFamily="34" charset="0"/>
                            </a:rPr>
                          </m:ctrlPr>
                        </m:funcPr>
                        <m:fName>
                          <m:sSup>
                            <m:sSupPr>
                              <m:ctrlPr>
                                <a:rPr lang="es-ES" sz="1200" b="0" i="1" smtClean="0">
                                  <a:latin typeface="Cambria Math" panose="02040503050406030204" pitchFamily="18" charset="0"/>
                                  <a:cs typeface="Arial" panose="020B0604020202020204" pitchFamily="34" charset="0"/>
                                </a:rPr>
                              </m:ctrlPr>
                            </m:sSupPr>
                            <m:e>
                              <m:r>
                                <m:rPr>
                                  <m:sty m:val="p"/>
                                </m:rPr>
                                <a:rPr lang="es-ES" sz="1200" b="0" i="0" smtClean="0">
                                  <a:latin typeface="Cambria Math" panose="02040503050406030204" pitchFamily="18" charset="0"/>
                                  <a:cs typeface="Arial" panose="020B0604020202020204" pitchFamily="34" charset="0"/>
                                </a:rPr>
                                <m:t>cos</m:t>
                              </m:r>
                            </m:e>
                            <m:sup>
                              <m:r>
                                <a:rPr lang="es-ES" sz="1200" b="0" i="1" smtClean="0">
                                  <a:latin typeface="Cambria Math" panose="02040503050406030204" pitchFamily="18" charset="0"/>
                                  <a:cs typeface="Arial" panose="020B0604020202020204" pitchFamily="34" charset="0"/>
                                </a:rPr>
                                <m:t>2</m:t>
                              </m:r>
                            </m:sup>
                          </m:sSup>
                        </m:fName>
                        <m:e>
                          <m:d>
                            <m:dPr>
                              <m:ctrlPr>
                                <a:rPr lang="es-ES" sz="1200" b="0" i="1" smtClean="0">
                                  <a:latin typeface="Cambria Math" panose="02040503050406030204" pitchFamily="18" charset="0"/>
                                  <a:cs typeface="Arial" panose="020B0604020202020204" pitchFamily="34" charset="0"/>
                                </a:rPr>
                              </m:ctrlPr>
                            </m:dPr>
                            <m:e>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𝐿</m:t>
                                  </m:r>
                                </m:num>
                                <m:den>
                                  <m:r>
                                    <a:rPr lang="es-ES" sz="1200" b="0" i="1" smtClean="0">
                                      <a:latin typeface="Cambria Math" panose="02040503050406030204" pitchFamily="18" charset="0"/>
                                      <a:cs typeface="Arial" panose="020B0604020202020204" pitchFamily="34" charset="0"/>
                                    </a:rPr>
                                    <m:t>2</m:t>
                                  </m:r>
                                </m:den>
                              </m:f>
                              <m:r>
                                <m:rPr>
                                  <m:sty m:val="p"/>
                                </m:rPr>
                                <a:rPr lang="el-GR" sz="1200" b="0" i="1" smtClean="0">
                                  <a:latin typeface="Cambria Math" panose="02040503050406030204" pitchFamily="18" charset="0"/>
                                  <a:ea typeface="Cambria Math" panose="02040503050406030204" pitchFamily="18" charset="0"/>
                                  <a:cs typeface="Arial" panose="020B0604020202020204" pitchFamily="34" charset="0"/>
                                </a:rPr>
                                <m:t>Δ</m:t>
                              </m:r>
                              <m:r>
                                <a:rPr lang="el-GR" sz="1200" b="0" i="1" smtClean="0">
                                  <a:latin typeface="Cambria Math" panose="02040503050406030204" pitchFamily="18" charset="0"/>
                                  <a:ea typeface="Cambria Math" panose="02040503050406030204" pitchFamily="18" charset="0"/>
                                  <a:cs typeface="Arial" panose="020B0604020202020204" pitchFamily="34" charset="0"/>
                                </a:rPr>
                                <m:t>𝛽</m:t>
                              </m:r>
                              <m:d>
                                <m:d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dPr>
                                <m:e>
                                  <m:r>
                                    <a:rPr lang="es-ES" sz="1200" b="0" i="1" smtClean="0">
                                      <a:latin typeface="Cambria Math" panose="02040503050406030204" pitchFamily="18" charset="0"/>
                                      <a:ea typeface="Cambria Math" panose="02040503050406030204" pitchFamily="18" charset="0"/>
                                      <a:cs typeface="Arial" panose="020B0604020202020204" pitchFamily="34" charset="0"/>
                                    </a:rPr>
                                    <m:t>𝜆</m:t>
                                  </m:r>
                                </m:e>
                              </m:d>
                            </m:e>
                          </m:d>
                        </m:e>
                      </m:func>
                    </m:oMath>
                  </m:oMathPara>
                </a14:m>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Solving for </a:t>
                </a:r>
                <a14:m>
                  <m:oMath xmlns:m="http://schemas.openxmlformats.org/officeDocument/2006/math">
                    <m:r>
                      <m:rPr>
                        <m:sty m:val="p"/>
                      </m:rPr>
                      <a:rPr lang="el-GR" sz="1200" i="1">
                        <a:latin typeface="Cambria Math" panose="02040503050406030204" pitchFamily="18" charset="0"/>
                        <a:ea typeface="Cambria Math" panose="02040503050406030204" pitchFamily="18" charset="0"/>
                        <a:cs typeface="Arial" panose="020B0604020202020204" pitchFamily="34" charset="0"/>
                      </a:rPr>
                      <m:t>Δ</m:t>
                    </m:r>
                    <m:r>
                      <a:rPr lang="el-GR" sz="1200" i="1">
                        <a:latin typeface="Cambria Math" panose="02040503050406030204" pitchFamily="18" charset="0"/>
                        <a:ea typeface="Cambria Math" panose="02040503050406030204" pitchFamily="18" charset="0"/>
                        <a:cs typeface="Arial" panose="020B0604020202020204" pitchFamily="34" charset="0"/>
                      </a:rPr>
                      <m:t>𝛽</m:t>
                    </m:r>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r>
                          <a:rPr lang="es-ES" sz="1200" i="1">
                            <a:latin typeface="Cambria Math" panose="02040503050406030204" pitchFamily="18" charset="0"/>
                            <a:ea typeface="Cambria Math" panose="02040503050406030204" pitchFamily="18" charset="0"/>
                            <a:cs typeface="Arial" panose="020B0604020202020204" pitchFamily="34" charset="0"/>
                          </a:rPr>
                          <m:t>𝜆</m:t>
                        </m:r>
                      </m:e>
                    </m:d>
                  </m:oMath>
                </a14:m>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sym typeface="Wingdings" panose="05000000000000000000" pitchFamily="2" charset="2"/>
                </a:endParaRPr>
              </a:p>
              <a:p>
                <a:pPr algn="ctr"/>
                <a:r>
                  <a:rPr lang="en-US" sz="1200" dirty="0">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r>
                      <m:rPr>
                        <m:sty m:val="p"/>
                      </m:rPr>
                      <a:rPr lang="el-GR" sz="1100" i="1">
                        <a:latin typeface="Cambria Math" panose="02040503050406030204" pitchFamily="18" charset="0"/>
                        <a:ea typeface="Cambria Math" panose="02040503050406030204" pitchFamily="18" charset="0"/>
                        <a:cs typeface="Arial" panose="020B0604020202020204" pitchFamily="34" charset="0"/>
                      </a:rPr>
                      <m:t>Δ</m:t>
                    </m:r>
                    <m:r>
                      <a:rPr lang="el-GR" sz="1100" i="1">
                        <a:latin typeface="Cambria Math" panose="02040503050406030204" pitchFamily="18" charset="0"/>
                        <a:ea typeface="Cambria Math" panose="02040503050406030204" pitchFamily="18" charset="0"/>
                        <a:cs typeface="Arial" panose="020B0604020202020204" pitchFamily="34" charset="0"/>
                      </a:rPr>
                      <m:t>𝛽</m:t>
                    </m:r>
                    <m:d>
                      <m:dPr>
                        <m:ctrlPr>
                          <a:rPr lang="es-ES" sz="1100" i="1">
                            <a:latin typeface="Cambria Math" panose="02040503050406030204" pitchFamily="18" charset="0"/>
                            <a:ea typeface="Cambria Math" panose="02040503050406030204" pitchFamily="18" charset="0"/>
                            <a:cs typeface="Arial" panose="020B0604020202020204" pitchFamily="34" charset="0"/>
                          </a:rPr>
                        </m:ctrlPr>
                      </m:dPr>
                      <m:e>
                        <m:r>
                          <a:rPr lang="es-ES" sz="1100" i="1">
                            <a:latin typeface="Cambria Math" panose="02040503050406030204" pitchFamily="18" charset="0"/>
                            <a:ea typeface="Cambria Math" panose="02040503050406030204" pitchFamily="18" charset="0"/>
                            <a:cs typeface="Arial" panose="020B0604020202020204" pitchFamily="34" charset="0"/>
                          </a:rPr>
                          <m:t>𝜆</m:t>
                        </m:r>
                      </m:e>
                    </m:d>
                    <m:r>
                      <a:rPr lang="es-ES" sz="1100" b="0" i="1" smtClean="0">
                        <a:latin typeface="Cambria Math" panose="02040503050406030204" pitchFamily="18" charset="0"/>
                        <a:ea typeface="Cambria Math" panose="02040503050406030204" pitchFamily="18" charset="0"/>
                        <a:cs typeface="Arial" panose="020B0604020202020204" pitchFamily="34" charset="0"/>
                      </a:rPr>
                      <m:t>=</m:t>
                    </m:r>
                    <m:f>
                      <m:fPr>
                        <m:ctrlPr>
                          <a:rPr lang="es-ES" sz="1100" b="0" i="1" smtClean="0">
                            <a:latin typeface="Cambria Math" panose="02040503050406030204" pitchFamily="18" charset="0"/>
                            <a:ea typeface="Cambria Math" panose="02040503050406030204" pitchFamily="18" charset="0"/>
                            <a:cs typeface="Arial" panose="020B0604020202020204" pitchFamily="34" charset="0"/>
                          </a:rPr>
                        </m:ctrlPr>
                      </m:fPr>
                      <m:num>
                        <m:func>
                          <m:funcPr>
                            <m:ctrlPr>
                              <a:rPr lang="es-ES" sz="1100" b="0" i="1" smtClean="0">
                                <a:latin typeface="Cambria Math" panose="02040503050406030204" pitchFamily="18" charset="0"/>
                                <a:ea typeface="Cambria Math" panose="02040503050406030204" pitchFamily="18" charset="0"/>
                                <a:cs typeface="Arial" panose="020B0604020202020204" pitchFamily="34" charset="0"/>
                              </a:rPr>
                            </m:ctrlPr>
                          </m:funcPr>
                          <m:fName>
                            <m:r>
                              <m:rPr>
                                <m:sty m:val="p"/>
                              </m:rPr>
                              <a:rPr lang="es-ES" sz="1100" b="0" i="0" smtClean="0">
                                <a:latin typeface="Cambria Math" panose="02040503050406030204" pitchFamily="18" charset="0"/>
                                <a:ea typeface="Cambria Math" panose="02040503050406030204" pitchFamily="18" charset="0"/>
                                <a:cs typeface="Arial" panose="020B0604020202020204" pitchFamily="34" charset="0"/>
                              </a:rPr>
                              <m:t>arccos</m:t>
                            </m:r>
                          </m:fName>
                          <m:e>
                            <m:d>
                              <m:dPr>
                                <m:ctrlPr>
                                  <a:rPr lang="es-ES" sz="1100" b="0" i="1" smtClean="0">
                                    <a:latin typeface="Cambria Math" panose="02040503050406030204" pitchFamily="18" charset="0"/>
                                    <a:ea typeface="Cambria Math" panose="02040503050406030204" pitchFamily="18" charset="0"/>
                                    <a:cs typeface="Arial" panose="020B0604020202020204" pitchFamily="34" charset="0"/>
                                  </a:rPr>
                                </m:ctrlPr>
                              </m:dPr>
                              <m:e>
                                <m:rad>
                                  <m:radPr>
                                    <m:degHide m:val="on"/>
                                    <m:ctrlPr>
                                      <a:rPr lang="es-ES" sz="1100" b="0" i="1" smtClean="0">
                                        <a:latin typeface="Cambria Math" panose="02040503050406030204" pitchFamily="18" charset="0"/>
                                        <a:ea typeface="Cambria Math" panose="02040503050406030204" pitchFamily="18" charset="0"/>
                                        <a:cs typeface="Arial" panose="020B0604020202020204" pitchFamily="34" charset="0"/>
                                      </a:rPr>
                                    </m:ctrlPr>
                                  </m:radPr>
                                  <m:deg/>
                                  <m:e>
                                    <m:r>
                                      <m:rPr>
                                        <m:sty m:val="p"/>
                                      </m:rPr>
                                      <a:rPr lang="es-ES" sz="1100" i="1">
                                        <a:latin typeface="Cambria Math" panose="02040503050406030204" pitchFamily="18" charset="0"/>
                                        <a:cs typeface="Arial" panose="020B0604020202020204" pitchFamily="34" charset="0"/>
                                      </a:rPr>
                                      <m:t>P</m:t>
                                    </m:r>
                                    <m:r>
                                      <a:rPr lang="es-ES" sz="1100" i="1">
                                        <a:latin typeface="Cambria Math" panose="02040503050406030204" pitchFamily="18" charset="0"/>
                                        <a:cs typeface="Arial" panose="020B0604020202020204" pitchFamily="34" charset="0"/>
                                      </a:rPr>
                                      <m:t>𝑜𝑡𝑒𝑛𝑐𝑖𝑎</m:t>
                                    </m:r>
                                    <m:r>
                                      <a:rPr lang="es-ES" sz="1100" i="1">
                                        <a:latin typeface="Cambria Math" panose="02040503050406030204" pitchFamily="18" charset="0"/>
                                        <a:cs typeface="Arial" panose="020B0604020202020204" pitchFamily="34" charset="0"/>
                                      </a:rPr>
                                      <m:t> </m:t>
                                    </m:r>
                                    <m:r>
                                      <a:rPr lang="es-ES" sz="1100" i="1">
                                        <a:latin typeface="Cambria Math" panose="02040503050406030204" pitchFamily="18" charset="0"/>
                                        <a:cs typeface="Arial" panose="020B0604020202020204" pitchFamily="34" charset="0"/>
                                      </a:rPr>
                                      <m:t>𝑑𝑒</m:t>
                                    </m:r>
                                    <m:r>
                                      <a:rPr lang="es-ES" sz="1100" i="1">
                                        <a:latin typeface="Cambria Math" panose="02040503050406030204" pitchFamily="18" charset="0"/>
                                        <a:cs typeface="Arial" panose="020B0604020202020204" pitchFamily="34" charset="0"/>
                                      </a:rPr>
                                      <m:t> </m:t>
                                    </m:r>
                                    <m:r>
                                      <a:rPr lang="es-ES" sz="1100" i="1">
                                        <a:latin typeface="Cambria Math" panose="02040503050406030204" pitchFamily="18" charset="0"/>
                                        <a:cs typeface="Arial" panose="020B0604020202020204" pitchFamily="34" charset="0"/>
                                      </a:rPr>
                                      <m:t>𝑠𝑎𝑙𝑖𝑑𝑎</m:t>
                                    </m:r>
                                  </m:e>
                                </m:rad>
                              </m:e>
                            </m:d>
                          </m:e>
                        </m:func>
                      </m:num>
                      <m:den>
                        <m:r>
                          <a:rPr lang="es-ES" sz="1100" b="0" i="1" smtClean="0">
                            <a:latin typeface="Cambria Math" panose="02040503050406030204" pitchFamily="18" charset="0"/>
                            <a:ea typeface="Cambria Math" panose="02040503050406030204" pitchFamily="18" charset="0"/>
                            <a:cs typeface="Arial" panose="020B0604020202020204" pitchFamily="34" charset="0"/>
                          </a:rPr>
                          <m:t>𝐿</m:t>
                        </m:r>
                      </m:den>
                    </m:f>
                  </m:oMath>
                </a14:m>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00D2574A-3601-651C-20E5-E2B5C8F4DA0A}"/>
                  </a:ext>
                </a:extLst>
              </p:cNvPr>
              <p:cNvSpPr txBox="1">
                <a:spLocks noRot="1" noChangeAspect="1" noMove="1" noResize="1" noEditPoints="1" noAdjustHandles="1" noChangeArrowheads="1" noChangeShapeType="1" noTextEdit="1"/>
              </p:cNvSpPr>
              <p:nvPr/>
            </p:nvSpPr>
            <p:spPr>
              <a:xfrm>
                <a:off x="3662010" y="914400"/>
                <a:ext cx="8246800" cy="5676362"/>
              </a:xfrm>
              <a:prstGeom prst="rect">
                <a:avLst/>
              </a:prstGeom>
              <a:blipFill>
                <a:blip r:embed="rId5"/>
                <a:stretch>
                  <a:fillRect r="-74"/>
                </a:stretch>
              </a:blipFill>
              <a:ln w="28575">
                <a:solidFill>
                  <a:srgbClr val="E0700D"/>
                </a:solidFill>
              </a:ln>
            </p:spPr>
            <p:txBody>
              <a:bodyPr/>
              <a:lstStyle/>
              <a:p>
                <a:r>
                  <a:rPr lang="es-CO">
                    <a:noFill/>
                  </a:rPr>
                  <a:t> </a:t>
                </a:r>
              </a:p>
            </p:txBody>
          </p:sp>
        </mc:Fallback>
      </mc:AlternateContent>
      <p:sp>
        <p:nvSpPr>
          <p:cNvPr id="5" name="Marcador de pie de página 2">
            <a:extLst>
              <a:ext uri="{FF2B5EF4-FFF2-40B4-BE49-F238E27FC236}">
                <a16:creationId xmlns:a16="http://schemas.microsoft.com/office/drawing/2014/main" id="{F64FB428-68B5-8674-0072-9165A378010E}"/>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15" name="Imagen 14">
            <a:extLst>
              <a:ext uri="{FF2B5EF4-FFF2-40B4-BE49-F238E27FC236}">
                <a16:creationId xmlns:a16="http://schemas.microsoft.com/office/drawing/2014/main" id="{290C8894-5F2E-3FF5-59B4-6E2D5026CE19}"/>
              </a:ext>
            </a:extLst>
          </p:cNvPr>
          <p:cNvPicPr>
            <a:picLocks noChangeAspect="1"/>
          </p:cNvPicPr>
          <p:nvPr/>
        </p:nvPicPr>
        <p:blipFill>
          <a:blip r:embed="rId6"/>
          <a:stretch>
            <a:fillRect/>
          </a:stretch>
        </p:blipFill>
        <p:spPr>
          <a:xfrm>
            <a:off x="228600" y="3581400"/>
            <a:ext cx="3184616" cy="2520000"/>
          </a:xfrm>
          <a:prstGeom prst="rect">
            <a:avLst/>
          </a:prstGeom>
        </p:spPr>
      </p:pic>
      <p:pic>
        <p:nvPicPr>
          <p:cNvPr id="18" name="Imagen 17">
            <a:extLst>
              <a:ext uri="{FF2B5EF4-FFF2-40B4-BE49-F238E27FC236}">
                <a16:creationId xmlns:a16="http://schemas.microsoft.com/office/drawing/2014/main" id="{2FDDE477-1BDA-4D0C-1108-EA19012C1DAA}"/>
              </a:ext>
            </a:extLst>
          </p:cNvPr>
          <p:cNvPicPr>
            <a:picLocks noChangeAspect="1"/>
          </p:cNvPicPr>
          <p:nvPr/>
        </p:nvPicPr>
        <p:blipFill>
          <a:blip r:embed="rId7"/>
          <a:stretch>
            <a:fillRect/>
          </a:stretch>
        </p:blipFill>
        <p:spPr>
          <a:xfrm>
            <a:off x="228600" y="990600"/>
            <a:ext cx="3140308" cy="2520000"/>
          </a:xfrm>
          <a:prstGeom prst="rect">
            <a:avLst/>
          </a:prstGeom>
        </p:spPr>
      </p:pic>
    </p:spTree>
    <p:extLst>
      <p:ext uri="{BB962C8B-B14F-4D97-AF65-F5344CB8AC3E}">
        <p14:creationId xmlns:p14="http://schemas.microsoft.com/office/powerpoint/2010/main" val="2894425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FF669-D0D1-B3D3-0FCE-2407511C65C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197AF62-37E5-9260-DA32-E5C71FF0BE68}"/>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Delay Imbalance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35CE9B5C-4AE4-72BA-221C-6246C01011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D48C0E1-AECC-1B6B-EE08-DD40E7D82DB6}"/>
              </a:ext>
            </a:extLst>
          </p:cNvPr>
          <p:cNvSpPr>
            <a:spLocks noGrp="1"/>
          </p:cNvSpPr>
          <p:nvPr>
            <p:ph type="sldNum" sz="quarter" idx="7"/>
          </p:nvPr>
        </p:nvSpPr>
        <p:spPr/>
        <p:txBody>
          <a:bodyPr/>
          <a:lstStyle/>
          <a:p>
            <a:fld id="{B6F15528-21DE-4FAA-801E-634DDDAF4B2B}" type="slidenum">
              <a:rPr lang="es-ES" smtClean="0"/>
              <a:t>5</a:t>
            </a:fld>
            <a:endParaRPr lang="es-ES"/>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2202572E-26CA-069F-3643-4642854F470B}"/>
                  </a:ext>
                </a:extLst>
              </p:cNvPr>
              <p:cNvSpPr txBox="1"/>
              <p:nvPr/>
            </p:nvSpPr>
            <p:spPr>
              <a:xfrm>
                <a:off x="6781599" y="1151646"/>
                <a:ext cx="5060081" cy="473937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To obtain a delay imbalance, what we do is create a difference in the path lengths, which changes the phase of the sinusoidal or cosine response. The magnitude of the coefficients of the transfer matrix are given by</a:t>
                </a:r>
                <a:endParaRPr lang="es-ES" sz="1200" i="1" dirty="0">
                  <a:latin typeface="Cambria Math" panose="02040503050406030204" pitchFamily="18"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𝐻</m:t>
                          </m:r>
                        </m:e>
                        <m:sub>
                          <m:r>
                            <a:rPr lang="es-ES" sz="1200" i="1">
                              <a:latin typeface="Cambria Math" panose="02040503050406030204" pitchFamily="18" charset="0"/>
                              <a:cs typeface="Arial" panose="020B0604020202020204" pitchFamily="34" charset="0"/>
                            </a:rPr>
                            <m:t>21</m:t>
                          </m:r>
                        </m:sub>
                      </m:sSub>
                      <m:d>
                        <m:dPr>
                          <m:ctrlPr>
                            <a:rPr lang="es-ES" sz="1200" i="1">
                              <a:latin typeface="Cambria Math" panose="02040503050406030204" pitchFamily="18" charset="0"/>
                              <a:cs typeface="Arial" panose="020B0604020202020204" pitchFamily="34" charset="0"/>
                            </a:rPr>
                          </m:ctrlPr>
                        </m:dPr>
                        <m:e>
                          <m:r>
                            <a:rPr lang="es-ES" sz="1200" i="1">
                              <a:latin typeface="Cambria Math" panose="02040503050406030204" pitchFamily="18" charset="0"/>
                              <a:ea typeface="Cambria Math" panose="02040503050406030204" pitchFamily="18" charset="0"/>
                              <a:cs typeface="Arial" panose="020B0604020202020204" pitchFamily="34" charset="0"/>
                            </a:rPr>
                            <m:t>𝜆</m:t>
                          </m:r>
                        </m:e>
                      </m:d>
                      <m:r>
                        <a:rPr lang="es-ES" sz="1200" i="1">
                          <a:latin typeface="Cambria Math" panose="02040503050406030204" pitchFamily="18" charset="0"/>
                          <a:ea typeface="Cambria Math" panose="02040503050406030204" pitchFamily="18" charset="0"/>
                          <a:cs typeface="Arial" panose="020B0604020202020204" pitchFamily="34" charset="0"/>
                        </a:rPr>
                        <m:t>=</m:t>
                      </m:r>
                      <m:func>
                        <m:funcPr>
                          <m:ctrlPr>
                            <a:rPr lang="es-ES" sz="1200" i="1">
                              <a:latin typeface="Cambria Math" panose="02040503050406030204" pitchFamily="18" charset="0"/>
                              <a:ea typeface="Cambria Math" panose="02040503050406030204" pitchFamily="18" charset="0"/>
                              <a:cs typeface="Arial" panose="020B0604020202020204" pitchFamily="34" charset="0"/>
                            </a:rPr>
                          </m:ctrlPr>
                        </m:funcPr>
                        <m:fName>
                          <m:sSup>
                            <m:sSupPr>
                              <m:ctrlPr>
                                <a:rPr lang="es-ES" sz="12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s-ES" sz="1200">
                                  <a:latin typeface="Cambria Math" panose="02040503050406030204" pitchFamily="18" charset="0"/>
                                  <a:ea typeface="Cambria Math" panose="02040503050406030204" pitchFamily="18" charset="0"/>
                                  <a:cs typeface="Arial" panose="020B0604020202020204" pitchFamily="34" charset="0"/>
                                </a:rPr>
                                <m:t>cos</m:t>
                              </m:r>
                            </m:e>
                            <m:sup>
                              <m:r>
                                <a:rPr lang="es-ES" sz="1200" i="1">
                                  <a:latin typeface="Cambria Math" panose="02040503050406030204" pitchFamily="18" charset="0"/>
                                  <a:ea typeface="Cambria Math" panose="02040503050406030204" pitchFamily="18" charset="0"/>
                                  <a:cs typeface="Arial" panose="020B0604020202020204" pitchFamily="34" charset="0"/>
                                </a:rPr>
                                <m:t>2</m:t>
                              </m:r>
                            </m:sup>
                          </m:sSup>
                        </m:fName>
                        <m:e>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f>
                                <m:fPr>
                                  <m:ctrlPr>
                                    <a:rPr lang="es-ES" sz="1200" i="1">
                                      <a:latin typeface="Cambria Math" panose="02040503050406030204" pitchFamily="18" charset="0"/>
                                      <a:ea typeface="Cambria Math" panose="02040503050406030204" pitchFamily="18" charset="0"/>
                                      <a:cs typeface="Arial" panose="020B0604020202020204" pitchFamily="34" charset="0"/>
                                    </a:rPr>
                                  </m:ctrlPr>
                                </m:fPr>
                                <m:num>
                                  <m:r>
                                    <a:rPr lang="es-ES" sz="1200" i="1">
                                      <a:latin typeface="Cambria Math" panose="02040503050406030204" pitchFamily="18" charset="0"/>
                                      <a:ea typeface="Cambria Math" panose="02040503050406030204" pitchFamily="18" charset="0"/>
                                      <a:cs typeface="Arial" panose="020B0604020202020204" pitchFamily="34" charset="0"/>
                                    </a:rPr>
                                    <m:t>𝛽</m:t>
                                  </m:r>
                                </m:num>
                                <m:den>
                                  <m:r>
                                    <a:rPr lang="es-ES" sz="1200" i="1">
                                      <a:latin typeface="Cambria Math" panose="02040503050406030204" pitchFamily="18" charset="0"/>
                                      <a:ea typeface="Cambria Math" panose="02040503050406030204" pitchFamily="18" charset="0"/>
                                      <a:cs typeface="Arial" panose="020B0604020202020204" pitchFamily="34" charset="0"/>
                                    </a:rPr>
                                    <m:t>2</m:t>
                                  </m:r>
                                </m:den>
                              </m:f>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sSub>
                                    <m:sSub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e>
                                    <m:sub>
                                      <m:r>
                                        <a:rPr lang="es-ES" sz="1200" b="0" i="1" smtClean="0">
                                          <a:latin typeface="Cambria Math" panose="02040503050406030204" pitchFamily="18" charset="0"/>
                                          <a:ea typeface="Cambria Math" panose="02040503050406030204" pitchFamily="18" charset="0"/>
                                          <a:cs typeface="Arial" panose="020B0604020202020204" pitchFamily="34" charset="0"/>
                                        </a:rPr>
                                        <m:t>𝑢</m:t>
                                      </m:r>
                                    </m:sub>
                                  </m:sSub>
                                  <m:r>
                                    <a:rPr lang="es-ES" sz="12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e>
                                    <m:sub>
                                      <m:r>
                                        <a:rPr lang="es-ES" sz="1200" b="0" i="1" smtClean="0">
                                          <a:latin typeface="Cambria Math" panose="02040503050406030204" pitchFamily="18" charset="0"/>
                                          <a:ea typeface="Cambria Math" panose="02040503050406030204" pitchFamily="18" charset="0"/>
                                          <a:cs typeface="Arial" panose="020B0604020202020204" pitchFamily="34" charset="0"/>
                                        </a:rPr>
                                        <m:t>𝑑</m:t>
                                      </m:r>
                                    </m:sub>
                                  </m:sSub>
                                </m:e>
                              </m:d>
                            </m:e>
                          </m:d>
                        </m:e>
                      </m:func>
                    </m:oMath>
                  </m:oMathPara>
                </a14:m>
                <a:endParaRPr lang="es-CO" sz="1200"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𝐻</m:t>
                          </m:r>
                        </m:e>
                        <m:sub>
                          <m:r>
                            <a:rPr lang="es-ES" sz="1200" i="1">
                              <a:latin typeface="Cambria Math" panose="02040503050406030204" pitchFamily="18" charset="0"/>
                              <a:cs typeface="Arial" panose="020B0604020202020204" pitchFamily="34" charset="0"/>
                            </a:rPr>
                            <m:t>22</m:t>
                          </m:r>
                        </m:sub>
                      </m:sSub>
                      <m:d>
                        <m:dPr>
                          <m:ctrlPr>
                            <a:rPr lang="es-ES" sz="1200" i="1">
                              <a:latin typeface="Cambria Math" panose="02040503050406030204" pitchFamily="18" charset="0"/>
                              <a:cs typeface="Arial" panose="020B0604020202020204" pitchFamily="34" charset="0"/>
                            </a:rPr>
                          </m:ctrlPr>
                        </m:dPr>
                        <m:e>
                          <m:r>
                            <a:rPr lang="es-ES" sz="1200" i="1">
                              <a:latin typeface="Cambria Math" panose="02040503050406030204" pitchFamily="18" charset="0"/>
                              <a:ea typeface="Cambria Math" panose="02040503050406030204" pitchFamily="18" charset="0"/>
                              <a:cs typeface="Arial" panose="020B0604020202020204" pitchFamily="34" charset="0"/>
                            </a:rPr>
                            <m:t>𝜆</m:t>
                          </m:r>
                        </m:e>
                      </m:d>
                      <m:r>
                        <a:rPr lang="es-ES" sz="1200" i="1">
                          <a:latin typeface="Cambria Math" panose="02040503050406030204" pitchFamily="18" charset="0"/>
                          <a:ea typeface="Cambria Math" panose="02040503050406030204" pitchFamily="18" charset="0"/>
                          <a:cs typeface="Arial" panose="020B0604020202020204" pitchFamily="34" charset="0"/>
                        </a:rPr>
                        <m:t>=</m:t>
                      </m:r>
                      <m:func>
                        <m:funcPr>
                          <m:ctrlPr>
                            <a:rPr lang="es-ES" sz="1200" i="1">
                              <a:latin typeface="Cambria Math" panose="02040503050406030204" pitchFamily="18" charset="0"/>
                              <a:ea typeface="Cambria Math" panose="02040503050406030204" pitchFamily="18" charset="0"/>
                              <a:cs typeface="Arial" panose="020B0604020202020204" pitchFamily="34" charset="0"/>
                            </a:rPr>
                          </m:ctrlPr>
                        </m:funcPr>
                        <m:fName>
                          <m:sSup>
                            <m:sSupPr>
                              <m:ctrlPr>
                                <a:rPr lang="es-ES" sz="1200" i="1">
                                  <a:latin typeface="Cambria Math" panose="02040503050406030204" pitchFamily="18" charset="0"/>
                                  <a:ea typeface="Cambria Math" panose="02040503050406030204" pitchFamily="18" charset="0"/>
                                  <a:cs typeface="Arial" panose="020B0604020202020204" pitchFamily="34" charset="0"/>
                                </a:rPr>
                              </m:ctrlPr>
                            </m:sSupPr>
                            <m:e>
                              <m:r>
                                <m:rPr>
                                  <m:sty m:val="p"/>
                                </m:rPr>
                                <a:rPr lang="es-ES" sz="1200">
                                  <a:latin typeface="Cambria Math" panose="02040503050406030204" pitchFamily="18" charset="0"/>
                                  <a:ea typeface="Cambria Math" panose="02040503050406030204" pitchFamily="18" charset="0"/>
                                  <a:cs typeface="Arial" panose="020B0604020202020204" pitchFamily="34" charset="0"/>
                                </a:rPr>
                                <m:t>sin</m:t>
                              </m:r>
                            </m:e>
                            <m:sup>
                              <m:r>
                                <a:rPr lang="es-ES" sz="1200" i="1">
                                  <a:latin typeface="Cambria Math" panose="02040503050406030204" pitchFamily="18" charset="0"/>
                                  <a:ea typeface="Cambria Math" panose="02040503050406030204" pitchFamily="18" charset="0"/>
                                  <a:cs typeface="Arial" panose="020B0604020202020204" pitchFamily="34" charset="0"/>
                                </a:rPr>
                                <m:t>2</m:t>
                              </m:r>
                            </m:sup>
                          </m:sSup>
                        </m:fName>
                        <m:e>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f>
                                <m:fPr>
                                  <m:ctrlPr>
                                    <a:rPr lang="es-ES" sz="1200" i="1">
                                      <a:latin typeface="Cambria Math" panose="02040503050406030204" pitchFamily="18" charset="0"/>
                                      <a:ea typeface="Cambria Math" panose="02040503050406030204" pitchFamily="18" charset="0"/>
                                      <a:cs typeface="Arial" panose="020B0604020202020204" pitchFamily="34" charset="0"/>
                                    </a:rPr>
                                  </m:ctrlPr>
                                </m:fPr>
                                <m:num>
                                  <m:r>
                                    <a:rPr lang="es-ES" sz="1200" i="1" smtClean="0">
                                      <a:latin typeface="Cambria Math" panose="02040503050406030204" pitchFamily="18" charset="0"/>
                                      <a:ea typeface="Cambria Math" panose="02040503050406030204" pitchFamily="18" charset="0"/>
                                      <a:cs typeface="Arial" panose="020B0604020202020204" pitchFamily="34" charset="0"/>
                                    </a:rPr>
                                    <m:t>𝛽</m:t>
                                  </m:r>
                                </m:num>
                                <m:den>
                                  <m:r>
                                    <a:rPr lang="es-ES" sz="1200" i="1">
                                      <a:latin typeface="Cambria Math" panose="02040503050406030204" pitchFamily="18" charset="0"/>
                                      <a:ea typeface="Cambria Math" panose="02040503050406030204" pitchFamily="18" charset="0"/>
                                      <a:cs typeface="Arial" panose="020B0604020202020204" pitchFamily="34" charset="0"/>
                                    </a:rPr>
                                    <m:t>2</m:t>
                                  </m:r>
                                </m:den>
                              </m:f>
                              <m:d>
                                <m:dPr>
                                  <m:ctrlPr>
                                    <a:rPr lang="es-ES" sz="1200" i="1">
                                      <a:latin typeface="Cambria Math" panose="02040503050406030204" pitchFamily="18" charset="0"/>
                                      <a:ea typeface="Cambria Math" panose="02040503050406030204" pitchFamily="18" charset="0"/>
                                      <a:cs typeface="Arial" panose="020B0604020202020204" pitchFamily="34" charset="0"/>
                                    </a:rPr>
                                  </m:ctrlPr>
                                </m:dPr>
                                <m:e>
                                  <m:sSub>
                                    <m:sSubPr>
                                      <m:ctrlPr>
                                        <a:rPr lang="es-ES" sz="1200" i="1">
                                          <a:latin typeface="Cambria Math" panose="02040503050406030204" pitchFamily="18" charset="0"/>
                                          <a:ea typeface="Cambria Math" panose="02040503050406030204" pitchFamily="18" charset="0"/>
                                          <a:cs typeface="Arial" panose="020B0604020202020204" pitchFamily="34" charset="0"/>
                                        </a:rPr>
                                      </m:ctrlPr>
                                    </m:sSubPr>
                                    <m:e>
                                      <m:r>
                                        <a:rPr lang="es-ES" sz="1200" i="1">
                                          <a:latin typeface="Cambria Math" panose="02040503050406030204" pitchFamily="18" charset="0"/>
                                          <a:ea typeface="Cambria Math" panose="02040503050406030204" pitchFamily="18" charset="0"/>
                                          <a:cs typeface="Arial" panose="020B0604020202020204" pitchFamily="34" charset="0"/>
                                        </a:rPr>
                                        <m:t>𝐿</m:t>
                                      </m:r>
                                    </m:e>
                                    <m:sub>
                                      <m:r>
                                        <a:rPr lang="es-ES" sz="1200" i="1">
                                          <a:latin typeface="Cambria Math" panose="02040503050406030204" pitchFamily="18" charset="0"/>
                                          <a:ea typeface="Cambria Math" panose="02040503050406030204" pitchFamily="18" charset="0"/>
                                          <a:cs typeface="Arial" panose="020B0604020202020204" pitchFamily="34" charset="0"/>
                                        </a:rPr>
                                        <m:t>𝑢</m:t>
                                      </m:r>
                                    </m:sub>
                                  </m:sSub>
                                  <m:r>
                                    <a:rPr lang="es-ES" sz="1200" i="1">
                                      <a:latin typeface="Cambria Math" panose="02040503050406030204" pitchFamily="18" charset="0"/>
                                      <a:ea typeface="Cambria Math" panose="02040503050406030204" pitchFamily="18" charset="0"/>
                                      <a:cs typeface="Arial" panose="020B0604020202020204" pitchFamily="34" charset="0"/>
                                    </a:rPr>
                                    <m:t>−</m:t>
                                  </m:r>
                                  <m:sSub>
                                    <m:sSubPr>
                                      <m:ctrlPr>
                                        <a:rPr lang="es-ES" sz="1200" i="1">
                                          <a:latin typeface="Cambria Math" panose="02040503050406030204" pitchFamily="18" charset="0"/>
                                          <a:ea typeface="Cambria Math" panose="02040503050406030204" pitchFamily="18" charset="0"/>
                                          <a:cs typeface="Arial" panose="020B0604020202020204" pitchFamily="34" charset="0"/>
                                        </a:rPr>
                                      </m:ctrlPr>
                                    </m:sSubPr>
                                    <m:e>
                                      <m:r>
                                        <a:rPr lang="es-ES" sz="1200" i="1">
                                          <a:latin typeface="Cambria Math" panose="02040503050406030204" pitchFamily="18" charset="0"/>
                                          <a:ea typeface="Cambria Math" panose="02040503050406030204" pitchFamily="18" charset="0"/>
                                          <a:cs typeface="Arial" panose="020B0604020202020204" pitchFamily="34" charset="0"/>
                                        </a:rPr>
                                        <m:t>𝐿</m:t>
                                      </m:r>
                                    </m:e>
                                    <m:sub>
                                      <m:r>
                                        <a:rPr lang="es-ES" sz="1200" i="1">
                                          <a:latin typeface="Cambria Math" panose="02040503050406030204" pitchFamily="18" charset="0"/>
                                          <a:ea typeface="Cambria Math" panose="02040503050406030204" pitchFamily="18" charset="0"/>
                                          <a:cs typeface="Arial" panose="020B0604020202020204" pitchFamily="34" charset="0"/>
                                        </a:rPr>
                                        <m:t>𝑑</m:t>
                                      </m:r>
                                    </m:sub>
                                  </m:sSub>
                                </m:e>
                              </m:d>
                            </m:e>
                          </m:d>
                        </m:e>
                      </m:func>
                    </m:oMath>
                  </m:oMathPara>
                </a14:m>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this case, the FSR is 0.028 𝜇𝑚, that is, 28 nm.</a:t>
                </a:r>
              </a:p>
              <a:p>
                <a:pPr algn="just"/>
                <a:endParaRPr lang="es-CO"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When the path difference is increased to </a:t>
                </a:r>
                <a14:m>
                  <m:oMath xmlns:m="http://schemas.openxmlformats.org/officeDocument/2006/math">
                    <m:r>
                      <a:rPr lang="es-CO" sz="1200" i="1" smtClean="0">
                        <a:latin typeface="Cambria Math" panose="02040503050406030204" pitchFamily="18" charset="0"/>
                        <a:ea typeface="Cambria Math" panose="02040503050406030204" pitchFamily="18" charset="0"/>
                        <a:cs typeface="Arial" panose="020B0604020202020204" pitchFamily="34" charset="0"/>
                      </a:rPr>
                      <m:t>∆</m:t>
                    </m:r>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r>
                      <a:rPr lang="es-ES" sz="1200" b="0" i="1" smtClean="0">
                        <a:latin typeface="Cambria Math" panose="02040503050406030204" pitchFamily="18" charset="0"/>
                        <a:ea typeface="Cambria Math" panose="02040503050406030204" pitchFamily="18" charset="0"/>
                        <a:cs typeface="Arial" panose="020B0604020202020204" pitchFamily="34" charset="0"/>
                      </a:rPr>
                      <m:t>=45 </m:t>
                    </m:r>
                    <m:r>
                      <a:rPr lang="es-ES" sz="1200" b="0" i="1" smtClean="0">
                        <a:latin typeface="Cambria Math" panose="02040503050406030204" pitchFamily="18" charset="0"/>
                        <a:ea typeface="Cambria Math" panose="02040503050406030204" pitchFamily="18" charset="0"/>
                        <a:cs typeface="Arial" panose="020B0604020202020204" pitchFamily="34" charset="0"/>
                      </a:rPr>
                      <m:t>𝜇</m:t>
                    </m:r>
                    <m:r>
                      <a:rPr lang="es-ES" sz="1200" b="0" i="1" smtClean="0">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 the FSR becomes 0.013 </a:t>
                </a:r>
                <a14:m>
                  <m:oMath xmlns:m="http://schemas.openxmlformats.org/officeDocument/2006/math">
                    <m:r>
                      <a:rPr lang="es-ES" sz="1200" i="1">
                        <a:latin typeface="Cambria Math" panose="02040503050406030204" pitchFamily="18" charset="0"/>
                        <a:ea typeface="Cambria Math" panose="02040503050406030204" pitchFamily="18" charset="0"/>
                        <a:cs typeface="Arial" panose="020B0604020202020204" pitchFamily="34" charset="0"/>
                      </a:rPr>
                      <m:t>𝜇</m:t>
                    </m:r>
                    <m:r>
                      <a:rPr lang="es-ES" sz="1200" i="1">
                        <a:latin typeface="Cambria Math" panose="02040503050406030204" pitchFamily="18" charset="0"/>
                        <a:ea typeface="Cambria Math" panose="02040503050406030204" pitchFamily="18" charset="0"/>
                        <a:cs typeface="Arial" panose="020B0604020202020204" pitchFamily="34" charset="0"/>
                      </a:rPr>
                      <m:t>𝑚</m:t>
                    </m:r>
                    <m:r>
                      <a:rPr lang="es-ES" sz="1200" i="1">
                        <a:latin typeface="Cambria Math" panose="02040503050406030204" pitchFamily="18" charset="0"/>
                        <a:ea typeface="Cambria Math" panose="02040503050406030204" pitchFamily="18" charset="0"/>
                        <a:cs typeface="Arial" panose="020B0604020202020204" pitchFamily="34" charset="0"/>
                      </a:rPr>
                      <m:t>  </m:t>
                    </m:r>
                  </m:oMath>
                </a14:m>
                <a:r>
                  <a:rPr lang="en-US" sz="1200" dirty="0">
                    <a:latin typeface="Arial" panose="020B0604020202020204" pitchFamily="34" charset="0"/>
                    <a:cs typeface="Arial" panose="020B0604020202020204" pitchFamily="34" charset="0"/>
                  </a:rPr>
                  <a:t>= 13 </a:t>
                </a:r>
                <a14:m>
                  <m:oMath xmlns:m="http://schemas.openxmlformats.org/officeDocument/2006/math">
                    <m:r>
                      <m:rPr>
                        <m:sty m:val="p"/>
                      </m:rPr>
                      <a:rPr lang="es-ES" sz="1200" b="0" i="0" smtClean="0">
                        <a:latin typeface="Cambria Math" panose="02040503050406030204" pitchFamily="18" charset="0"/>
                        <a:ea typeface="Cambria Math" panose="02040503050406030204" pitchFamily="18" charset="0"/>
                        <a:cs typeface="Arial" panose="020B0604020202020204" pitchFamily="34" charset="0"/>
                      </a:rPr>
                      <m:t>n</m:t>
                    </m:r>
                    <m:r>
                      <a:rPr lang="es-ES" sz="1200" i="1">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When it is increased to </a:t>
                </a:r>
                <a14:m>
                  <m:oMath xmlns:m="http://schemas.openxmlformats.org/officeDocument/2006/math">
                    <m:r>
                      <a:rPr lang="es-CO" sz="1200" i="1">
                        <a:latin typeface="Cambria Math" panose="02040503050406030204" pitchFamily="18" charset="0"/>
                        <a:ea typeface="Cambria Math" panose="02040503050406030204" pitchFamily="18" charset="0"/>
                        <a:cs typeface="Arial" panose="020B0604020202020204" pitchFamily="34" charset="0"/>
                      </a:rPr>
                      <m:t>∆</m:t>
                    </m:r>
                    <m:r>
                      <a:rPr lang="es-ES" sz="1200" i="1">
                        <a:latin typeface="Cambria Math" panose="02040503050406030204" pitchFamily="18" charset="0"/>
                        <a:ea typeface="Cambria Math" panose="02040503050406030204" pitchFamily="18" charset="0"/>
                        <a:cs typeface="Arial" panose="020B0604020202020204" pitchFamily="34" charset="0"/>
                      </a:rPr>
                      <m:t>𝐿</m:t>
                    </m:r>
                    <m:r>
                      <a:rPr lang="es-ES" sz="1200" i="1">
                        <a:latin typeface="Cambria Math" panose="02040503050406030204" pitchFamily="18" charset="0"/>
                        <a:ea typeface="Cambria Math" panose="02040503050406030204" pitchFamily="18" charset="0"/>
                        <a:cs typeface="Arial" panose="020B0604020202020204" pitchFamily="34" charset="0"/>
                      </a:rPr>
                      <m:t>=95 </m:t>
                    </m:r>
                    <m:r>
                      <a:rPr lang="es-ES" sz="1200" i="1">
                        <a:latin typeface="Cambria Math" panose="02040503050406030204" pitchFamily="18" charset="0"/>
                        <a:ea typeface="Cambria Math" panose="02040503050406030204" pitchFamily="18" charset="0"/>
                        <a:cs typeface="Arial" panose="020B0604020202020204" pitchFamily="34" charset="0"/>
                      </a:rPr>
                      <m:t>𝜇</m:t>
                    </m:r>
                    <m:r>
                      <a:rPr lang="es-ES" sz="1200" i="1">
                        <a:latin typeface="Cambria Math" panose="02040503050406030204" pitchFamily="18" charset="0"/>
                        <a:ea typeface="Cambria Math" panose="02040503050406030204" pitchFamily="18" charset="0"/>
                        <a:cs typeface="Arial" panose="020B0604020202020204" pitchFamily="34" charset="0"/>
                      </a:rPr>
                      <m:t>𝑚</m:t>
                    </m:r>
                    <m:r>
                      <a:rPr lang="es-ES" sz="1200" b="0" i="0" smtClean="0">
                        <a:latin typeface="Cambria Math" panose="02040503050406030204" pitchFamily="18" charset="0"/>
                        <a:ea typeface="Cambria Math" panose="02040503050406030204" pitchFamily="18" charset="0"/>
                        <a:cs typeface="Arial" panose="020B0604020202020204" pitchFamily="34" charset="0"/>
                      </a:rPr>
                      <m:t>,</m:t>
                    </m:r>
                  </m:oMath>
                </a14:m>
                <a:r>
                  <a:rPr lang="en-US" sz="1200" dirty="0">
                    <a:latin typeface="Arial" panose="020B0604020202020204" pitchFamily="34" charset="0"/>
                    <a:cs typeface="Arial" panose="020B0604020202020204" pitchFamily="34" charset="0"/>
                  </a:rPr>
                  <a:t> the FSR becomes 0.006 </a:t>
                </a:r>
                <a14:m>
                  <m:oMath xmlns:m="http://schemas.openxmlformats.org/officeDocument/2006/math">
                    <m:r>
                      <a:rPr lang="es-ES" sz="1200" i="1">
                        <a:latin typeface="Cambria Math" panose="02040503050406030204" pitchFamily="18" charset="0"/>
                        <a:ea typeface="Cambria Math" panose="02040503050406030204" pitchFamily="18" charset="0"/>
                        <a:cs typeface="Arial" panose="020B0604020202020204" pitchFamily="34" charset="0"/>
                      </a:rPr>
                      <m:t>𝜇</m:t>
                    </m:r>
                    <m:r>
                      <a:rPr lang="es-ES" sz="1200" i="1">
                        <a:latin typeface="Cambria Math" panose="02040503050406030204" pitchFamily="18" charset="0"/>
                        <a:ea typeface="Cambria Math" panose="02040503050406030204" pitchFamily="18" charset="0"/>
                        <a:cs typeface="Arial" panose="020B0604020202020204" pitchFamily="34" charset="0"/>
                      </a:rPr>
                      <m:t>𝑚</m:t>
                    </m:r>
                    <m:r>
                      <a:rPr lang="es-ES" sz="1200" i="1">
                        <a:latin typeface="Cambria Math" panose="02040503050406030204" pitchFamily="18" charset="0"/>
                        <a:ea typeface="Cambria Math" panose="02040503050406030204" pitchFamily="18" charset="0"/>
                        <a:cs typeface="Arial" panose="020B0604020202020204" pitchFamily="34" charset="0"/>
                      </a:rPr>
                      <m:t>  </m:t>
                    </m:r>
                  </m:oMath>
                </a14:m>
                <a:r>
                  <a:rPr lang="en-US" sz="1200" dirty="0">
                    <a:latin typeface="Arial" panose="020B0604020202020204" pitchFamily="34" charset="0"/>
                    <a:cs typeface="Arial" panose="020B0604020202020204" pitchFamily="34" charset="0"/>
                  </a:rPr>
                  <a:t>= 6 </a:t>
                </a:r>
                <a14:m>
                  <m:oMath xmlns:m="http://schemas.openxmlformats.org/officeDocument/2006/math">
                    <m:r>
                      <m:rPr>
                        <m:sty m:val="p"/>
                      </m:rPr>
                      <a:rPr lang="es-ES" sz="1200">
                        <a:latin typeface="Cambria Math" panose="02040503050406030204" pitchFamily="18" charset="0"/>
                        <a:ea typeface="Cambria Math" panose="02040503050406030204" pitchFamily="18" charset="0"/>
                        <a:cs typeface="Arial" panose="020B0604020202020204" pitchFamily="34" charset="0"/>
                      </a:rPr>
                      <m:t>n</m:t>
                    </m:r>
                    <m:r>
                      <a:rPr lang="es-ES" sz="1200" i="1">
                        <a:latin typeface="Cambria Math" panose="02040503050406030204" pitchFamily="18" charset="0"/>
                        <a:ea typeface="Cambria Math" panose="02040503050406030204" pitchFamily="18" charset="0"/>
                        <a:cs typeface="Arial" panose="020B0604020202020204" pitchFamily="34" charset="0"/>
                      </a:rPr>
                      <m:t>𝑚</m:t>
                    </m:r>
                    <m:r>
                      <a:rPr lang="es-ES" sz="1200" b="0" i="0" smtClean="0">
                        <a:latin typeface="Cambria Math" panose="02040503050406030204" pitchFamily="18" charset="0"/>
                        <a:ea typeface="Cambria Math" panose="02040503050406030204" pitchFamily="18" charset="0"/>
                        <a:cs typeface="Arial" panose="020B0604020202020204" pitchFamily="34" charset="0"/>
                      </a:rPr>
                      <m:t>.</m:t>
                    </m:r>
                  </m:oMath>
                </a14:m>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Therefore, we observe that as the path difference increases, the FSR decreases. This can also be seen from its equation: </a:t>
                </a:r>
              </a:p>
              <a:p>
                <a:pPr algn="just"/>
                <a14:m>
                  <m:oMathPara xmlns:m="http://schemas.openxmlformats.org/officeDocument/2006/math">
                    <m:oMathParaPr>
                      <m:jc m:val="centerGroup"/>
                    </m:oMathParaPr>
                    <m:oMath xmlns:m="http://schemas.openxmlformats.org/officeDocument/2006/math">
                      <m:r>
                        <a:rPr lang="es-ES" sz="1200" b="0" i="1" smtClean="0">
                          <a:latin typeface="Cambria Math" panose="02040503050406030204" pitchFamily="18" charset="0"/>
                          <a:cs typeface="Arial" panose="020B0604020202020204" pitchFamily="34" charset="0"/>
                        </a:rPr>
                        <m:t>𝐹𝑆𝑅</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𝑐</m:t>
                          </m:r>
                        </m:num>
                        <m:den>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cs typeface="Arial" panose="020B0604020202020204" pitchFamily="34" charset="0"/>
                                </a:rPr>
                                <m:t>𝑔</m:t>
                              </m:r>
                            </m:sub>
                          </m:sSub>
                          <m:d>
                            <m:dPr>
                              <m:ctrlPr>
                                <a:rPr lang="es-ES" sz="1200" b="0" i="1" smtClean="0">
                                  <a:latin typeface="Cambria Math" panose="02040503050406030204" pitchFamily="18" charset="0"/>
                                  <a:cs typeface="Arial" panose="020B0604020202020204" pitchFamily="34" charset="0"/>
                                </a:rPr>
                              </m:ctrlPr>
                            </m:dPr>
                            <m:e>
                              <m:r>
                                <a:rPr lang="es-ES" sz="1200" b="0" i="1" smtClean="0">
                                  <a:latin typeface="Cambria Math" panose="02040503050406030204" pitchFamily="18" charset="0"/>
                                  <a:ea typeface="Cambria Math" panose="02040503050406030204" pitchFamily="18" charset="0"/>
                                  <a:cs typeface="Arial" panose="020B0604020202020204" pitchFamily="34" charset="0"/>
                                </a:rPr>
                                <m:t>𝜆</m:t>
                              </m:r>
                            </m:e>
                          </m:d>
                          <m:r>
                            <m:rPr>
                              <m:sty m:val="p"/>
                            </m:rPr>
                            <a:rPr lang="es-ES" sz="1200" i="1">
                              <a:latin typeface="Cambria Math" panose="02040503050406030204" pitchFamily="18" charset="0"/>
                              <a:ea typeface="Cambria Math" panose="02040503050406030204" pitchFamily="18" charset="0"/>
                              <a:cs typeface="Arial" panose="020B0604020202020204" pitchFamily="34" charset="0"/>
                            </a:rPr>
                            <m:t>Δ</m:t>
                          </m:r>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den>
                      </m:f>
                    </m:oMath>
                  </m:oMathPara>
                </a14:m>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which shows an inverse relationship between the free spectral range and the path length difference.</a:t>
                </a:r>
              </a:p>
            </p:txBody>
          </p:sp>
        </mc:Choice>
        <mc:Fallback xmlns="">
          <p:sp>
            <p:nvSpPr>
              <p:cNvPr id="2" name="CuadroTexto 1">
                <a:extLst>
                  <a:ext uri="{FF2B5EF4-FFF2-40B4-BE49-F238E27FC236}">
                    <a16:creationId xmlns:a16="http://schemas.microsoft.com/office/drawing/2014/main" id="{2202572E-26CA-069F-3643-4642854F470B}"/>
                  </a:ext>
                </a:extLst>
              </p:cNvPr>
              <p:cNvSpPr txBox="1">
                <a:spLocks noRot="1" noChangeAspect="1" noMove="1" noResize="1" noEditPoints="1" noAdjustHandles="1" noChangeArrowheads="1" noChangeShapeType="1" noTextEdit="1"/>
              </p:cNvSpPr>
              <p:nvPr/>
            </p:nvSpPr>
            <p:spPr>
              <a:xfrm>
                <a:off x="6781599" y="1151646"/>
                <a:ext cx="5060081" cy="4739374"/>
              </a:xfrm>
              <a:prstGeom prst="rect">
                <a:avLst/>
              </a:prstGeom>
              <a:blipFill>
                <a:blip r:embed="rId5"/>
                <a:stretch>
                  <a:fillRect/>
                </a:stretch>
              </a:blipFill>
              <a:ln w="28575">
                <a:solidFill>
                  <a:srgbClr val="E0700D"/>
                </a:solidFill>
              </a:ln>
            </p:spPr>
            <p:txBody>
              <a:bodyPr/>
              <a:lstStyle/>
              <a:p>
                <a:r>
                  <a:rPr lang="es-CO">
                    <a:noFill/>
                  </a:rPr>
                  <a:t> </a:t>
                </a:r>
              </a:p>
            </p:txBody>
          </p:sp>
        </mc:Fallback>
      </mc:AlternateContent>
      <p:sp>
        <p:nvSpPr>
          <p:cNvPr id="5" name="Marcador de pie de página 2">
            <a:extLst>
              <a:ext uri="{FF2B5EF4-FFF2-40B4-BE49-F238E27FC236}">
                <a16:creationId xmlns:a16="http://schemas.microsoft.com/office/drawing/2014/main" id="{BD3E3E22-482D-71AB-40D8-6490420833E1}"/>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7" name="Imagen 6">
            <a:extLst>
              <a:ext uri="{FF2B5EF4-FFF2-40B4-BE49-F238E27FC236}">
                <a16:creationId xmlns:a16="http://schemas.microsoft.com/office/drawing/2014/main" id="{E4B48E27-C1E8-9B59-52FE-8A25BC26C463}"/>
              </a:ext>
            </a:extLst>
          </p:cNvPr>
          <p:cNvPicPr>
            <a:picLocks noChangeAspect="1"/>
          </p:cNvPicPr>
          <p:nvPr/>
        </p:nvPicPr>
        <p:blipFill>
          <a:blip r:embed="rId6"/>
          <a:stretch>
            <a:fillRect/>
          </a:stretch>
        </p:blipFill>
        <p:spPr>
          <a:xfrm>
            <a:off x="370229" y="3783600"/>
            <a:ext cx="2729670" cy="2160000"/>
          </a:xfrm>
          <a:prstGeom prst="rect">
            <a:avLst/>
          </a:prstGeom>
        </p:spPr>
      </p:pic>
      <p:pic>
        <p:nvPicPr>
          <p:cNvPr id="10" name="Imagen 9">
            <a:extLst>
              <a:ext uri="{FF2B5EF4-FFF2-40B4-BE49-F238E27FC236}">
                <a16:creationId xmlns:a16="http://schemas.microsoft.com/office/drawing/2014/main" id="{F0E0AE81-3292-C727-F4FE-60CBF9DD1403}"/>
              </a:ext>
            </a:extLst>
          </p:cNvPr>
          <p:cNvPicPr>
            <a:picLocks noChangeAspect="1"/>
          </p:cNvPicPr>
          <p:nvPr/>
        </p:nvPicPr>
        <p:blipFill>
          <a:blip r:embed="rId7"/>
          <a:stretch>
            <a:fillRect/>
          </a:stretch>
        </p:blipFill>
        <p:spPr>
          <a:xfrm>
            <a:off x="3733800" y="1578502"/>
            <a:ext cx="2886330" cy="2160000"/>
          </a:xfrm>
          <a:prstGeom prst="rect">
            <a:avLst/>
          </a:prstGeom>
        </p:spPr>
      </p:pic>
      <p:pic>
        <p:nvPicPr>
          <p:cNvPr id="12" name="Imagen 11">
            <a:extLst>
              <a:ext uri="{FF2B5EF4-FFF2-40B4-BE49-F238E27FC236}">
                <a16:creationId xmlns:a16="http://schemas.microsoft.com/office/drawing/2014/main" id="{20704F26-971F-BAAB-211F-82DC47369B49}"/>
              </a:ext>
            </a:extLst>
          </p:cNvPr>
          <p:cNvPicPr>
            <a:picLocks noChangeAspect="1"/>
          </p:cNvPicPr>
          <p:nvPr/>
        </p:nvPicPr>
        <p:blipFill>
          <a:blip r:embed="rId8"/>
          <a:stretch>
            <a:fillRect/>
          </a:stretch>
        </p:blipFill>
        <p:spPr>
          <a:xfrm>
            <a:off x="3733800" y="3789021"/>
            <a:ext cx="2886330" cy="2160000"/>
          </a:xfrm>
          <a:prstGeom prst="rect">
            <a:avLst/>
          </a:prstGeom>
        </p:spPr>
      </p:pic>
      <p:pic>
        <p:nvPicPr>
          <p:cNvPr id="14" name="Imagen 13">
            <a:extLst>
              <a:ext uri="{FF2B5EF4-FFF2-40B4-BE49-F238E27FC236}">
                <a16:creationId xmlns:a16="http://schemas.microsoft.com/office/drawing/2014/main" id="{527806C7-8070-3290-1450-BBFB24BC18F5}"/>
              </a:ext>
            </a:extLst>
          </p:cNvPr>
          <p:cNvPicPr>
            <a:picLocks noChangeAspect="1"/>
          </p:cNvPicPr>
          <p:nvPr/>
        </p:nvPicPr>
        <p:blipFill>
          <a:blip r:embed="rId9"/>
          <a:stretch>
            <a:fillRect/>
          </a:stretch>
        </p:blipFill>
        <p:spPr>
          <a:xfrm>
            <a:off x="377156" y="1573081"/>
            <a:ext cx="2824616" cy="2160000"/>
          </a:xfrm>
          <a:prstGeom prst="rect">
            <a:avLst/>
          </a:prstGeom>
        </p:spPr>
      </p:pic>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87479B6C-BA9B-ACD4-C917-0B3A719D1DA0}"/>
                  </a:ext>
                </a:extLst>
              </p:cNvPr>
              <p:cNvSpPr txBox="1"/>
              <p:nvPr/>
            </p:nvSpPr>
            <p:spPr>
              <a:xfrm>
                <a:off x="4651853" y="1151646"/>
                <a:ext cx="1050224" cy="369332"/>
              </a:xfrm>
              <a:prstGeom prst="rect">
                <a:avLst/>
              </a:prstGeom>
              <a:noFill/>
            </p:spPr>
            <p:txBody>
              <a:bodyPr wrap="none" rtlCol="0">
                <a:spAutoFit/>
              </a:bodyPr>
              <a:lstStyle/>
              <a:p>
                <a:r>
                  <a:rPr lang="es-ES" dirty="0"/>
                  <a:t>Other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Δ</m:t>
                    </m:r>
                    <m:r>
                      <a:rPr lang="es-ES" b="0" i="1" smtClean="0">
                        <a:latin typeface="Cambria Math" panose="02040503050406030204" pitchFamily="18" charset="0"/>
                        <a:ea typeface="Cambria Math" panose="02040503050406030204" pitchFamily="18" charset="0"/>
                      </a:rPr>
                      <m:t>𝐿</m:t>
                    </m:r>
                  </m:oMath>
                </a14:m>
                <a:endParaRPr lang="es-CO" dirty="0"/>
              </a:p>
            </p:txBody>
          </p:sp>
        </mc:Choice>
        <mc:Fallback xmlns="">
          <p:sp>
            <p:nvSpPr>
              <p:cNvPr id="15" name="CuadroTexto 14">
                <a:extLst>
                  <a:ext uri="{FF2B5EF4-FFF2-40B4-BE49-F238E27FC236}">
                    <a16:creationId xmlns:a16="http://schemas.microsoft.com/office/drawing/2014/main" id="{87479B6C-BA9B-ACD4-C917-0B3A719D1DA0}"/>
                  </a:ext>
                </a:extLst>
              </p:cNvPr>
              <p:cNvSpPr txBox="1">
                <a:spLocks noRot="1" noChangeAspect="1" noMove="1" noResize="1" noEditPoints="1" noAdjustHandles="1" noChangeArrowheads="1" noChangeShapeType="1" noTextEdit="1"/>
              </p:cNvSpPr>
              <p:nvPr/>
            </p:nvSpPr>
            <p:spPr>
              <a:xfrm>
                <a:off x="4651853" y="1151646"/>
                <a:ext cx="1050224" cy="369332"/>
              </a:xfrm>
              <a:prstGeom prst="rect">
                <a:avLst/>
              </a:prstGeom>
              <a:blipFill>
                <a:blip r:embed="rId10"/>
                <a:stretch>
                  <a:fillRect l="-4651" t="-9836" b="-2459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A4D0F68-484F-C886-B44E-D83010768B0C}"/>
                  </a:ext>
                </a:extLst>
              </p:cNvPr>
              <p:cNvSpPr txBox="1"/>
              <p:nvPr/>
            </p:nvSpPr>
            <p:spPr>
              <a:xfrm>
                <a:off x="1456088" y="1057001"/>
                <a:ext cx="800155" cy="369332"/>
              </a:xfrm>
              <a:prstGeom prst="rect">
                <a:avLst/>
              </a:prstGeom>
              <a:noFill/>
            </p:spPr>
            <p:txBody>
              <a:bodyPr wrap="none" rtlCol="0">
                <a:spAutoFit/>
              </a:bodyPr>
              <a:lstStyle/>
              <a:p>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Δ</m:t>
                    </m:r>
                    <m:r>
                      <a:rPr lang="es-ES" b="0" i="1" smtClean="0">
                        <a:latin typeface="Cambria Math" panose="02040503050406030204" pitchFamily="18" charset="0"/>
                        <a:ea typeface="Cambria Math" panose="02040503050406030204" pitchFamily="18" charset="0"/>
                      </a:rPr>
                      <m:t>𝐿</m:t>
                    </m:r>
                  </m:oMath>
                </a14:m>
                <a:r>
                  <a:rPr lang="es-CO" dirty="0"/>
                  <a:t>=20</a:t>
                </a:r>
              </a:p>
            </p:txBody>
          </p:sp>
        </mc:Choice>
        <mc:Fallback xmlns="">
          <p:sp>
            <p:nvSpPr>
              <p:cNvPr id="17" name="CuadroTexto 16">
                <a:extLst>
                  <a:ext uri="{FF2B5EF4-FFF2-40B4-BE49-F238E27FC236}">
                    <a16:creationId xmlns:a16="http://schemas.microsoft.com/office/drawing/2014/main" id="{BA4D0F68-484F-C886-B44E-D83010768B0C}"/>
                  </a:ext>
                </a:extLst>
              </p:cNvPr>
              <p:cNvSpPr txBox="1">
                <a:spLocks noRot="1" noChangeAspect="1" noMove="1" noResize="1" noEditPoints="1" noAdjustHandles="1" noChangeArrowheads="1" noChangeShapeType="1" noTextEdit="1"/>
              </p:cNvSpPr>
              <p:nvPr/>
            </p:nvSpPr>
            <p:spPr>
              <a:xfrm>
                <a:off x="1456088" y="1057001"/>
                <a:ext cx="800155" cy="369332"/>
              </a:xfrm>
              <a:prstGeom prst="rect">
                <a:avLst/>
              </a:prstGeom>
              <a:blipFill>
                <a:blip r:embed="rId11"/>
                <a:stretch>
                  <a:fillRect t="-8197" r="-5344" b="-24590"/>
                </a:stretch>
              </a:blipFill>
            </p:spPr>
            <p:txBody>
              <a:bodyPr/>
              <a:lstStyle/>
              <a:p>
                <a:r>
                  <a:rPr lang="es-CO">
                    <a:noFill/>
                  </a:rPr>
                  <a:t> </a:t>
                </a:r>
              </a:p>
            </p:txBody>
          </p:sp>
        </mc:Fallback>
      </mc:AlternateContent>
      <p:cxnSp>
        <p:nvCxnSpPr>
          <p:cNvPr id="19" name="Conector recto 18">
            <a:extLst>
              <a:ext uri="{FF2B5EF4-FFF2-40B4-BE49-F238E27FC236}">
                <a16:creationId xmlns:a16="http://schemas.microsoft.com/office/drawing/2014/main" id="{16A3C74D-93CB-EE9F-97D0-67D9C2CBA4C4}"/>
              </a:ext>
            </a:extLst>
          </p:cNvPr>
          <p:cNvCxnSpPr/>
          <p:nvPr/>
        </p:nvCxnSpPr>
        <p:spPr>
          <a:xfrm>
            <a:off x="3429000" y="1191148"/>
            <a:ext cx="0" cy="4676252"/>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9266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59AF9-5B49-0BA4-6061-169E7E907E7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2F64F57-E3FE-00C9-DB12-0C3537B65A53}"/>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Delay Imbalance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737F1B9-E31A-65F3-B1FD-9973C43E36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9F55082-EF73-6C70-592C-F7B9DD21E9BA}"/>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2" name="CuadroTexto 1">
            <a:extLst>
              <a:ext uri="{FF2B5EF4-FFF2-40B4-BE49-F238E27FC236}">
                <a16:creationId xmlns:a16="http://schemas.microsoft.com/office/drawing/2014/main" id="{5A957225-2F05-4837-1F24-2C818AD28A52}"/>
              </a:ext>
            </a:extLst>
          </p:cNvPr>
          <p:cNvSpPr txBox="1"/>
          <p:nvPr/>
        </p:nvSpPr>
        <p:spPr>
          <a:xfrm>
            <a:off x="5194436" y="1221643"/>
            <a:ext cx="6409575" cy="3970318"/>
          </a:xfrm>
          <a:prstGeom prst="rect">
            <a:avLst/>
          </a:prstGeom>
          <a:solidFill>
            <a:schemeClr val="bg1">
              <a:lumMod val="95000"/>
            </a:schemeClr>
          </a:solidFill>
          <a:ln w="28575">
            <a:solidFill>
              <a:srgbClr val="E0700D"/>
            </a:solidFill>
          </a:ln>
        </p:spPr>
        <p:txBody>
          <a:bodyPr wrap="square" rtlCol="0">
            <a:spAutoFit/>
          </a:bodyPr>
          <a:lstStyle/>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If we did not have this condition, the dependence would not be linear. In other words, if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 does not grow linearly with the wavelength, the period would change along the spectrum. Since we make the effective index vary following a parabolic behavior, when taking the derivative, the group index becomes a linear function. This means that as the wavelength increases, the group index corresponding to that wavelength also increases, which affects the propagation of the signal.</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Thus, we observe how the group index is related to the FSR, since a larger group index results in a smaller FSR, and therefore a larger spectral period of the signal</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The group index defines the spectral period because it determines the FSR of our device. As can be observed, the FSR is inversely proportional to the group index, meaning that the larger </a:t>
            </a:r>
            <a:r>
              <a:rPr lang="en-US" sz="1200">
                <a:latin typeface="Arial" panose="020B0604020202020204" pitchFamily="34" charset="0"/>
                <a:cs typeface="Arial" panose="020B0604020202020204" pitchFamily="34" charset="0"/>
              </a:rPr>
              <a:t>n_g</a:t>
            </a:r>
            <a:r>
              <a:rPr lang="en-US" sz="1200" dirty="0">
                <a:latin typeface="Arial" panose="020B0604020202020204" pitchFamily="34" charset="0"/>
                <a:cs typeface="Arial" panose="020B0604020202020204" pitchFamily="34" charset="0"/>
              </a:rPr>
              <a:t>	​ is, the smaller the FSR becomes. This occurs due to chromatic dispersion, that is, the different propagation velocities of the different wavelengths.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FSR between peaks: [0.009 0.007 0.005 0.005 0.004 0.004]</a:t>
            </a:r>
          </a:p>
          <a:p>
            <a:pPr algn="just"/>
            <a:r>
              <a:rPr lang="en-US" sz="1200" dirty="0">
                <a:latin typeface="Arial" panose="020B0604020202020204" pitchFamily="34" charset="0"/>
                <a:cs typeface="Arial" panose="020B0604020202020204" pitchFamily="34" charset="0"/>
              </a:rPr>
              <a:t>Spectral period between peaks: [111.11111111 142.85714286 200. 200. 250. 250.]</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Therefore, as observed, the group index increases linearly with wavelength, the FSR decreases, and the spectral period increases.</a:t>
            </a:r>
          </a:p>
        </p:txBody>
      </p:sp>
      <p:sp>
        <p:nvSpPr>
          <p:cNvPr id="5" name="Marcador de pie de página 2">
            <a:extLst>
              <a:ext uri="{FF2B5EF4-FFF2-40B4-BE49-F238E27FC236}">
                <a16:creationId xmlns:a16="http://schemas.microsoft.com/office/drawing/2014/main" id="{8DEC9E56-309F-814B-63CC-5A3771E70F4B}"/>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5FF130B1-CFBD-3ED8-D55C-6272283F5323}"/>
              </a:ext>
            </a:extLst>
          </p:cNvPr>
          <p:cNvPicPr>
            <a:picLocks noChangeAspect="1"/>
          </p:cNvPicPr>
          <p:nvPr/>
        </p:nvPicPr>
        <p:blipFill>
          <a:blip r:embed="rId5"/>
          <a:stretch>
            <a:fillRect/>
          </a:stretch>
        </p:blipFill>
        <p:spPr>
          <a:xfrm>
            <a:off x="976417" y="1191148"/>
            <a:ext cx="3249761" cy="2607833"/>
          </a:xfrm>
          <a:prstGeom prst="rect">
            <a:avLst/>
          </a:prstGeom>
        </p:spPr>
      </p:pic>
      <p:pic>
        <p:nvPicPr>
          <p:cNvPr id="10" name="Imagen 9">
            <a:extLst>
              <a:ext uri="{FF2B5EF4-FFF2-40B4-BE49-F238E27FC236}">
                <a16:creationId xmlns:a16="http://schemas.microsoft.com/office/drawing/2014/main" id="{F5864C04-7B86-D83F-83E9-B5109FCE7496}"/>
              </a:ext>
            </a:extLst>
          </p:cNvPr>
          <p:cNvPicPr>
            <a:picLocks noChangeAspect="1"/>
          </p:cNvPicPr>
          <p:nvPr/>
        </p:nvPicPr>
        <p:blipFill>
          <a:blip r:embed="rId6"/>
          <a:stretch>
            <a:fillRect/>
          </a:stretch>
        </p:blipFill>
        <p:spPr>
          <a:xfrm>
            <a:off x="1172023" y="3798981"/>
            <a:ext cx="3054155" cy="2412570"/>
          </a:xfrm>
          <a:prstGeom prst="rect">
            <a:avLst/>
          </a:prstGeom>
        </p:spPr>
      </p:pic>
    </p:spTree>
    <p:extLst>
      <p:ext uri="{BB962C8B-B14F-4D97-AF65-F5344CB8AC3E}">
        <p14:creationId xmlns:p14="http://schemas.microsoft.com/office/powerpoint/2010/main" val="3093267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4922-E1EC-59CD-3159-9BA4D76CB5F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C9D623D-3BC0-C685-FB38-F0465395820D}"/>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Amplitude Imbalance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55A3E8F-32ED-8AE4-54CA-C993120321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466D65E-FCEC-4918-CB83-3413B158A6C5}"/>
              </a:ext>
            </a:extLst>
          </p:cNvPr>
          <p:cNvSpPr>
            <a:spLocks noGrp="1"/>
          </p:cNvSpPr>
          <p:nvPr>
            <p:ph type="sldNum" sz="quarter" idx="7"/>
          </p:nvPr>
        </p:nvSpPr>
        <p:spPr/>
        <p:txBody>
          <a:bodyPr/>
          <a:lstStyle/>
          <a:p>
            <a:fld id="{B6F15528-21DE-4FAA-801E-634DDDAF4B2B}" type="slidenum">
              <a:rPr lang="es-ES" smtClean="0"/>
              <a:t>7</a:t>
            </a:fld>
            <a:endParaRPr lang="es-ES"/>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2A8BB1CC-8C13-29C6-BDAD-330927B269F1}"/>
                  </a:ext>
                </a:extLst>
              </p:cNvPr>
              <p:cNvSpPr txBox="1"/>
              <p:nvPr/>
            </p:nvSpPr>
            <p:spPr>
              <a:xfrm>
                <a:off x="6448739" y="1105782"/>
                <a:ext cx="5127011" cy="376654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ow, in the case where we have an amplitude imbalance, that is, when the coupling is different in each MZI, we find that the extinction ratio decreases. In the previous case, it reached approximately −30 to −35 dB, whereas in this case it only reaches about −14 </a:t>
                </a:r>
                <a:r>
                  <a:rPr lang="en-US" sz="1200" dirty="0" err="1">
                    <a:latin typeface="Arial" panose="020B0604020202020204" pitchFamily="34" charset="0"/>
                    <a:cs typeface="Arial" panose="020B0604020202020204" pitchFamily="34" charset="0"/>
                  </a:rPr>
                  <a:t>dB.</a:t>
                </a:r>
                <a:r>
                  <a:rPr lang="en-US" sz="1200" dirty="0">
                    <a:latin typeface="Arial" panose="020B0604020202020204" pitchFamily="34" charset="0"/>
                    <a:cs typeface="Arial" panose="020B0604020202020204" pitchFamily="34" charset="0"/>
                  </a:rPr>
                  <a:t> This difference occurs because the interference is not completely destructive. When the power of the signals changes, the magnitude does not reach zero, as can be observed in the sine and cosine plots. Therefore, when we observe the response on a logarithmic scale, this change becomes evident.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For maximum rejection to occur, the following condition must be satisfied: </a:t>
                </a:r>
                <a:r>
                  <a:rPr lang="en-US" sz="1200" dirty="0" err="1">
                    <a:latin typeface="Arial" panose="020B0604020202020204" pitchFamily="34" charset="0"/>
                    <a:cs typeface="Arial" panose="020B0604020202020204" pitchFamily="34" charset="0"/>
                  </a:rPr>
                  <a:t>k_a</a:t>
                </a:r>
                <a:r>
                  <a:rPr lang="en-US" sz="1200" dirty="0">
                    <a:latin typeface="Arial" panose="020B0604020202020204" pitchFamily="34" charset="0"/>
                    <a:cs typeface="Arial" panose="020B0604020202020204" pitchFamily="34" charset="0"/>
                  </a:rPr>
                  <a:t>=(1-k_b). Thus, if we set </a:t>
                </a:r>
                <a:r>
                  <a:rPr lang="en-US" sz="1200" dirty="0" err="1">
                    <a:latin typeface="Arial" panose="020B0604020202020204" pitchFamily="34" charset="0"/>
                    <a:cs typeface="Arial" panose="020B0604020202020204" pitchFamily="34" charset="0"/>
                  </a:rPr>
                  <a:t>k_b</a:t>
                </a:r>
                <a:r>
                  <a:rPr lang="en-US" sz="1200" dirty="0">
                    <a:latin typeface="Arial" panose="020B0604020202020204" pitchFamily="34" charset="0"/>
                    <a:cs typeface="Arial" panose="020B0604020202020204" pitchFamily="34" charset="0"/>
                  </a:rPr>
                  <a:t>=0,3, we take </a:t>
                </a:r>
                <a:r>
                  <a:rPr lang="en-US" sz="1200" dirty="0" err="1">
                    <a:latin typeface="Arial" panose="020B0604020202020204" pitchFamily="34" charset="0"/>
                    <a:cs typeface="Arial" panose="020B0604020202020204" pitchFamily="34" charset="0"/>
                  </a:rPr>
                  <a:t>k_a</a:t>
                </a:r>
                <a:r>
                  <a:rPr lang="en-US" sz="1200" dirty="0">
                    <a:latin typeface="Arial" panose="020B0604020202020204" pitchFamily="34" charset="0"/>
                    <a:cs typeface="Arial" panose="020B0604020202020204" pitchFamily="34" charset="0"/>
                  </a:rPr>
                  <a:t>=0,7. However, we notice that only one of the outputs achieves the maximum rejection, while the other does not.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To design the compensation, we must use:</a:t>
                </a:r>
              </a:p>
              <a:p>
                <a:pPr algn="just"/>
                <a:endParaRPr lang="en-U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𝐾</m:t>
                          </m:r>
                        </m:e>
                        <m:sub>
                          <m:r>
                            <a:rPr lang="es-ES" sz="1200" i="1">
                              <a:latin typeface="Cambria Math" panose="02040503050406030204" pitchFamily="18" charset="0"/>
                              <a:cs typeface="Arial" panose="020B0604020202020204" pitchFamily="34" charset="0"/>
                            </a:rPr>
                            <m:t>𝑏</m:t>
                          </m:r>
                        </m:sub>
                      </m:sSub>
                      <m:r>
                        <a:rPr lang="es-ES" sz="1200" i="1">
                          <a:latin typeface="Cambria Math" panose="02040503050406030204" pitchFamily="18" charset="0"/>
                          <a:cs typeface="Arial" panose="020B0604020202020204" pitchFamily="34" charset="0"/>
                        </a:rPr>
                        <m:t>=0.5</m:t>
                      </m:r>
                    </m:oMath>
                  </m:oMathPara>
                </a14:m>
                <a:endParaRPr lang="es-E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𝐾</m:t>
                          </m:r>
                        </m:e>
                        <m:sub>
                          <m:r>
                            <a:rPr lang="es-ES" sz="1200" i="1">
                              <a:latin typeface="Cambria Math" panose="02040503050406030204" pitchFamily="18" charset="0"/>
                              <a:cs typeface="Arial" panose="020B0604020202020204" pitchFamily="34" charset="0"/>
                            </a:rPr>
                            <m:t>𝑎</m:t>
                          </m:r>
                        </m:sub>
                      </m:sSub>
                      <m:r>
                        <a:rPr lang="es-ES" sz="1200" i="1">
                          <a:latin typeface="Cambria Math" panose="02040503050406030204" pitchFamily="18" charset="0"/>
                          <a:cs typeface="Arial" panose="020B0604020202020204" pitchFamily="34" charset="0"/>
                        </a:rPr>
                        <m:t>=</m:t>
                      </m:r>
                      <m:f>
                        <m:fPr>
                          <m:ctrlPr>
                            <a:rPr lang="es-ES" sz="1200" i="1">
                              <a:latin typeface="Cambria Math" panose="02040503050406030204" pitchFamily="18" charset="0"/>
                              <a:cs typeface="Arial" panose="020B0604020202020204" pitchFamily="34" charset="0"/>
                            </a:rPr>
                          </m:ctrlPr>
                        </m:fPr>
                        <m:num>
                          <m:r>
                            <a:rPr lang="es-ES" sz="1200" i="1">
                              <a:latin typeface="Cambria Math" panose="02040503050406030204" pitchFamily="18" charset="0"/>
                              <a:cs typeface="Arial" panose="020B0604020202020204" pitchFamily="34" charset="0"/>
                            </a:rPr>
                            <m:t>1</m:t>
                          </m:r>
                        </m:num>
                        <m:den>
                          <m:r>
                            <a:rPr lang="es-ES" sz="1200" i="1">
                              <a:latin typeface="Cambria Math" panose="02040503050406030204" pitchFamily="18" charset="0"/>
                              <a:cs typeface="Arial" panose="020B0604020202020204" pitchFamily="34" charset="0"/>
                            </a:rPr>
                            <m:t>1+</m:t>
                          </m:r>
                          <m:sSup>
                            <m:sSupPr>
                              <m:ctrlPr>
                                <a:rPr lang="es-ES" sz="1200" i="1">
                                  <a:latin typeface="Cambria Math" panose="02040503050406030204" pitchFamily="18" charset="0"/>
                                  <a:cs typeface="Arial" panose="020B0604020202020204" pitchFamily="34" charset="0"/>
                                </a:rPr>
                              </m:ctrlPr>
                            </m:sSupPr>
                            <m:e>
                              <m:r>
                                <a:rPr lang="es-ES" sz="1200" i="1">
                                  <a:latin typeface="Cambria Math" panose="02040503050406030204" pitchFamily="18" charset="0"/>
                                  <a:cs typeface="Arial" panose="020B0604020202020204" pitchFamily="34" charset="0"/>
                                </a:rPr>
                                <m:t>𝑒</m:t>
                              </m:r>
                            </m:e>
                            <m:sup>
                              <m:r>
                                <a:rPr lang="es-ES" sz="1200" i="1">
                                  <a:latin typeface="Cambria Math" panose="02040503050406030204" pitchFamily="18" charset="0"/>
                                  <a:cs typeface="Arial" panose="020B0604020202020204" pitchFamily="34" charset="0"/>
                                </a:rPr>
                                <m:t>−</m:t>
                              </m:r>
                              <m:r>
                                <a:rPr lang="es-ES" sz="1200" i="1">
                                  <a:latin typeface="Cambria Math" panose="02040503050406030204" pitchFamily="18" charset="0"/>
                                  <a:ea typeface="Cambria Math" panose="02040503050406030204" pitchFamily="18" charset="0"/>
                                  <a:cs typeface="Arial" panose="020B0604020202020204" pitchFamily="34" charset="0"/>
                                </a:rPr>
                                <m:t>𝛼</m:t>
                              </m:r>
                              <m:r>
                                <m:rPr>
                                  <m:sty m:val="p"/>
                                </m:rPr>
                                <a:rPr lang="el-GR" sz="1200" i="1">
                                  <a:latin typeface="Cambria Math" panose="02040503050406030204" pitchFamily="18" charset="0"/>
                                  <a:ea typeface="Cambria Math" panose="02040503050406030204" pitchFamily="18" charset="0"/>
                                  <a:cs typeface="Arial" panose="020B0604020202020204" pitchFamily="34" charset="0"/>
                                </a:rPr>
                                <m:t>Δ</m:t>
                              </m:r>
                              <m:r>
                                <a:rPr lang="es-ES" sz="1200" i="1">
                                  <a:latin typeface="Cambria Math" panose="02040503050406030204" pitchFamily="18" charset="0"/>
                                  <a:ea typeface="Cambria Math" panose="02040503050406030204" pitchFamily="18" charset="0"/>
                                  <a:cs typeface="Arial" panose="020B0604020202020204" pitchFamily="34" charset="0"/>
                                </a:rPr>
                                <m:t>𝐿</m:t>
                              </m:r>
                            </m:sup>
                          </m:sSup>
                        </m:den>
                      </m:f>
                    </m:oMath>
                  </m:oMathPara>
                </a14:m>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2A8BB1CC-8C13-29C6-BDAD-330927B269F1}"/>
                  </a:ext>
                </a:extLst>
              </p:cNvPr>
              <p:cNvSpPr txBox="1">
                <a:spLocks noRot="1" noChangeAspect="1" noMove="1" noResize="1" noEditPoints="1" noAdjustHandles="1" noChangeArrowheads="1" noChangeShapeType="1" noTextEdit="1"/>
              </p:cNvSpPr>
              <p:nvPr/>
            </p:nvSpPr>
            <p:spPr>
              <a:xfrm>
                <a:off x="6448739" y="1105782"/>
                <a:ext cx="5127011" cy="3766544"/>
              </a:xfrm>
              <a:prstGeom prst="rect">
                <a:avLst/>
              </a:prstGeom>
              <a:blipFill>
                <a:blip r:embed="rId5"/>
                <a:stretch>
                  <a:fillRect/>
                </a:stretch>
              </a:blipFill>
              <a:ln w="28575">
                <a:solidFill>
                  <a:srgbClr val="E0700D"/>
                </a:solidFill>
              </a:ln>
            </p:spPr>
            <p:txBody>
              <a:bodyPr/>
              <a:lstStyle/>
              <a:p>
                <a:r>
                  <a:rPr lang="es-CO">
                    <a:noFill/>
                  </a:rPr>
                  <a:t> </a:t>
                </a:r>
              </a:p>
            </p:txBody>
          </p:sp>
        </mc:Fallback>
      </mc:AlternateContent>
      <p:sp>
        <p:nvSpPr>
          <p:cNvPr id="5" name="Marcador de pie de página 2">
            <a:extLst>
              <a:ext uri="{FF2B5EF4-FFF2-40B4-BE49-F238E27FC236}">
                <a16:creationId xmlns:a16="http://schemas.microsoft.com/office/drawing/2014/main" id="{32097B55-0B62-9F6C-3D70-88711992835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12" name="Imagen 11">
            <a:extLst>
              <a:ext uri="{FF2B5EF4-FFF2-40B4-BE49-F238E27FC236}">
                <a16:creationId xmlns:a16="http://schemas.microsoft.com/office/drawing/2014/main" id="{4A326CAA-8519-3958-1A21-FEEAEB6B1080}"/>
              </a:ext>
            </a:extLst>
          </p:cNvPr>
          <p:cNvPicPr>
            <a:picLocks noChangeAspect="1"/>
          </p:cNvPicPr>
          <p:nvPr/>
        </p:nvPicPr>
        <p:blipFill>
          <a:blip r:embed="rId6"/>
          <a:stretch>
            <a:fillRect/>
          </a:stretch>
        </p:blipFill>
        <p:spPr>
          <a:xfrm>
            <a:off x="571461" y="3416203"/>
            <a:ext cx="2729670" cy="2160000"/>
          </a:xfrm>
          <a:prstGeom prst="rect">
            <a:avLst/>
          </a:prstGeom>
        </p:spPr>
      </p:pic>
      <p:pic>
        <p:nvPicPr>
          <p:cNvPr id="14" name="Imagen 13">
            <a:extLst>
              <a:ext uri="{FF2B5EF4-FFF2-40B4-BE49-F238E27FC236}">
                <a16:creationId xmlns:a16="http://schemas.microsoft.com/office/drawing/2014/main" id="{81BC057D-B8A4-D59D-9239-C70D86C3A9F3}"/>
              </a:ext>
            </a:extLst>
          </p:cNvPr>
          <p:cNvPicPr>
            <a:picLocks noChangeAspect="1"/>
          </p:cNvPicPr>
          <p:nvPr/>
        </p:nvPicPr>
        <p:blipFill>
          <a:blip r:embed="rId7"/>
          <a:stretch>
            <a:fillRect/>
          </a:stretch>
        </p:blipFill>
        <p:spPr>
          <a:xfrm>
            <a:off x="609441" y="1080382"/>
            <a:ext cx="2691690" cy="2160000"/>
          </a:xfrm>
          <a:prstGeom prst="rect">
            <a:avLst/>
          </a:prstGeom>
        </p:spPr>
      </p:pic>
      <p:pic>
        <p:nvPicPr>
          <p:cNvPr id="17" name="Imagen 16">
            <a:extLst>
              <a:ext uri="{FF2B5EF4-FFF2-40B4-BE49-F238E27FC236}">
                <a16:creationId xmlns:a16="http://schemas.microsoft.com/office/drawing/2014/main" id="{606B748E-2BD4-E7A8-48AA-8202A2327E02}"/>
              </a:ext>
            </a:extLst>
          </p:cNvPr>
          <p:cNvPicPr>
            <a:picLocks noChangeAspect="1"/>
          </p:cNvPicPr>
          <p:nvPr/>
        </p:nvPicPr>
        <p:blipFill>
          <a:blip r:embed="rId8"/>
          <a:stretch>
            <a:fillRect/>
          </a:stretch>
        </p:blipFill>
        <p:spPr>
          <a:xfrm>
            <a:off x="3377490" y="1105782"/>
            <a:ext cx="2924310" cy="2160000"/>
          </a:xfrm>
          <a:prstGeom prst="rect">
            <a:avLst/>
          </a:prstGeom>
        </p:spPr>
      </p:pic>
      <p:pic>
        <p:nvPicPr>
          <p:cNvPr id="19" name="Imagen 18">
            <a:extLst>
              <a:ext uri="{FF2B5EF4-FFF2-40B4-BE49-F238E27FC236}">
                <a16:creationId xmlns:a16="http://schemas.microsoft.com/office/drawing/2014/main" id="{1A35D8BC-CD86-64F2-BBFC-CC41B77E0693}"/>
              </a:ext>
            </a:extLst>
          </p:cNvPr>
          <p:cNvPicPr>
            <a:picLocks noChangeAspect="1"/>
          </p:cNvPicPr>
          <p:nvPr/>
        </p:nvPicPr>
        <p:blipFill>
          <a:blip r:embed="rId9"/>
          <a:stretch>
            <a:fillRect/>
          </a:stretch>
        </p:blipFill>
        <p:spPr>
          <a:xfrm>
            <a:off x="3365500" y="3416203"/>
            <a:ext cx="2957540" cy="2160000"/>
          </a:xfrm>
          <a:prstGeom prst="rect">
            <a:avLst/>
          </a:prstGeom>
        </p:spPr>
      </p:pic>
    </p:spTree>
    <p:extLst>
      <p:ext uri="{BB962C8B-B14F-4D97-AF65-F5344CB8AC3E}">
        <p14:creationId xmlns:p14="http://schemas.microsoft.com/office/powerpoint/2010/main" val="15352968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76200"/>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76200"/>
                <a:ext cx="10994410" cy="782265"/>
              </a:xfrm>
              <a:prstGeom prst="rect">
                <a:avLst/>
              </a:prstGeom>
              <a:blipFill>
                <a:blip r:embed="rId3"/>
                <a:stretch>
                  <a:fillRect l="-1608" t="-10156"/>
                </a:stretch>
              </a:blipFill>
            </p:spPr>
            <p:txBody>
              <a:bodyPr/>
              <a:lstStyle/>
              <a:p>
                <a:r>
                  <a:rPr lang="es-CO">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8</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2" y="4572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600" dirty="0"/>
                  <a:t>Considering the n_{eff} values for the SOI cross-section, what would be the path difference (</a:t>
                </a:r>
                <a14:m>
                  <m:oMath xmlns:m="http://schemas.openxmlformats.org/officeDocument/2006/math">
                    <m:r>
                      <m:rPr>
                        <m:sty m:val="p"/>
                      </m:rPr>
                      <a:rPr lang="es-ES" sz="1600" b="0" i="0" smtClean="0">
                        <a:latin typeface="Cambria Math" panose="02040503050406030204" pitchFamily="18" charset="0"/>
                      </a:rPr>
                      <m:t>ΔL</m:t>
                    </m:r>
                    <m:r>
                      <a:rPr lang="es-ES" sz="1600" b="0" i="1" smtClean="0">
                        <a:latin typeface="Cambria Math" panose="02040503050406030204" pitchFamily="18" charset="0"/>
                      </a:rPr>
                      <m:t>= </m:t>
                    </m:r>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𝑢</m:t>
                        </m:r>
                      </m:sub>
                    </m:sSub>
                    <m:r>
                      <a:rPr lang="es-ES" sz="1600" b="0" i="1" smtClean="0">
                        <a:latin typeface="Cambria Math" panose="02040503050406030204" pitchFamily="18" charset="0"/>
                      </a:rPr>
                      <m:t> −</m:t>
                    </m:r>
                    <m:sSub>
                      <m:sSubPr>
                        <m:ctrlPr>
                          <a:rPr lang="es-ES" sz="1600" i="1">
                            <a:latin typeface="Cambria Math" panose="02040503050406030204" pitchFamily="18" charset="0"/>
                          </a:rPr>
                        </m:ctrlPr>
                      </m:sSubPr>
                      <m:e>
                        <m:r>
                          <a:rPr lang="es-ES" sz="1600" b="0" i="1">
                            <a:latin typeface="Cambria Math" panose="02040503050406030204" pitchFamily="18" charset="0"/>
                          </a:rPr>
                          <m:t>𝐿</m:t>
                        </m:r>
                      </m:e>
                      <m:sub>
                        <m:r>
                          <a:rPr lang="es-ES" sz="1600" b="0" i="1" smtClean="0">
                            <a:latin typeface="Cambria Math" panose="02040503050406030204" pitchFamily="18" charset="0"/>
                          </a:rPr>
                          <m:t>𝑑</m:t>
                        </m:r>
                      </m:sub>
                    </m:sSub>
                  </m:oMath>
                </a14:m>
                <a:r>
                  <a:rPr lang="en-US" sz="1600" dirty="0"/>
                  <a:t>) needed to obtain a Free Spectral Range of 40 nm? Introduce the obtained value in the model to check the MZI response. </a:t>
                </a:r>
              </a:p>
              <a:p>
                <a:endParaRPr lang="en-US" sz="1600" dirty="0"/>
              </a:p>
              <a:p>
                <a:r>
                  <a:rPr lang="en-US" sz="1600" dirty="0"/>
                  <a:t>Hint: We assume 1550 nm as the central design wavelength (</a:t>
                </a:r>
                <a14:m>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𝜆</m:t>
                        </m:r>
                      </m:e>
                      <m:sub>
                        <m:r>
                          <a:rPr lang="es-ES" sz="1600" b="0" i="1" smtClean="0">
                            <a:latin typeface="Cambria Math" panose="02040503050406030204" pitchFamily="18" charset="0"/>
                          </a:rPr>
                          <m:t>0</m:t>
                        </m:r>
                      </m:sub>
                    </m:sSub>
                    <m:r>
                      <a:rPr lang="es-ES" sz="1600" b="0" i="1" smtClean="0">
                        <a:latin typeface="Cambria Math" panose="02040503050406030204" pitchFamily="18" charset="0"/>
                      </a:rPr>
                      <m:t>= </m:t>
                    </m:r>
                  </m:oMath>
                </a14:m>
                <a:r>
                  <a:rPr lang="en-US" sz="1600" dirty="0"/>
                  <a:t>1550 nm).</a:t>
                </a:r>
              </a:p>
              <a:p>
                <a:endParaRPr lang="en-US" sz="1600" dirty="0"/>
              </a:p>
              <a:p>
                <a:pPr algn="just"/>
                <a:endParaRPr lang="en-US" sz="1600" dirty="0"/>
              </a:p>
              <a:p>
                <a:pPr algn="just"/>
                <a:endParaRPr lang="en-US" sz="1600" b="1" i="1" dirty="0"/>
              </a:p>
              <a:p>
                <a:pPr algn="just"/>
                <a:endParaRPr lang="en-US" sz="1600" kern="0" dirty="0">
                  <a:solidFill>
                    <a:sysClr val="windowText" lastClr="000000"/>
                  </a:solidFill>
                </a:endParaRPr>
              </a:p>
              <a:p>
                <a:endParaRPr lang="en-US" sz="16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2" y="457200"/>
                <a:ext cx="11048999" cy="4958137"/>
              </a:xfrm>
              <a:prstGeom prst="rect">
                <a:avLst/>
              </a:prstGeom>
              <a:blipFill>
                <a:blip r:embed="rId6"/>
                <a:stretch>
                  <a:fillRect l="-331" t="-36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FDBBA6B-3646-055F-7A9C-EE01830137BE}"/>
                  </a:ext>
                </a:extLst>
              </p:cNvPr>
              <p:cNvSpPr txBox="1"/>
              <p:nvPr/>
            </p:nvSpPr>
            <p:spPr>
              <a:xfrm>
                <a:off x="685800" y="1600200"/>
                <a:ext cx="6409575" cy="426193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In this case, since we need to determine which value corresponds to </a:t>
                </a:r>
                <a14:m>
                  <m:oMath xmlns:m="http://schemas.openxmlformats.org/officeDocument/2006/math">
                    <m:r>
                      <a:rPr lang="en-US" sz="1200" i="1" smtClean="0">
                        <a:latin typeface="Cambria Math" panose="02040503050406030204" pitchFamily="18" charset="0"/>
                        <a:ea typeface="Cambria Math" panose="02040503050406030204" pitchFamily="18" charset="0"/>
                        <a:cs typeface="Arial" panose="020B0604020202020204" pitchFamily="34" charset="0"/>
                      </a:rPr>
                      <m:t>∆</m:t>
                    </m:r>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oMath>
                </a14:m>
                <a:r>
                  <a:rPr lang="en-US" sz="1200" dirty="0">
                    <a:latin typeface="Arial" panose="020B0604020202020204" pitchFamily="34" charset="0"/>
                    <a:cs typeface="Arial" panose="020B0604020202020204" pitchFamily="34" charset="0"/>
                  </a:rPr>
                  <a:t> to obtain an FSR of 40 nm, we rearrange the equation to solve for it. </a:t>
                </a:r>
              </a:p>
              <a:p>
                <a:pPr algn="just"/>
                <a:endParaRPr lang="en-U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sSubPr>
                        <m:e>
                          <m:r>
                            <a:rPr lang="en-US" sz="1200" i="1" smtClean="0">
                              <a:latin typeface="Cambria Math" panose="02040503050406030204" pitchFamily="18" charset="0"/>
                              <a:ea typeface="Cambria Math" panose="02040503050406030204" pitchFamily="18" charset="0"/>
                              <a:cs typeface="Arial" panose="020B0604020202020204" pitchFamily="34" charset="0"/>
                            </a:rPr>
                            <m:t>𝜆</m:t>
                          </m:r>
                        </m:e>
                        <m:sub>
                          <m:r>
                            <a:rPr lang="es-ES" sz="1200" b="0" i="1" smtClean="0">
                              <a:latin typeface="Cambria Math" panose="02040503050406030204" pitchFamily="18" charset="0"/>
                              <a:ea typeface="Cambria Math" panose="02040503050406030204" pitchFamily="18" charset="0"/>
                              <a:cs typeface="Arial" panose="020B0604020202020204" pitchFamily="34" charset="0"/>
                            </a:rPr>
                            <m:t>𝐹𝑆𝑅</m:t>
                          </m:r>
                        </m:sub>
                      </m:sSub>
                      <m:r>
                        <a:rPr lang="es-ES" sz="1200" b="0" i="1" smtClean="0">
                          <a:latin typeface="Cambria Math" panose="02040503050406030204" pitchFamily="18" charset="0"/>
                          <a:ea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fPr>
                        <m:num>
                          <m:sSup>
                            <m:sSup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ea typeface="Cambria Math" panose="02040503050406030204" pitchFamily="18" charset="0"/>
                                  <a:cs typeface="Arial" panose="020B0604020202020204" pitchFamily="34" charset="0"/>
                                </a:rPr>
                                <m:t>𝜆</m:t>
                              </m:r>
                            </m:e>
                            <m:sup>
                              <m:r>
                                <a:rPr lang="es-ES" sz="1200" b="0" i="1" smtClean="0">
                                  <a:latin typeface="Cambria Math" panose="02040503050406030204" pitchFamily="18" charset="0"/>
                                  <a:ea typeface="Cambria Math" panose="02040503050406030204" pitchFamily="18" charset="0"/>
                                  <a:cs typeface="Arial" panose="020B0604020202020204" pitchFamily="34" charset="0"/>
                                </a:rPr>
                                <m:t>2</m:t>
                              </m:r>
                            </m:sup>
                          </m:sSup>
                        </m:num>
                        <m:den>
                          <m:sSub>
                            <m:sSubPr>
                              <m:ctrlPr>
                                <a:rPr lang="es-ES" sz="1200" b="0" i="1" smtClean="0">
                                  <a:latin typeface="Cambria Math" panose="02040503050406030204" pitchFamily="18" charset="0"/>
                                  <a:ea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ea typeface="Cambria Math" panose="02040503050406030204" pitchFamily="18" charset="0"/>
                                  <a:cs typeface="Arial" panose="020B0604020202020204" pitchFamily="34" charset="0"/>
                                </a:rPr>
                                <m:t>𝑛</m:t>
                              </m:r>
                            </m:e>
                            <m:sub>
                              <m:r>
                                <a:rPr lang="es-ES" sz="1200" b="0" i="1" smtClean="0">
                                  <a:latin typeface="Cambria Math" panose="02040503050406030204" pitchFamily="18" charset="0"/>
                                  <a:ea typeface="Cambria Math" panose="02040503050406030204" pitchFamily="18" charset="0"/>
                                  <a:cs typeface="Arial" panose="020B0604020202020204" pitchFamily="34" charset="0"/>
                                </a:rPr>
                                <m:t>𝑔</m:t>
                              </m:r>
                            </m:sub>
                          </m:sSub>
                          <m:r>
                            <a:rPr lang="es-ES" sz="1200" b="0" i="1" smtClean="0">
                              <a:latin typeface="Cambria Math" panose="02040503050406030204" pitchFamily="18" charset="0"/>
                              <a:ea typeface="Cambria Math" panose="02040503050406030204" pitchFamily="18" charset="0"/>
                              <a:cs typeface="Arial" panose="020B0604020202020204" pitchFamily="34" charset="0"/>
                            </a:rPr>
                            <m:t>(</m:t>
                          </m:r>
                          <m:r>
                            <a:rPr lang="es-ES" sz="1200" b="0" i="1" smtClean="0">
                              <a:latin typeface="Cambria Math" panose="02040503050406030204" pitchFamily="18" charset="0"/>
                              <a:ea typeface="Cambria Math" panose="02040503050406030204" pitchFamily="18" charset="0"/>
                              <a:cs typeface="Arial" panose="020B0604020202020204" pitchFamily="34" charset="0"/>
                            </a:rPr>
                            <m:t>𝜆</m:t>
                          </m:r>
                          <m:r>
                            <a:rPr lang="es-ES" sz="1200" b="0" i="1" smtClean="0">
                              <a:latin typeface="Cambria Math" panose="02040503050406030204" pitchFamily="18" charset="0"/>
                              <a:ea typeface="Cambria Math" panose="02040503050406030204" pitchFamily="18" charset="0"/>
                              <a:cs typeface="Arial" panose="020B0604020202020204" pitchFamily="34" charset="0"/>
                            </a:rPr>
                            <m:t>)∆</m:t>
                          </m:r>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den>
                      </m:f>
                    </m:oMath>
                  </m:oMathPara>
                </a14:m>
                <a:endParaRPr lang="en-U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m:t>
                      </m:r>
                      <m:r>
                        <a:rPr lang="es-ES" sz="1200" b="0" i="1" smtClean="0">
                          <a:latin typeface="Cambria Math" panose="02040503050406030204" pitchFamily="18" charset="0"/>
                          <a:ea typeface="Cambria Math" panose="02040503050406030204" pitchFamily="18" charset="0"/>
                          <a:cs typeface="Arial" panose="020B0604020202020204" pitchFamily="34" charset="0"/>
                        </a:rPr>
                        <m:t>𝐿</m:t>
                      </m:r>
                      <m:r>
                        <a:rPr lang="es-ES" sz="1200" i="1">
                          <a:latin typeface="Cambria Math" panose="02040503050406030204" pitchFamily="18" charset="0"/>
                          <a:ea typeface="Cambria Math" panose="02040503050406030204" pitchFamily="18" charset="0"/>
                          <a:cs typeface="Arial" panose="020B0604020202020204" pitchFamily="34" charset="0"/>
                        </a:rPr>
                        <m:t>=</m:t>
                      </m:r>
                      <m:f>
                        <m:fPr>
                          <m:ctrlPr>
                            <a:rPr lang="es-ES" sz="1200" i="1">
                              <a:latin typeface="Cambria Math" panose="02040503050406030204" pitchFamily="18" charset="0"/>
                              <a:ea typeface="Cambria Math" panose="02040503050406030204" pitchFamily="18" charset="0"/>
                              <a:cs typeface="Arial" panose="020B0604020202020204" pitchFamily="34" charset="0"/>
                            </a:rPr>
                          </m:ctrlPr>
                        </m:fPr>
                        <m:num>
                          <m:sSup>
                            <m:sSupPr>
                              <m:ctrlPr>
                                <a:rPr lang="es-ES" sz="1200" i="1">
                                  <a:latin typeface="Cambria Math" panose="02040503050406030204" pitchFamily="18" charset="0"/>
                                  <a:ea typeface="Cambria Math" panose="02040503050406030204" pitchFamily="18" charset="0"/>
                                  <a:cs typeface="Arial" panose="020B0604020202020204" pitchFamily="34" charset="0"/>
                                </a:rPr>
                              </m:ctrlPr>
                            </m:sSupPr>
                            <m:e>
                              <m:r>
                                <a:rPr lang="es-ES" sz="1200" i="1">
                                  <a:latin typeface="Cambria Math" panose="02040503050406030204" pitchFamily="18" charset="0"/>
                                  <a:ea typeface="Cambria Math" panose="02040503050406030204" pitchFamily="18" charset="0"/>
                                  <a:cs typeface="Arial" panose="020B0604020202020204" pitchFamily="34" charset="0"/>
                                </a:rPr>
                                <m:t>𝜆</m:t>
                              </m:r>
                            </m:e>
                            <m:sup>
                              <m:r>
                                <a:rPr lang="es-ES" sz="1200" i="1">
                                  <a:latin typeface="Cambria Math" panose="02040503050406030204" pitchFamily="18" charset="0"/>
                                  <a:ea typeface="Cambria Math" panose="02040503050406030204" pitchFamily="18" charset="0"/>
                                  <a:cs typeface="Arial" panose="020B0604020202020204" pitchFamily="34" charset="0"/>
                                </a:rPr>
                                <m:t>2</m:t>
                              </m:r>
                            </m:sup>
                          </m:sSup>
                        </m:num>
                        <m:den>
                          <m:sSub>
                            <m:sSubPr>
                              <m:ctrlPr>
                                <a:rPr lang="es-ES" sz="1200" i="1">
                                  <a:latin typeface="Cambria Math" panose="02040503050406030204" pitchFamily="18" charset="0"/>
                                  <a:ea typeface="Cambria Math" panose="02040503050406030204" pitchFamily="18" charset="0"/>
                                  <a:cs typeface="Arial" panose="020B0604020202020204" pitchFamily="34" charset="0"/>
                                </a:rPr>
                              </m:ctrlPr>
                            </m:sSubPr>
                            <m:e>
                              <m:r>
                                <a:rPr lang="es-ES" sz="1200" i="1">
                                  <a:latin typeface="Cambria Math" panose="02040503050406030204" pitchFamily="18" charset="0"/>
                                  <a:ea typeface="Cambria Math" panose="02040503050406030204" pitchFamily="18" charset="0"/>
                                  <a:cs typeface="Arial" panose="020B0604020202020204" pitchFamily="34" charset="0"/>
                                </a:rPr>
                                <m:t>𝑛</m:t>
                              </m:r>
                            </m:e>
                            <m:sub>
                              <m:r>
                                <a:rPr lang="es-ES" sz="1200" i="1">
                                  <a:latin typeface="Cambria Math" panose="02040503050406030204" pitchFamily="18" charset="0"/>
                                  <a:ea typeface="Cambria Math" panose="02040503050406030204" pitchFamily="18" charset="0"/>
                                  <a:cs typeface="Arial" panose="020B0604020202020204" pitchFamily="34" charset="0"/>
                                </a:rPr>
                                <m:t>𝑔</m:t>
                              </m:r>
                            </m:sub>
                          </m:sSub>
                          <m:r>
                            <a:rPr lang="es-ES" sz="1200" i="1">
                              <a:latin typeface="Cambria Math" panose="02040503050406030204" pitchFamily="18" charset="0"/>
                              <a:ea typeface="Cambria Math" panose="02040503050406030204" pitchFamily="18" charset="0"/>
                              <a:cs typeface="Arial" panose="020B0604020202020204" pitchFamily="34" charset="0"/>
                            </a:rPr>
                            <m:t>(</m:t>
                          </m:r>
                          <m:r>
                            <a:rPr lang="es-ES" sz="1200" i="1">
                              <a:latin typeface="Cambria Math" panose="02040503050406030204" pitchFamily="18" charset="0"/>
                              <a:ea typeface="Cambria Math" panose="02040503050406030204" pitchFamily="18" charset="0"/>
                              <a:cs typeface="Arial" panose="020B0604020202020204" pitchFamily="34" charset="0"/>
                            </a:rPr>
                            <m:t>𝜆</m:t>
                          </m:r>
                          <m:r>
                            <a:rPr lang="es-ES" sz="1200" i="1">
                              <a:latin typeface="Cambria Math" panose="02040503050406030204" pitchFamily="18" charset="0"/>
                              <a:ea typeface="Cambria Math" panose="02040503050406030204" pitchFamily="18" charset="0"/>
                              <a:cs typeface="Arial" panose="020B0604020202020204" pitchFamily="34" charset="0"/>
                            </a:rPr>
                            <m:t>)∆</m:t>
                          </m:r>
                          <m:sSub>
                            <m:sSubPr>
                              <m:ctrlPr>
                                <a:rPr lang="es-ES" sz="1200" i="1">
                                  <a:latin typeface="Cambria Math" panose="02040503050406030204" pitchFamily="18" charset="0"/>
                                  <a:ea typeface="Cambria Math" panose="02040503050406030204" pitchFamily="18" charset="0"/>
                                  <a:cs typeface="Arial" panose="020B0604020202020204" pitchFamily="34" charset="0"/>
                                </a:rPr>
                              </m:ctrlPr>
                            </m:sSubPr>
                            <m:e>
                              <m:r>
                                <a:rPr lang="en-US" sz="1200" i="1">
                                  <a:latin typeface="Cambria Math" panose="02040503050406030204" pitchFamily="18" charset="0"/>
                                  <a:ea typeface="Cambria Math" panose="02040503050406030204" pitchFamily="18" charset="0"/>
                                  <a:cs typeface="Arial" panose="020B0604020202020204" pitchFamily="34" charset="0"/>
                                </a:rPr>
                                <m:t>𝜆</m:t>
                              </m:r>
                            </m:e>
                            <m:sub>
                              <m:r>
                                <a:rPr lang="es-ES" sz="1200" i="1">
                                  <a:latin typeface="Cambria Math" panose="02040503050406030204" pitchFamily="18" charset="0"/>
                                  <a:ea typeface="Cambria Math" panose="02040503050406030204" pitchFamily="18" charset="0"/>
                                  <a:cs typeface="Arial" panose="020B0604020202020204" pitchFamily="34" charset="0"/>
                                </a:rPr>
                                <m:t>𝐹𝑆𝑅</m:t>
                              </m:r>
                            </m:sub>
                          </m:sSub>
                        </m:den>
                      </m:f>
                    </m:oMath>
                  </m:oMathPara>
                </a14:m>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To do this, we first need the group index. It is calculated as follows: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SOI = </a:t>
                </a:r>
                <a:r>
                  <a:rPr lang="en-US" sz="1200" dirty="0" err="1">
                    <a:latin typeface="Arial" panose="020B0604020202020204" pitchFamily="34" charset="0"/>
                    <a:cs typeface="Arial" panose="020B0604020202020204" pitchFamily="34" charset="0"/>
                  </a:rPr>
                  <a:t>np.loadtxt</a:t>
                </a:r>
                <a:r>
                  <a:rPr lang="en-US" sz="1200" dirty="0">
                    <a:latin typeface="Arial" panose="020B0604020202020204" pitchFamily="34" charset="0"/>
                    <a:cs typeface="Arial" panose="020B0604020202020204" pitchFamily="34" charset="0"/>
                  </a:rPr>
                  <a:t>('SOI-w450-h220-clad600.txt', </a:t>
                </a:r>
                <a:r>
                  <a:rPr lang="en-US" sz="1200" dirty="0" err="1">
                    <a:latin typeface="Arial" panose="020B0604020202020204" pitchFamily="34" charset="0"/>
                    <a:cs typeface="Arial" panose="020B0604020202020204" pitchFamily="34" charset="0"/>
                  </a:rPr>
                  <a:t>skiprows</a:t>
                </a:r>
                <a:r>
                  <a:rPr lang="en-US" sz="1200" dirty="0">
                    <a:latin typeface="Arial" panose="020B0604020202020204" pitchFamily="34" charset="0"/>
                    <a:cs typeface="Arial" panose="020B0604020202020204" pitchFamily="34" charset="0"/>
                  </a:rPr>
                  <a:t>=1, delimiter='\t')</a:t>
                </a:r>
              </a:p>
              <a:p>
                <a:pPr algn="just"/>
                <a:r>
                  <a:rPr lang="en-US" sz="1200" dirty="0">
                    <a:latin typeface="Arial" panose="020B0604020202020204" pitchFamily="34" charset="0"/>
                    <a:cs typeface="Arial" panose="020B0604020202020204" pitchFamily="34" charset="0"/>
                  </a:rPr>
                  <a:t>wl0 = 1.55 </a:t>
                </a:r>
              </a:p>
              <a:p>
                <a:pPr algn="just"/>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 SOI[:, 0]</a:t>
                </a:r>
              </a:p>
              <a:p>
                <a:pPr algn="just"/>
                <a:r>
                  <a:rPr lang="en-US" sz="1200" dirty="0" err="1">
                    <a:latin typeface="Arial" panose="020B0604020202020204" pitchFamily="34" charset="0"/>
                    <a:cs typeface="Arial" panose="020B0604020202020204" pitchFamily="34" charset="0"/>
                  </a:rPr>
                  <a:t>n_eff</a:t>
                </a:r>
                <a:r>
                  <a:rPr lang="en-US" sz="1200" dirty="0">
                    <a:latin typeface="Arial" panose="020B0604020202020204" pitchFamily="34" charset="0"/>
                    <a:cs typeface="Arial" panose="020B0604020202020204" pitchFamily="34" charset="0"/>
                  </a:rPr>
                  <a:t>=SOI[:,3]</a:t>
                </a:r>
              </a:p>
              <a:p>
                <a:pPr algn="just"/>
                <a:r>
                  <a:rPr lang="en-US" sz="1200" dirty="0" err="1">
                    <a:latin typeface="Arial" panose="020B0604020202020204" pitchFamily="34" charset="0"/>
                    <a:cs typeface="Arial" panose="020B0604020202020204" pitchFamily="34" charset="0"/>
                  </a:rPr>
                  <a:t>dn_dlambda</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np.gradient</a:t>
                </a:r>
                <a:r>
                  <a:rPr lang="en-US" sz="1200" dirty="0">
                    <a:latin typeface="Arial" panose="020B0604020202020204" pitchFamily="34" charset="0"/>
                    <a:cs typeface="Arial" panose="020B0604020202020204" pitchFamily="34" charset="0"/>
                  </a:rPr>
                  <a:t>(SOI[:, 3],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#Calculate the slope for each central wavelength.</a:t>
                </a:r>
              </a:p>
              <a:p>
                <a:pPr algn="just"/>
                <a:r>
                  <a:rPr lang="en-US" sz="1200" dirty="0">
                    <a:latin typeface="Arial" panose="020B0604020202020204" pitchFamily="34" charset="0"/>
                    <a:cs typeface="Arial" panose="020B0604020202020204" pitchFamily="34" charset="0"/>
                  </a:rPr>
                  <a:t>#print((2.35452-2.35702)/(1.551-1.549)) </a:t>
                </a:r>
                <a:r>
                  <a:rPr lang="en-US" sz="1200" dirty="0">
                    <a:latin typeface="Arial" panose="020B0604020202020204" pitchFamily="34" charset="0"/>
                    <a:cs typeface="Arial" panose="020B0604020202020204" pitchFamily="34" charset="0"/>
                    <a:sym typeface="Wingdings" panose="05000000000000000000" pitchFamily="2" charset="2"/>
                  </a:rPr>
                  <a:t>Verify that the calculated value corresponds to the correct slope.</a:t>
                </a:r>
                <a:endParaRPr lang="en-U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i</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np.argmin</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np.abs</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 wl0)) # </a:t>
                </a:r>
                <a:r>
                  <a:rPr lang="es-CO" sz="1200" dirty="0" err="1">
                    <a:latin typeface="Arial" panose="020B0604020202020204" pitchFamily="34" charset="0"/>
                    <a:cs typeface="Arial" panose="020B0604020202020204" pitchFamily="34" charset="0"/>
                  </a:rPr>
                  <a:t>Identify</a:t>
                </a:r>
                <a:r>
                  <a:rPr lang="es-CO" sz="1200" dirty="0">
                    <a:latin typeface="Arial" panose="020B0604020202020204" pitchFamily="34" charset="0"/>
                    <a:cs typeface="Arial" panose="020B0604020202020204" pitchFamily="34" charset="0"/>
                  </a:rPr>
                  <a:t> the </a:t>
                </a:r>
                <a:r>
                  <a:rPr lang="es-CO" sz="1200" dirty="0" err="1">
                    <a:latin typeface="Arial" panose="020B0604020202020204" pitchFamily="34" charset="0"/>
                    <a:cs typeface="Arial" panose="020B0604020202020204" pitchFamily="34" charset="0"/>
                  </a:rPr>
                  <a:t>index</a:t>
                </a:r>
                <a:r>
                  <a:rPr lang="es-CO" sz="1200" dirty="0">
                    <a:latin typeface="Arial" panose="020B0604020202020204" pitchFamily="34" charset="0"/>
                    <a:cs typeface="Arial" panose="020B0604020202020204" pitchFamily="34" charset="0"/>
                  </a:rPr>
                  <a:t> </a:t>
                </a:r>
                <a:r>
                  <a:rPr lang="es-CO" sz="1200" dirty="0" err="1">
                    <a:latin typeface="Arial" panose="020B0604020202020204" pitchFamily="34" charset="0"/>
                    <a:cs typeface="Arial" panose="020B0604020202020204" pitchFamily="34" charset="0"/>
                  </a:rPr>
                  <a:t>corresponding</a:t>
                </a:r>
                <a:r>
                  <a:rPr lang="es-CO" sz="1200" dirty="0">
                    <a:latin typeface="Arial" panose="020B0604020202020204" pitchFamily="34" charset="0"/>
                    <a:cs typeface="Arial" panose="020B0604020202020204" pitchFamily="34" charset="0"/>
                  </a:rPr>
                  <a:t> to the </a:t>
                </a:r>
                <a:r>
                  <a:rPr lang="es-CO" sz="1200" dirty="0" err="1">
                    <a:latin typeface="Arial" panose="020B0604020202020204" pitchFamily="34" charset="0"/>
                    <a:cs typeface="Arial" panose="020B0604020202020204" pitchFamily="34" charset="0"/>
                  </a:rPr>
                  <a:t>wavelength</a:t>
                </a:r>
                <a:r>
                  <a:rPr lang="es-CO" sz="1200" dirty="0">
                    <a:latin typeface="Arial" panose="020B0604020202020204" pitchFamily="34" charset="0"/>
                    <a:cs typeface="Arial" panose="020B0604020202020204" pitchFamily="34" charset="0"/>
                  </a:rPr>
                  <a:t> </a:t>
                </a:r>
                <a:r>
                  <a:rPr lang="es-CO" sz="1200" dirty="0" err="1">
                    <a:latin typeface="Arial" panose="020B0604020202020204" pitchFamily="34" charset="0"/>
                    <a:cs typeface="Arial" panose="020B0604020202020204" pitchFamily="34" charset="0"/>
                  </a:rPr>
                  <a:t>closest</a:t>
                </a:r>
                <a:r>
                  <a:rPr lang="es-CO" sz="1200" dirty="0">
                    <a:latin typeface="Arial" panose="020B0604020202020204" pitchFamily="34" charset="0"/>
                    <a:cs typeface="Arial" panose="020B0604020202020204" pitchFamily="34" charset="0"/>
                  </a:rPr>
                  <a:t> to wl0</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ng_1550 = </a:t>
                </a:r>
                <a:r>
                  <a:rPr lang="en-US" sz="1200" dirty="0" err="1">
                    <a:latin typeface="Arial" panose="020B0604020202020204" pitchFamily="34" charset="0"/>
                    <a:cs typeface="Arial" panose="020B0604020202020204" pitchFamily="34" charset="0"/>
                  </a:rPr>
                  <a:t>n_eff</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i</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i</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dn_dlambda</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i</a:t>
                </a:r>
                <a:r>
                  <a:rPr lang="en-US" sz="1200" dirty="0">
                    <a:latin typeface="Arial" panose="020B0604020202020204" pitchFamily="34" charset="0"/>
                    <a:cs typeface="Arial" panose="020B0604020202020204" pitchFamily="34" charset="0"/>
                  </a:rPr>
                  <a:t>] # Calculate the group index.</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CFDBBA6B-3646-055F-7A9C-EE01830137BE}"/>
                  </a:ext>
                </a:extLst>
              </p:cNvPr>
              <p:cNvSpPr txBox="1">
                <a:spLocks noRot="1" noChangeAspect="1" noMove="1" noResize="1" noEditPoints="1" noAdjustHandles="1" noChangeArrowheads="1" noChangeShapeType="1" noTextEdit="1"/>
              </p:cNvSpPr>
              <p:nvPr/>
            </p:nvSpPr>
            <p:spPr>
              <a:xfrm>
                <a:off x="685800" y="1600200"/>
                <a:ext cx="6409575" cy="4261936"/>
              </a:xfrm>
              <a:prstGeom prst="rect">
                <a:avLst/>
              </a:prstGeom>
              <a:blipFill>
                <a:blip r:embed="rId7"/>
                <a:stretch>
                  <a:fillRect/>
                </a:stretch>
              </a:blipFill>
              <a:ln w="28575">
                <a:solidFill>
                  <a:srgbClr val="E0700D"/>
                </a:solidFill>
              </a:ln>
            </p:spPr>
            <p:txBody>
              <a:bodyPr/>
              <a:lstStyle/>
              <a:p>
                <a:r>
                  <a:rPr lang="es-CO">
                    <a:noFill/>
                  </a:rPr>
                  <a:t> </a:t>
                </a:r>
              </a:p>
            </p:txBody>
          </p:sp>
        </mc:Fallback>
      </mc:AlternateContent>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CE75487C-B00A-55FC-2F6D-1D4391EBDB79}"/>
              </a:ext>
            </a:extLst>
          </p:cNvPr>
          <p:cNvPicPr>
            <a:picLocks noChangeAspect="1"/>
          </p:cNvPicPr>
          <p:nvPr/>
        </p:nvPicPr>
        <p:blipFill>
          <a:blip r:embed="rId8"/>
          <a:stretch>
            <a:fillRect/>
          </a:stretch>
        </p:blipFill>
        <p:spPr>
          <a:xfrm>
            <a:off x="7244885" y="1796320"/>
            <a:ext cx="4486153" cy="3600000"/>
          </a:xfrm>
          <a:prstGeom prst="rect">
            <a:avLst/>
          </a:prstGeom>
        </p:spPr>
      </p:pic>
    </p:spTree>
    <p:extLst>
      <p:ext uri="{BB962C8B-B14F-4D97-AF65-F5344CB8AC3E}">
        <p14:creationId xmlns:p14="http://schemas.microsoft.com/office/powerpoint/2010/main" val="2337098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28601-B671-3F40-F021-F9CF095FAA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0224F418-A19E-C448-A855-79E8D6A40CB8}"/>
                  </a:ext>
                </a:extLst>
              </p:cNvPr>
              <p:cNvSpPr txBox="1">
                <a:spLocks noGrp="1"/>
              </p:cNvSpPr>
              <p:nvPr>
                <p:ph type="title"/>
              </p:nvPr>
            </p:nvSpPr>
            <p:spPr>
              <a:xfrm>
                <a:off x="685800" y="76200"/>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0224F418-A19E-C448-A855-79E8D6A40CB8}"/>
                  </a:ext>
                </a:extLst>
              </p:cNvPr>
              <p:cNvSpPr txBox="1">
                <a:spLocks noGrp="1" noRot="1" noChangeAspect="1" noMove="1" noResize="1" noEditPoints="1" noAdjustHandles="1" noChangeArrowheads="1" noChangeShapeType="1" noTextEdit="1"/>
              </p:cNvSpPr>
              <p:nvPr>
                <p:ph type="title"/>
              </p:nvPr>
            </p:nvSpPr>
            <p:spPr>
              <a:xfrm>
                <a:off x="685800" y="76200"/>
                <a:ext cx="10994410" cy="782265"/>
              </a:xfrm>
              <a:prstGeom prst="rect">
                <a:avLst/>
              </a:prstGeom>
              <a:blipFill>
                <a:blip r:embed="rId3"/>
                <a:stretch>
                  <a:fillRect l="-1608" t="-10156"/>
                </a:stretch>
              </a:blipFill>
            </p:spPr>
            <p:txBody>
              <a:bodyPr/>
              <a:lstStyle/>
              <a:p>
                <a:r>
                  <a:rPr lang="es-CO">
                    <a:noFill/>
                  </a:rPr>
                  <a:t> </a:t>
                </a:r>
              </a:p>
            </p:txBody>
          </p:sp>
        </mc:Fallback>
      </mc:AlternateContent>
      <p:pic>
        <p:nvPicPr>
          <p:cNvPr id="83" name="Gráfico 82">
            <a:extLst>
              <a:ext uri="{FF2B5EF4-FFF2-40B4-BE49-F238E27FC236}">
                <a16:creationId xmlns:a16="http://schemas.microsoft.com/office/drawing/2014/main" id="{50B78BF1-66E6-8DC6-BDE6-3829F2CBB3B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AE5094D-1912-FF9C-879C-078F857AC28B}"/>
              </a:ext>
            </a:extLst>
          </p:cNvPr>
          <p:cNvSpPr>
            <a:spLocks noGrp="1"/>
          </p:cNvSpPr>
          <p:nvPr>
            <p:ph type="sldNum" sz="quarter" idx="7"/>
          </p:nvPr>
        </p:nvSpPr>
        <p:spPr/>
        <p:txBody>
          <a:bodyPr/>
          <a:lstStyle/>
          <a:p>
            <a:fld id="{B6F15528-21DE-4FAA-801E-634DDDAF4B2B}" type="slidenum">
              <a:rPr lang="es-ES" smtClean="0"/>
              <a:t>9</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5C71605D-B972-9E33-7C83-887CCC0FE839}"/>
                  </a:ext>
                </a:extLst>
              </p:cNvPr>
              <p:cNvSpPr txBox="1">
                <a:spLocks/>
              </p:cNvSpPr>
              <p:nvPr/>
            </p:nvSpPr>
            <p:spPr>
              <a:xfrm>
                <a:off x="608012" y="4572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600" dirty="0"/>
                  <a:t>Considering the n_{eff} values for the SOI cross-section, what would be the path difference (</a:t>
                </a:r>
                <a14:m>
                  <m:oMath xmlns:m="http://schemas.openxmlformats.org/officeDocument/2006/math">
                    <m:r>
                      <m:rPr>
                        <m:sty m:val="p"/>
                      </m:rPr>
                      <a:rPr lang="es-ES" sz="1600" b="0" i="0" smtClean="0">
                        <a:latin typeface="Cambria Math" panose="02040503050406030204" pitchFamily="18" charset="0"/>
                      </a:rPr>
                      <m:t>ΔL</m:t>
                    </m:r>
                    <m:r>
                      <a:rPr lang="es-ES" sz="1600" b="0" i="1" smtClean="0">
                        <a:latin typeface="Cambria Math" panose="02040503050406030204" pitchFamily="18" charset="0"/>
                      </a:rPr>
                      <m:t>= </m:t>
                    </m:r>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𝑢</m:t>
                        </m:r>
                      </m:sub>
                    </m:sSub>
                    <m:r>
                      <a:rPr lang="es-ES" sz="1600" b="0" i="1" smtClean="0">
                        <a:latin typeface="Cambria Math" panose="02040503050406030204" pitchFamily="18" charset="0"/>
                      </a:rPr>
                      <m:t> −</m:t>
                    </m:r>
                    <m:sSub>
                      <m:sSubPr>
                        <m:ctrlPr>
                          <a:rPr lang="es-ES" sz="1600" i="1">
                            <a:latin typeface="Cambria Math" panose="02040503050406030204" pitchFamily="18" charset="0"/>
                          </a:rPr>
                        </m:ctrlPr>
                      </m:sSubPr>
                      <m:e>
                        <m:r>
                          <a:rPr lang="es-ES" sz="1600" b="0" i="1">
                            <a:latin typeface="Cambria Math" panose="02040503050406030204" pitchFamily="18" charset="0"/>
                          </a:rPr>
                          <m:t>𝐿</m:t>
                        </m:r>
                      </m:e>
                      <m:sub>
                        <m:r>
                          <a:rPr lang="es-ES" sz="1600" b="0" i="1" smtClean="0">
                            <a:latin typeface="Cambria Math" panose="02040503050406030204" pitchFamily="18" charset="0"/>
                          </a:rPr>
                          <m:t>𝑑</m:t>
                        </m:r>
                      </m:sub>
                    </m:sSub>
                  </m:oMath>
                </a14:m>
                <a:r>
                  <a:rPr lang="en-US" sz="1600" dirty="0"/>
                  <a:t>) needed to obtain a Free Spectral Range of 40 nm? Introduce the obtained value in the model to check the MZI response. </a:t>
                </a:r>
              </a:p>
              <a:p>
                <a:endParaRPr lang="en-US" sz="1600" dirty="0"/>
              </a:p>
              <a:p>
                <a:r>
                  <a:rPr lang="en-US" sz="1600" dirty="0"/>
                  <a:t>Hint: We assume 1550 nm as the central design wavelength (</a:t>
                </a:r>
                <a14:m>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𝜆</m:t>
                        </m:r>
                      </m:e>
                      <m:sub>
                        <m:r>
                          <a:rPr lang="es-ES" sz="1600" b="0" i="1" smtClean="0">
                            <a:latin typeface="Cambria Math" panose="02040503050406030204" pitchFamily="18" charset="0"/>
                          </a:rPr>
                          <m:t>0</m:t>
                        </m:r>
                      </m:sub>
                    </m:sSub>
                    <m:r>
                      <a:rPr lang="es-ES" sz="1600" b="0" i="1" smtClean="0">
                        <a:latin typeface="Cambria Math" panose="02040503050406030204" pitchFamily="18" charset="0"/>
                      </a:rPr>
                      <m:t>= </m:t>
                    </m:r>
                  </m:oMath>
                </a14:m>
                <a:r>
                  <a:rPr lang="en-US" sz="1600" dirty="0"/>
                  <a:t>1550 nm).</a:t>
                </a:r>
              </a:p>
              <a:p>
                <a:endParaRPr lang="en-US" sz="1600" dirty="0"/>
              </a:p>
              <a:p>
                <a:pPr algn="just"/>
                <a:endParaRPr lang="en-US" sz="1600" dirty="0"/>
              </a:p>
              <a:p>
                <a:pPr algn="just"/>
                <a:endParaRPr lang="en-US" sz="1600" b="1" i="1" dirty="0"/>
              </a:p>
              <a:p>
                <a:pPr algn="just"/>
                <a:endParaRPr lang="en-US" sz="1600" kern="0" dirty="0">
                  <a:solidFill>
                    <a:sysClr val="windowText" lastClr="000000"/>
                  </a:solidFill>
                </a:endParaRPr>
              </a:p>
              <a:p>
                <a:endParaRPr lang="en-US" sz="16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5C71605D-B972-9E33-7C83-887CCC0FE839}"/>
                  </a:ext>
                </a:extLst>
              </p:cNvPr>
              <p:cNvSpPr txBox="1">
                <a:spLocks noRot="1" noChangeAspect="1" noMove="1" noResize="1" noEditPoints="1" noAdjustHandles="1" noChangeArrowheads="1" noChangeShapeType="1" noTextEdit="1"/>
              </p:cNvSpPr>
              <p:nvPr/>
            </p:nvSpPr>
            <p:spPr>
              <a:xfrm>
                <a:off x="608012" y="457200"/>
                <a:ext cx="11048999" cy="4958137"/>
              </a:xfrm>
              <a:prstGeom prst="rect">
                <a:avLst/>
              </a:prstGeom>
              <a:blipFill>
                <a:blip r:embed="rId6"/>
                <a:stretch>
                  <a:fillRect l="-331" t="-36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E8A34C6-C3BF-F65C-7064-C0018AE445BE}"/>
                  </a:ext>
                </a:extLst>
              </p:cNvPr>
              <p:cNvSpPr txBox="1"/>
              <p:nvPr/>
            </p:nvSpPr>
            <p:spPr>
              <a:xfrm>
                <a:off x="685800" y="1799185"/>
                <a:ext cx="6096000" cy="397031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Once we obtain the group index, which is 4.29, we calculate </a:t>
                </a:r>
                <a14:m>
                  <m:oMath xmlns:m="http://schemas.openxmlformats.org/officeDocument/2006/math">
                    <m:r>
                      <a:rPr lang="en-US" sz="1200" i="1">
                        <a:latin typeface="Cambria Math" panose="02040503050406030204" pitchFamily="18" charset="0"/>
                        <a:ea typeface="Cambria Math" panose="02040503050406030204" pitchFamily="18" charset="0"/>
                        <a:cs typeface="Arial" panose="020B0604020202020204" pitchFamily="34" charset="0"/>
                      </a:rPr>
                      <m:t>∆</m:t>
                    </m:r>
                    <m:r>
                      <a:rPr lang="es-ES" sz="1200" i="1">
                        <a:latin typeface="Cambria Math" panose="02040503050406030204" pitchFamily="18" charset="0"/>
                        <a:ea typeface="Cambria Math" panose="02040503050406030204" pitchFamily="18" charset="0"/>
                        <a:cs typeface="Arial" panose="020B0604020202020204" pitchFamily="34" charset="0"/>
                      </a:rPr>
                      <m:t>𝐿</m:t>
                    </m:r>
                    <m:r>
                      <a:rPr lang="es-ES" sz="1200" b="0" i="0" smtClean="0">
                        <a:latin typeface="Cambria Math" panose="02040503050406030204" pitchFamily="18" charset="0"/>
                        <a:ea typeface="Cambria Math" panose="02040503050406030204" pitchFamily="18" charset="0"/>
                        <a:cs typeface="Arial" panose="020B0604020202020204" pitchFamily="34" charset="0"/>
                      </a:rPr>
                      <m:t> </m:t>
                    </m:r>
                  </m:oMath>
                </a14:m>
                <a:r>
                  <a:rPr lang="en-US" sz="1200" dirty="0">
                    <a:latin typeface="Arial" panose="020B0604020202020204" pitchFamily="34" charset="0"/>
                    <a:cs typeface="Arial" panose="020B0604020202020204" pitchFamily="34" charset="0"/>
                  </a:rPr>
                  <a:t>as follows: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FSR=40e-3</a:t>
                </a:r>
              </a:p>
              <a:p>
                <a:pPr algn="just"/>
                <a:r>
                  <a:rPr lang="en-US" sz="1200" dirty="0" err="1">
                    <a:latin typeface="Arial" panose="020B0604020202020204" pitchFamily="34" charset="0"/>
                    <a:cs typeface="Arial" panose="020B0604020202020204" pitchFamily="34" charset="0"/>
                  </a:rPr>
                  <a:t>deltaL</a:t>
                </a:r>
                <a:r>
                  <a:rPr lang="en-US" sz="1200" dirty="0">
                    <a:latin typeface="Arial" panose="020B0604020202020204" pitchFamily="34" charset="0"/>
                    <a:cs typeface="Arial" panose="020B0604020202020204" pitchFamily="34" charset="0"/>
                  </a:rPr>
                  <a:t>=(wl0**2)/(FSR*ng_1550)</a:t>
                </a:r>
              </a:p>
              <a:p>
                <a:pPr algn="just"/>
                <a:r>
                  <a:rPr lang="en-US" sz="1200" dirty="0">
                    <a:latin typeface="Arial" panose="020B0604020202020204" pitchFamily="34" charset="0"/>
                    <a:cs typeface="Arial" panose="020B0604020202020204" pitchFamily="34" charset="0"/>
                  </a:rPr>
                  <a:t>print(</a:t>
                </a:r>
                <a:r>
                  <a:rPr lang="en-US" sz="1200" dirty="0" err="1">
                    <a:latin typeface="Arial" panose="020B0604020202020204" pitchFamily="34" charset="0"/>
                    <a:cs typeface="Arial" panose="020B0604020202020204" pitchFamily="34" charset="0"/>
                  </a:rPr>
                  <a:t>f"La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caminos </a:t>
                </a:r>
                <a:r>
                  <a:rPr lang="en-US" sz="1200" dirty="0" err="1">
                    <a:latin typeface="Arial" panose="020B0604020202020204" pitchFamily="34" charset="0"/>
                    <a:cs typeface="Arial" panose="020B0604020202020204" pitchFamily="34" charset="0"/>
                  </a:rPr>
                  <a:t>debe</a:t>
                </a:r>
                <a:r>
                  <a:rPr lang="en-US" sz="1200" dirty="0">
                    <a:latin typeface="Arial" panose="020B0604020202020204" pitchFamily="34" charset="0"/>
                    <a:cs typeface="Arial" panose="020B0604020202020204" pitchFamily="34" charset="0"/>
                  </a:rPr>
                  <a:t> ser de: {</a:t>
                </a:r>
                <a:r>
                  <a:rPr lang="en-US" sz="1200" dirty="0" err="1">
                    <a:latin typeface="Arial" panose="020B0604020202020204" pitchFamily="34" charset="0"/>
                    <a:cs typeface="Arial" panose="020B0604020202020204" pitchFamily="34" charset="0"/>
                  </a:rPr>
                  <a:t>deltaL</a:t>
                </a:r>
                <a:r>
                  <a:rPr lang="en-US" sz="1200" dirty="0">
                    <a:latin typeface="Arial" panose="020B0604020202020204" pitchFamily="34" charset="0"/>
                    <a:cs typeface="Arial" panose="020B0604020202020204" pitchFamily="34" charset="0"/>
                  </a:rPr>
                  <a:t>} um")</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The difference in the path lengths must be 13.98 µm.</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Now, to verify whether we obtained the required FSR, we check it using the following code:</a:t>
                </a:r>
              </a:p>
              <a:p>
                <a:pPr algn="just"/>
                <a:endParaRPr lang="es-ES" sz="1200" dirty="0">
                  <a:latin typeface="Arial" panose="020B0604020202020204" pitchFamily="34" charset="0"/>
                  <a:cs typeface="Arial" panose="020B0604020202020204" pitchFamily="34" charset="0"/>
                </a:endParaRPr>
              </a:p>
              <a:p>
                <a:pPr algn="just"/>
                <a:r>
                  <a:rPr lang="en-US" sz="1200" dirty="0" err="1">
                    <a:latin typeface="Arial" panose="020B0604020202020204" pitchFamily="34" charset="0"/>
                    <a:cs typeface="Arial" panose="020B0604020202020204" pitchFamily="34" charset="0"/>
                  </a:rPr>
                  <a:t>maxp</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np.argmax</a:t>
                </a:r>
                <a:r>
                  <a:rPr lang="en-US" sz="1200" dirty="0">
                    <a:latin typeface="Arial" panose="020B0604020202020204" pitchFamily="34" charset="0"/>
                    <a:cs typeface="Arial" panose="020B0604020202020204" pitchFamily="34" charset="0"/>
                  </a:rPr>
                  <a:t>(H22)]</a:t>
                </a:r>
              </a:p>
              <a:p>
                <a:pPr algn="just"/>
                <a:r>
                  <a:rPr lang="en-US" sz="1200" dirty="0" err="1">
                    <a:latin typeface="Arial" panose="020B0604020202020204" pitchFamily="34" charset="0"/>
                    <a:cs typeface="Arial" panose="020B0604020202020204" pitchFamily="34" charset="0"/>
                  </a:rPr>
                  <a:t>minp</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a:t>
                </a:r>
                <a:r>
                  <a:rPr lang="en-US" sz="1200" dirty="0" err="1">
                    <a:latin typeface="Arial" panose="020B0604020202020204" pitchFamily="34" charset="0"/>
                    <a:cs typeface="Arial" panose="020B0604020202020204" pitchFamily="34" charset="0"/>
                  </a:rPr>
                  <a:t>np.argmin</a:t>
                </a:r>
                <a:r>
                  <a:rPr lang="en-US" sz="1200" dirty="0">
                    <a:latin typeface="Arial" panose="020B0604020202020204" pitchFamily="34" charset="0"/>
                    <a:cs typeface="Arial" panose="020B0604020202020204" pitchFamily="34" charset="0"/>
                  </a:rPr>
                  <a:t>(H22)]</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FSR=2*(</a:t>
                </a:r>
                <a:r>
                  <a:rPr lang="en-US" sz="1200" dirty="0" err="1">
                    <a:latin typeface="Arial" panose="020B0604020202020204" pitchFamily="34" charset="0"/>
                    <a:cs typeface="Arial" panose="020B0604020202020204" pitchFamily="34" charset="0"/>
                  </a:rPr>
                  <a:t>minp-maxp</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The result is 0.040 µm, which corresponds to 40 nm, confirming that the value is correct.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DE8A34C6-C3BF-F65C-7064-C0018AE445BE}"/>
                  </a:ext>
                </a:extLst>
              </p:cNvPr>
              <p:cNvSpPr txBox="1">
                <a:spLocks noRot="1" noChangeAspect="1" noMove="1" noResize="1" noEditPoints="1" noAdjustHandles="1" noChangeArrowheads="1" noChangeShapeType="1" noTextEdit="1"/>
              </p:cNvSpPr>
              <p:nvPr/>
            </p:nvSpPr>
            <p:spPr>
              <a:xfrm>
                <a:off x="685800" y="1799185"/>
                <a:ext cx="6096000" cy="3970318"/>
              </a:xfrm>
              <a:prstGeom prst="rect">
                <a:avLst/>
              </a:prstGeom>
              <a:blipFill>
                <a:blip r:embed="rId7"/>
                <a:stretch>
                  <a:fillRect/>
                </a:stretch>
              </a:blipFill>
              <a:ln w="28575">
                <a:solidFill>
                  <a:srgbClr val="E0700D"/>
                </a:solidFill>
              </a:ln>
            </p:spPr>
            <p:txBody>
              <a:bodyPr/>
              <a:lstStyle/>
              <a:p>
                <a:r>
                  <a:rPr lang="es-CO">
                    <a:noFill/>
                  </a:rPr>
                  <a:t> </a:t>
                </a:r>
              </a:p>
            </p:txBody>
          </p:sp>
        </mc:Fallback>
      </mc:AlternateContent>
      <p:sp>
        <p:nvSpPr>
          <p:cNvPr id="5" name="Marcador de pie de página 2">
            <a:extLst>
              <a:ext uri="{FF2B5EF4-FFF2-40B4-BE49-F238E27FC236}">
                <a16:creationId xmlns:a16="http://schemas.microsoft.com/office/drawing/2014/main" id="{71576E55-378A-6B20-B0FA-3BB0A95D2D6C}"/>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81F41156-2653-EE16-D454-98B1B850CB48}"/>
              </a:ext>
            </a:extLst>
          </p:cNvPr>
          <p:cNvPicPr>
            <a:picLocks noChangeAspect="1"/>
          </p:cNvPicPr>
          <p:nvPr/>
        </p:nvPicPr>
        <p:blipFill>
          <a:blip r:embed="rId8"/>
          <a:stretch>
            <a:fillRect/>
          </a:stretch>
        </p:blipFill>
        <p:spPr>
          <a:xfrm>
            <a:off x="7068563" y="1851734"/>
            <a:ext cx="4486153" cy="3600000"/>
          </a:xfrm>
          <a:prstGeom prst="rect">
            <a:avLst/>
          </a:prstGeom>
        </p:spPr>
      </p:pic>
    </p:spTree>
    <p:extLst>
      <p:ext uri="{BB962C8B-B14F-4D97-AF65-F5344CB8AC3E}">
        <p14:creationId xmlns:p14="http://schemas.microsoft.com/office/powerpoint/2010/main" val="2463774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12234" y="150169"/>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612671"/>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400"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sz="1400" dirty="0"/>
            </a:br>
            <a:r>
              <a:rPr lang="en-US" sz="1400" dirty="0"/>
              <a:t>In order to implement the SAX model, take as example the following lines:</a:t>
            </a:r>
          </a:p>
          <a:p>
            <a:endParaRPr lang="en-US" sz="1400" b="0" dirty="0">
              <a:effectLst/>
              <a:latin typeface="Courier New" panose="02070309020205020404" pitchFamily="49" charset="0"/>
            </a:endParaRPr>
          </a:p>
          <a:p>
            <a:r>
              <a:rPr lang="es-ES" sz="1100" b="0" dirty="0" err="1">
                <a:effectLst/>
                <a:latin typeface="Courier New" panose="02070309020205020404" pitchFamily="49" charset="0"/>
              </a:rPr>
              <a:t>mzi_test</a:t>
            </a:r>
            <a:r>
              <a:rPr lang="es-ES" sz="1100" b="0" dirty="0">
                <a:effectLst/>
                <a:latin typeface="Courier New" panose="02070309020205020404" pitchFamily="49" charset="0"/>
              </a:rPr>
              <a:t> = </a:t>
            </a:r>
            <a:r>
              <a:rPr lang="es-ES" sz="1100" b="0" dirty="0" err="1">
                <a:effectLst/>
                <a:latin typeface="Courier New" panose="02070309020205020404" pitchFamily="49" charset="0"/>
              </a:rPr>
              <a:t>mzi</a:t>
            </a:r>
            <a:r>
              <a:rPr lang="es-ES" sz="1100" b="0" dirty="0">
                <a:effectLst/>
                <a:latin typeface="Courier New" panose="02070309020205020404" pitchFamily="49" charset="0"/>
              </a:rPr>
              <a:t>(</a:t>
            </a:r>
            <a:r>
              <a:rPr lang="es-ES" sz="1100" b="0" dirty="0" err="1">
                <a:effectLst/>
                <a:latin typeface="Courier New" panose="02070309020205020404" pitchFamily="49" charset="0"/>
              </a:rPr>
              <a:t>wl</a:t>
            </a:r>
            <a:r>
              <a:rPr lang="es-ES" sz="1100" b="0" dirty="0">
                <a:effectLst/>
                <a:latin typeface="Courier New" panose="02070309020205020404" pitchFamily="49" charset="0"/>
              </a:rPr>
              <a:t>=</a:t>
            </a:r>
            <a:r>
              <a:rPr lang="es-ES" sz="1100" b="0" dirty="0" err="1">
                <a:effectLst/>
                <a:latin typeface="Courier New" panose="02070309020205020404" pitchFamily="49" charset="0"/>
              </a:rPr>
              <a:t>wl</a:t>
            </a:r>
            <a:r>
              <a:rPr lang="es-ES" sz="1100" b="0" dirty="0">
                <a:effectLst/>
                <a:latin typeface="Courier New" panose="02070309020205020404" pitchFamily="49" charset="0"/>
              </a:rPr>
              <a:t>, </a:t>
            </a:r>
          </a:p>
          <a:p>
            <a:r>
              <a:rPr lang="es-ES" sz="1100" b="0" dirty="0">
                <a:effectLst/>
                <a:latin typeface="Courier New" panose="02070309020205020404" pitchFamily="49" charset="0"/>
              </a:rPr>
              <a:t>    </a:t>
            </a:r>
            <a:r>
              <a:rPr lang="es-ES" sz="1100" b="0" dirty="0" err="1">
                <a:effectLst/>
                <a:latin typeface="Courier New" panose="02070309020205020404" pitchFamily="49" charset="0"/>
              </a:rPr>
              <a:t>coup_a</a:t>
            </a:r>
            <a:r>
              <a:rPr lang="es-ES" sz="1100" b="0" dirty="0">
                <a:effectLst/>
                <a:latin typeface="Courier New" panose="02070309020205020404" pitchFamily="49" charset="0"/>
              </a:rPr>
              <a:t> = ...</a:t>
            </a:r>
          </a:p>
          <a:p>
            <a:r>
              <a:rPr lang="es-ES" sz="1100" dirty="0">
                <a:latin typeface="Courier New" panose="02070309020205020404" pitchFamily="49" charset="0"/>
              </a:rPr>
              <a:t>    </a:t>
            </a:r>
            <a:r>
              <a:rPr lang="es-ES" sz="1100" b="0" dirty="0" err="1">
                <a:effectLst/>
                <a:latin typeface="Courier New" panose="02070309020205020404" pitchFamily="49" charset="0"/>
              </a:rPr>
              <a:t>wvg_d</a:t>
            </a:r>
            <a:r>
              <a:rPr lang="es-ES" sz="1100" b="0" dirty="0">
                <a:effectLst/>
                <a:latin typeface="Courier New" panose="02070309020205020404" pitchFamily="49" charset="0"/>
              </a:rPr>
              <a:t>={"</a:t>
            </a:r>
            <a:r>
              <a:rPr lang="es-ES" sz="1100" b="0" dirty="0" err="1">
                <a:effectLst/>
                <a:latin typeface="Courier New" panose="02070309020205020404" pitchFamily="49" charset="0"/>
              </a:rPr>
              <a:t>length</a:t>
            </a:r>
            <a:r>
              <a:rPr lang="es-ES" sz="1100" b="0" dirty="0">
                <a:effectLst/>
                <a:latin typeface="Courier New" panose="02070309020205020404" pitchFamily="49" charset="0"/>
              </a:rPr>
              <a:t>": </a:t>
            </a:r>
            <a:r>
              <a:rPr lang="es-ES" sz="1100" b="0" dirty="0" err="1">
                <a:effectLst/>
                <a:latin typeface="Courier New" panose="02070309020205020404" pitchFamily="49" charset="0"/>
              </a:rPr>
              <a:t>l_d</a:t>
            </a:r>
            <a:r>
              <a:rPr lang="es-ES" sz="1100" b="0" dirty="0">
                <a:effectLst/>
                <a:latin typeface="Courier New" panose="02070309020205020404" pitchFamily="49" charset="0"/>
              </a:rPr>
              <a:t>, "</a:t>
            </a:r>
            <a:r>
              <a:rPr lang="es-ES" sz="1100" b="0" dirty="0" err="1">
                <a:effectLst/>
                <a:latin typeface="Courier New" panose="02070309020205020404" pitchFamily="49" charset="0"/>
              </a:rPr>
              <a:t>neff</a:t>
            </a:r>
            <a:r>
              <a:rPr lang="es-ES" sz="1100" b="0" dirty="0">
                <a:effectLst/>
                <a:latin typeface="Courier New" panose="02070309020205020404" pitchFamily="49" charset="0"/>
              </a:rPr>
              <a:t>": ...}, </a:t>
            </a:r>
          </a:p>
          <a:p>
            <a:r>
              <a:rPr lang="es-ES" sz="1100" dirty="0">
                <a:latin typeface="Courier New" panose="02070309020205020404" pitchFamily="49" charset="0"/>
              </a:rPr>
              <a:t> </a:t>
            </a:r>
            <a:r>
              <a:rPr lang="es-ES" sz="1100" b="0" dirty="0">
                <a:effectLst/>
                <a:latin typeface="Courier New" panose="02070309020205020404" pitchFamily="49" charset="0"/>
              </a:rPr>
              <a:t>   </a:t>
            </a:r>
            <a:r>
              <a:rPr lang="es-ES" sz="1100" b="0" dirty="0" err="1">
                <a:effectLst/>
                <a:latin typeface="Courier New" panose="02070309020205020404" pitchFamily="49" charset="0"/>
              </a:rPr>
              <a:t>wvg_u</a:t>
            </a:r>
            <a:r>
              <a:rPr lang="es-ES" sz="1100" b="0" dirty="0">
                <a:effectLst/>
                <a:latin typeface="Courier New" panose="02070309020205020404" pitchFamily="49" charset="0"/>
              </a:rPr>
              <a:t>={"</a:t>
            </a:r>
            <a:r>
              <a:rPr lang="es-ES" sz="1100" b="0" dirty="0" err="1">
                <a:effectLst/>
                <a:latin typeface="Courier New" panose="02070309020205020404" pitchFamily="49" charset="0"/>
              </a:rPr>
              <a:t>length</a:t>
            </a:r>
            <a:r>
              <a:rPr lang="es-ES" sz="1100" b="0" dirty="0">
                <a:effectLst/>
                <a:latin typeface="Courier New" panose="02070309020205020404" pitchFamily="49" charset="0"/>
              </a:rPr>
              <a:t>": </a:t>
            </a:r>
            <a:r>
              <a:rPr lang="es-ES" sz="1100" b="0" dirty="0" err="1">
                <a:effectLst/>
                <a:latin typeface="Courier New" panose="02070309020205020404" pitchFamily="49" charset="0"/>
              </a:rPr>
              <a:t>l_u</a:t>
            </a:r>
            <a:r>
              <a:rPr lang="es-ES" sz="1100" b="0" dirty="0">
                <a:effectLst/>
                <a:latin typeface="Courier New" panose="02070309020205020404" pitchFamily="49" charset="0"/>
              </a:rPr>
              <a:t>, "</a:t>
            </a:r>
            <a:r>
              <a:rPr lang="es-ES" sz="1100" b="0" dirty="0" err="1">
                <a:effectLst/>
                <a:latin typeface="Courier New" panose="02070309020205020404" pitchFamily="49" charset="0"/>
              </a:rPr>
              <a:t>neff</a:t>
            </a:r>
            <a:r>
              <a:rPr lang="es-ES" sz="1100" b="0" dirty="0">
                <a:effectLst/>
                <a:latin typeface="Courier New" panose="02070309020205020404" pitchFamily="49" charset="0"/>
              </a:rPr>
              <a:t>": ...},</a:t>
            </a:r>
          </a:p>
          <a:p>
            <a:r>
              <a:rPr lang="es-ES" sz="1100" b="0" dirty="0">
                <a:effectLst/>
                <a:latin typeface="Courier New" panose="02070309020205020404" pitchFamily="49" charset="0"/>
              </a:rPr>
              <a:t>    </a:t>
            </a:r>
            <a:r>
              <a:rPr lang="es-ES" sz="1100" b="0" dirty="0" err="1">
                <a:effectLst/>
                <a:latin typeface="Courier New" panose="02070309020205020404" pitchFamily="49" charset="0"/>
              </a:rPr>
              <a:t>coup_b</a:t>
            </a:r>
            <a:r>
              <a:rPr lang="es-ES" sz="1100" b="0" dirty="0">
                <a:effectLst/>
                <a:latin typeface="Courier New" panose="02070309020205020404" pitchFamily="49" charset="0"/>
              </a:rPr>
              <a:t> = ... )</a:t>
            </a:r>
          </a:p>
          <a:p>
            <a:r>
              <a:rPr lang="es-ES" sz="1100" b="0" dirty="0">
                <a:effectLst/>
                <a:latin typeface="Courier New" panose="02070309020205020404" pitchFamily="49" charset="0"/>
              </a:rPr>
              <a:t>    H00 = </a:t>
            </a:r>
            <a:r>
              <a:rPr lang="es-ES" sz="1100" b="0" dirty="0" err="1">
                <a:effectLst/>
                <a:latin typeface="Courier New" panose="02070309020205020404" pitchFamily="49" charset="0"/>
              </a:rPr>
              <a:t>mzi_test</a:t>
            </a:r>
            <a:r>
              <a:rPr lang="es-ES" sz="1100" b="0" dirty="0">
                <a:effectLst/>
                <a:latin typeface="Courier New" panose="02070309020205020404" pitchFamily="49" charset="0"/>
              </a:rPr>
              <a:t>["in0", "out0"]</a:t>
            </a:r>
          </a:p>
          <a:p>
            <a:endParaRPr lang="en-US" sz="1600" dirty="0"/>
          </a:p>
          <a:p>
            <a:pPr algn="just"/>
            <a:endParaRPr lang="en-US" sz="1600" dirty="0"/>
          </a:p>
          <a:p>
            <a:pPr algn="just"/>
            <a:endParaRPr lang="en-US" sz="1600" b="1" i="1" dirty="0"/>
          </a:p>
          <a:p>
            <a:pPr algn="just"/>
            <a:endParaRPr lang="en-US" sz="1600" kern="0" dirty="0">
              <a:solidFill>
                <a:sysClr val="windowText" lastClr="000000"/>
              </a:solidFill>
            </a:endParaRPr>
          </a:p>
          <a:p>
            <a:endParaRPr lang="en-US" sz="16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For both cases, we obtain the same FSR, which is 28 nm. It can also be observed graphically that the amplitudes are very similar, since both responses oscillate between 1 and 0, reaching their maximum and minimum values at very similar wavelengths. Therefore, using SAX is a very good approximation of the mathematical method.</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6" name="Imagen 5">
            <a:extLst>
              <a:ext uri="{FF2B5EF4-FFF2-40B4-BE49-F238E27FC236}">
                <a16:creationId xmlns:a16="http://schemas.microsoft.com/office/drawing/2014/main" id="{CB00AD58-B9D3-4DE6-173D-16DDDEE7195B}"/>
              </a:ext>
            </a:extLst>
          </p:cNvPr>
          <p:cNvPicPr>
            <a:picLocks noChangeAspect="1"/>
          </p:cNvPicPr>
          <p:nvPr/>
        </p:nvPicPr>
        <p:blipFill>
          <a:blip r:embed="rId5"/>
          <a:stretch>
            <a:fillRect/>
          </a:stretch>
        </p:blipFill>
        <p:spPr>
          <a:xfrm>
            <a:off x="4525845" y="1791613"/>
            <a:ext cx="3140308" cy="2520000"/>
          </a:xfrm>
          <a:prstGeom prst="rect">
            <a:avLst/>
          </a:prstGeom>
        </p:spPr>
      </p:pic>
      <p:pic>
        <p:nvPicPr>
          <p:cNvPr id="8" name="Imagen 7">
            <a:extLst>
              <a:ext uri="{FF2B5EF4-FFF2-40B4-BE49-F238E27FC236}">
                <a16:creationId xmlns:a16="http://schemas.microsoft.com/office/drawing/2014/main" id="{3F5B2F32-3FBE-7027-E095-076C55C1F0E0}"/>
              </a:ext>
            </a:extLst>
          </p:cNvPr>
          <p:cNvPicPr>
            <a:picLocks noChangeAspect="1"/>
          </p:cNvPicPr>
          <p:nvPr/>
        </p:nvPicPr>
        <p:blipFill>
          <a:blip r:embed="rId6"/>
          <a:stretch>
            <a:fillRect/>
          </a:stretch>
        </p:blipFill>
        <p:spPr>
          <a:xfrm>
            <a:off x="7666153" y="1831739"/>
            <a:ext cx="3140308" cy="2520000"/>
          </a:xfrm>
          <a:prstGeom prst="rect">
            <a:avLst/>
          </a:prstGeom>
        </p:spPr>
      </p:pic>
    </p:spTree>
    <p:extLst>
      <p:ext uri="{BB962C8B-B14F-4D97-AF65-F5344CB8AC3E}">
        <p14:creationId xmlns:p14="http://schemas.microsoft.com/office/powerpoint/2010/main" val="3666436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304800"/>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3" y="685800"/>
            <a:ext cx="7392988"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lgn="just">
              <a:buNone/>
            </a:pPr>
            <a:r>
              <a:rPr lang="en-US" b="1" dirty="0"/>
              <a:t>Assessment 4</a:t>
            </a:r>
            <a:r>
              <a:rPr lang="en-US" dirty="0"/>
              <a:t>. Design an MZI for filtering at a specific wavelength. Calculate and adjust the arm lengths to configure the MZI to have a maximum transmission at 1550 nm.</a:t>
            </a:r>
          </a:p>
          <a:p>
            <a:pPr algn="just"/>
            <a:endParaRPr lang="en-US" sz="2000" kern="0" dirty="0">
              <a:solidFill>
                <a:sysClr val="windowText" lastClr="000000"/>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FDE3A197-9508-F9F1-1FEB-FF883D78C151}"/>
                  </a:ext>
                </a:extLst>
              </p:cNvPr>
              <p:cNvSpPr txBox="1"/>
              <p:nvPr/>
            </p:nvSpPr>
            <p:spPr>
              <a:xfrm>
                <a:off x="608012" y="1623666"/>
                <a:ext cx="7010559" cy="399211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We want one of the outputs to have the strongest constructive interference at a specific wavelength. Therefore, the phase difference must satisfy</a:t>
                </a:r>
                <a:endParaRPr lang="es-E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s-ES" sz="1200" i="1" dirty="0" smtClean="0">
                          <a:latin typeface="Cambria Math" panose="02040503050406030204" pitchFamily="18" charset="0"/>
                          <a:ea typeface="Cambria Math" panose="02040503050406030204" pitchFamily="18" charset="0"/>
                          <a:cs typeface="Arial" panose="020B0604020202020204" pitchFamily="34" charset="0"/>
                        </a:rPr>
                        <m:t>∆∅</m:t>
                      </m:r>
                      <m:r>
                        <m:rPr>
                          <m:nor/>
                        </m:rPr>
                        <a:rPr lang="es-ES" sz="1200" b="0" i="0" dirty="0" smtClean="0">
                          <a:latin typeface="Cambria Math" panose="02040503050406030204" pitchFamily="18" charset="0"/>
                          <a:ea typeface="Cambria Math" panose="02040503050406030204" pitchFamily="18" charset="0"/>
                          <a:cs typeface="Arial" panose="020B0604020202020204" pitchFamily="34" charset="0"/>
                        </a:rPr>
                        <m:t>=2</m:t>
                      </m:r>
                      <m:r>
                        <m:rPr>
                          <m:sty m:val="p"/>
                        </m:rPr>
                        <a:rPr lang="el-GR" sz="1200" b="0" i="1" dirty="0" smtClean="0">
                          <a:latin typeface="Cambria Math" panose="02040503050406030204" pitchFamily="18" charset="0"/>
                          <a:ea typeface="Cambria Math" panose="02040503050406030204" pitchFamily="18" charset="0"/>
                          <a:cs typeface="Arial" panose="020B0604020202020204" pitchFamily="34" charset="0"/>
                        </a:rPr>
                        <m:t>π</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𝑚</m:t>
                      </m:r>
                    </m:oMath>
                  </m:oMathPara>
                </a14:m>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Considering that the phase is given by</a:t>
                </a:r>
                <a:endParaRPr lang="es-ES" sz="1200" dirty="0">
                  <a:latin typeface="Arial" panose="020B0604020202020204" pitchFamily="34"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s-ES" sz="1200" i="1" dirty="0">
                          <a:latin typeface="Cambria Math" panose="02040503050406030204" pitchFamily="18" charset="0"/>
                          <a:ea typeface="Cambria Math" panose="02040503050406030204" pitchFamily="18" charset="0"/>
                          <a:cs typeface="Arial" panose="020B0604020202020204" pitchFamily="34" charset="0"/>
                        </a:rPr>
                        <m:t>∆∅</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𝛽</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f>
                        <m:fPr>
                          <m:ctrlPr>
                            <a:rPr lang="es-ES" sz="1200" b="0" i="1" dirty="0" smtClean="0">
                              <a:latin typeface="Cambria Math" panose="02040503050406030204" pitchFamily="18" charset="0"/>
                              <a:ea typeface="Cambria Math" panose="02040503050406030204" pitchFamily="18" charset="0"/>
                              <a:cs typeface="Arial" panose="020B0604020202020204" pitchFamily="34" charset="0"/>
                            </a:rPr>
                          </m:ctrlPr>
                        </m:fPr>
                        <m:num>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𝐿</m:t>
                          </m:r>
                        </m:num>
                        <m:den>
                          <m:r>
                            <a:rPr lang="es-ES" sz="1200" b="0" i="1" dirty="0" smtClean="0">
                              <a:latin typeface="Cambria Math" panose="02040503050406030204" pitchFamily="18" charset="0"/>
                              <a:ea typeface="Cambria Math" panose="02040503050406030204" pitchFamily="18" charset="0"/>
                              <a:cs typeface="Arial" panose="020B0604020202020204" pitchFamily="34" charset="0"/>
                            </a:rPr>
                            <m:t>2</m:t>
                          </m:r>
                        </m:den>
                      </m:f>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𝜋</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sSub>
                        <m:sSubPr>
                          <m:ctrlPr>
                            <a:rPr lang="es-ES" sz="1200" b="0" i="1" dirty="0" smtClean="0">
                              <a:latin typeface="Cambria Math" panose="02040503050406030204" pitchFamily="18" charset="0"/>
                              <a:ea typeface="Cambria Math" panose="02040503050406030204" pitchFamily="18" charset="0"/>
                              <a:cs typeface="Arial" panose="020B0604020202020204" pitchFamily="34" charset="0"/>
                            </a:rPr>
                          </m:ctrlPr>
                        </m:sSubPr>
                        <m:e>
                          <m:r>
                            <a:rPr lang="es-ES" sz="1200" b="0" i="1" dirty="0" smtClean="0">
                              <a:latin typeface="Cambria Math" panose="02040503050406030204" pitchFamily="18" charset="0"/>
                              <a:ea typeface="Cambria Math" panose="02040503050406030204" pitchFamily="18" charset="0"/>
                              <a:cs typeface="Arial" panose="020B0604020202020204" pitchFamily="34" charset="0"/>
                            </a:rPr>
                            <m:t>𝑛</m:t>
                          </m:r>
                        </m:e>
                        <m:sub>
                          <m:r>
                            <a:rPr lang="es-ES" sz="1200" b="0" i="1" dirty="0" smtClean="0">
                              <a:latin typeface="Cambria Math" panose="02040503050406030204" pitchFamily="18" charset="0"/>
                              <a:ea typeface="Cambria Math" panose="02040503050406030204" pitchFamily="18" charset="0"/>
                              <a:cs typeface="Arial" panose="020B0604020202020204" pitchFamily="34" charset="0"/>
                            </a:rPr>
                            <m:t>𝑒𝑓𝑓</m:t>
                          </m:r>
                        </m:sub>
                      </m:sSub>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f>
                        <m:fPr>
                          <m:ctrlPr>
                            <a:rPr lang="es-ES" sz="1200" b="0" i="1" dirty="0" smtClean="0">
                              <a:latin typeface="Cambria Math" panose="02040503050406030204" pitchFamily="18" charset="0"/>
                              <a:ea typeface="Cambria Math" panose="02040503050406030204" pitchFamily="18" charset="0"/>
                              <a:cs typeface="Arial" panose="020B0604020202020204" pitchFamily="34" charset="0"/>
                            </a:rPr>
                          </m:ctrlPr>
                        </m:fPr>
                        <m:num>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𝐿</m:t>
                          </m:r>
                        </m:num>
                        <m:den>
                          <m:r>
                            <a:rPr lang="es-ES" sz="1200" b="0" i="1" dirty="0" smtClean="0">
                              <a:latin typeface="Cambria Math" panose="02040503050406030204" pitchFamily="18" charset="0"/>
                              <a:ea typeface="Cambria Math" panose="02040503050406030204" pitchFamily="18" charset="0"/>
                              <a:cs typeface="Arial" panose="020B0604020202020204" pitchFamily="34" charset="0"/>
                            </a:rPr>
                            <m:t>𝜆</m:t>
                          </m:r>
                        </m:den>
                      </m:f>
                    </m:oMath>
                  </m:oMathPara>
                </a14:m>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Equating both expressions:</a:t>
                </a:r>
                <a:endParaRPr lang="es-ES" sz="1200" i="1" dirty="0">
                  <a:latin typeface="Cambria Math" panose="02040503050406030204" pitchFamily="18" charset="0"/>
                  <a:ea typeface="Cambria Math" panose="02040503050406030204" pitchFamily="18" charset="0"/>
                  <a:cs typeface="Arial" panose="020B0604020202020204" pitchFamily="34" charset="0"/>
                </a:endParaRPr>
              </a:p>
              <a:p>
                <a:pPr algn="just"/>
                <a14:m>
                  <m:oMathPara xmlns:m="http://schemas.openxmlformats.org/officeDocument/2006/math">
                    <m:oMathParaPr>
                      <m:jc m:val="centerGroup"/>
                    </m:oMathParaPr>
                    <m:oMath xmlns:m="http://schemas.openxmlformats.org/officeDocument/2006/math">
                      <m:r>
                        <a:rPr lang="es-ES" sz="1200" i="1" dirty="0">
                          <a:latin typeface="Cambria Math" panose="02040503050406030204" pitchFamily="18" charset="0"/>
                          <a:ea typeface="Cambria Math" panose="02040503050406030204" pitchFamily="18" charset="0"/>
                          <a:cs typeface="Arial" panose="020B0604020202020204" pitchFamily="34" charset="0"/>
                        </a:rPr>
                        <m:t>∆∅</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r>
                        <a:rPr lang="es-ES" sz="1200" i="1" dirty="0">
                          <a:latin typeface="Cambria Math" panose="02040503050406030204" pitchFamily="18" charset="0"/>
                          <a:ea typeface="Cambria Math" panose="02040503050406030204" pitchFamily="18" charset="0"/>
                          <a:cs typeface="Arial" panose="020B0604020202020204" pitchFamily="34" charset="0"/>
                        </a:rPr>
                        <m:t>𝜋</m:t>
                      </m:r>
                      <m:r>
                        <a:rPr lang="es-ES" sz="1200" i="1" dirty="0">
                          <a:latin typeface="Cambria Math" panose="02040503050406030204" pitchFamily="18" charset="0"/>
                          <a:ea typeface="Cambria Math" panose="02040503050406030204" pitchFamily="18" charset="0"/>
                          <a:cs typeface="Arial" panose="020B0604020202020204" pitchFamily="34" charset="0"/>
                        </a:rPr>
                        <m:t>∗</m:t>
                      </m:r>
                      <m:sSub>
                        <m:sSubPr>
                          <m:ctrlPr>
                            <a:rPr lang="es-ES" sz="1200" i="1" dirty="0">
                              <a:latin typeface="Cambria Math" panose="02040503050406030204" pitchFamily="18" charset="0"/>
                              <a:ea typeface="Cambria Math" panose="02040503050406030204" pitchFamily="18" charset="0"/>
                              <a:cs typeface="Arial" panose="020B0604020202020204" pitchFamily="34" charset="0"/>
                            </a:rPr>
                          </m:ctrlPr>
                        </m:sSubPr>
                        <m:e>
                          <m:r>
                            <a:rPr lang="es-ES" sz="1200" i="1" dirty="0">
                              <a:latin typeface="Cambria Math" panose="02040503050406030204" pitchFamily="18" charset="0"/>
                              <a:ea typeface="Cambria Math" panose="02040503050406030204" pitchFamily="18" charset="0"/>
                              <a:cs typeface="Arial" panose="020B0604020202020204" pitchFamily="34" charset="0"/>
                            </a:rPr>
                            <m:t>𝑛</m:t>
                          </m:r>
                        </m:e>
                        <m:sub>
                          <m:r>
                            <a:rPr lang="es-ES" sz="1200" i="1" dirty="0">
                              <a:latin typeface="Cambria Math" panose="02040503050406030204" pitchFamily="18" charset="0"/>
                              <a:ea typeface="Cambria Math" panose="02040503050406030204" pitchFamily="18" charset="0"/>
                              <a:cs typeface="Arial" panose="020B0604020202020204" pitchFamily="34" charset="0"/>
                            </a:rPr>
                            <m:t>𝑒𝑓𝑓</m:t>
                          </m:r>
                        </m:sub>
                      </m:sSub>
                      <m:r>
                        <a:rPr lang="es-ES" sz="1200" i="1" dirty="0">
                          <a:latin typeface="Cambria Math" panose="02040503050406030204" pitchFamily="18" charset="0"/>
                          <a:ea typeface="Cambria Math" panose="02040503050406030204" pitchFamily="18" charset="0"/>
                          <a:cs typeface="Arial" panose="020B0604020202020204" pitchFamily="34" charset="0"/>
                        </a:rPr>
                        <m:t>∗</m:t>
                      </m:r>
                      <m:f>
                        <m:fPr>
                          <m:ctrlPr>
                            <a:rPr lang="es-ES" sz="1200" i="1" dirty="0">
                              <a:latin typeface="Cambria Math" panose="02040503050406030204" pitchFamily="18" charset="0"/>
                              <a:ea typeface="Cambria Math" panose="02040503050406030204" pitchFamily="18" charset="0"/>
                              <a:cs typeface="Arial" panose="020B0604020202020204" pitchFamily="34" charset="0"/>
                            </a:rPr>
                          </m:ctrlPr>
                        </m:fPr>
                        <m:num>
                          <m:r>
                            <a:rPr lang="es-ES" sz="1200" i="1" dirty="0">
                              <a:latin typeface="Cambria Math" panose="02040503050406030204" pitchFamily="18" charset="0"/>
                              <a:ea typeface="Cambria Math" panose="02040503050406030204" pitchFamily="18" charset="0"/>
                              <a:cs typeface="Arial" panose="020B0604020202020204" pitchFamily="34" charset="0"/>
                            </a:rPr>
                            <m:t>∆</m:t>
                          </m:r>
                          <m:r>
                            <a:rPr lang="es-ES" sz="1200" i="1" dirty="0">
                              <a:latin typeface="Cambria Math" panose="02040503050406030204" pitchFamily="18" charset="0"/>
                              <a:ea typeface="Cambria Math" panose="02040503050406030204" pitchFamily="18" charset="0"/>
                              <a:cs typeface="Arial" panose="020B0604020202020204" pitchFamily="34" charset="0"/>
                            </a:rPr>
                            <m:t>𝐿</m:t>
                          </m:r>
                        </m:num>
                        <m:den>
                          <m:r>
                            <a:rPr lang="es-ES" sz="1200" i="1" dirty="0">
                              <a:latin typeface="Cambria Math" panose="02040503050406030204" pitchFamily="18" charset="0"/>
                              <a:ea typeface="Cambria Math" panose="02040503050406030204" pitchFamily="18" charset="0"/>
                              <a:cs typeface="Arial" panose="020B0604020202020204" pitchFamily="34" charset="0"/>
                            </a:rPr>
                            <m:t>𝜆</m:t>
                          </m:r>
                        </m:den>
                      </m:f>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r>
                        <m:rPr>
                          <m:nor/>
                        </m:rPr>
                        <a:rPr lang="es-ES" sz="1200" dirty="0">
                          <a:latin typeface="Cambria Math" panose="02040503050406030204" pitchFamily="18" charset="0"/>
                          <a:ea typeface="Cambria Math" panose="02040503050406030204" pitchFamily="18" charset="0"/>
                          <a:cs typeface="Arial" panose="020B0604020202020204" pitchFamily="34" charset="0"/>
                        </a:rPr>
                        <m:t>2</m:t>
                      </m:r>
                      <m:r>
                        <m:rPr>
                          <m:sty m:val="p"/>
                        </m:rPr>
                        <a:rPr lang="el-GR" sz="1200" i="1" dirty="0">
                          <a:latin typeface="Cambria Math" panose="02040503050406030204" pitchFamily="18" charset="0"/>
                          <a:ea typeface="Cambria Math" panose="02040503050406030204" pitchFamily="18" charset="0"/>
                          <a:cs typeface="Arial" panose="020B0604020202020204" pitchFamily="34" charset="0"/>
                        </a:rPr>
                        <m:t>π</m:t>
                      </m:r>
                      <m:r>
                        <a:rPr lang="es-ES" sz="1200" i="1" dirty="0">
                          <a:latin typeface="Cambria Math" panose="02040503050406030204" pitchFamily="18" charset="0"/>
                          <a:ea typeface="Cambria Math" panose="02040503050406030204" pitchFamily="18" charset="0"/>
                          <a:cs typeface="Arial" panose="020B0604020202020204" pitchFamily="34" charset="0"/>
                        </a:rPr>
                        <m:t>𝑚</m:t>
                      </m:r>
                    </m:oMath>
                  </m:oMathPara>
                </a14:m>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Solving for the difference between the arms:</a:t>
                </a:r>
              </a:p>
              <a:p>
                <a:pPr algn="just"/>
                <a14:m>
                  <m:oMathPara xmlns:m="http://schemas.openxmlformats.org/officeDocument/2006/math">
                    <m:oMathParaPr>
                      <m:jc m:val="centerGroup"/>
                    </m:oMathParaPr>
                    <m:oMath xmlns:m="http://schemas.openxmlformats.org/officeDocument/2006/math">
                      <m:r>
                        <a:rPr lang="es-ES" sz="1200" i="1" dirty="0">
                          <a:latin typeface="Cambria Math" panose="02040503050406030204" pitchFamily="18" charset="0"/>
                          <a:ea typeface="Cambria Math" panose="02040503050406030204" pitchFamily="18" charset="0"/>
                          <a:cs typeface="Arial" panose="020B0604020202020204" pitchFamily="34" charset="0"/>
                        </a:rPr>
                        <m:t>∆</m:t>
                      </m:r>
                      <m:r>
                        <a:rPr lang="es-ES" sz="1200" i="1" dirty="0">
                          <a:latin typeface="Cambria Math" panose="02040503050406030204" pitchFamily="18" charset="0"/>
                          <a:ea typeface="Cambria Math" panose="02040503050406030204" pitchFamily="18" charset="0"/>
                          <a:cs typeface="Arial" panose="020B0604020202020204" pitchFamily="34" charset="0"/>
                        </a:rPr>
                        <m:t>𝐿</m:t>
                      </m:r>
                      <m:r>
                        <a:rPr lang="es-ES" sz="1200" i="1" dirty="0">
                          <a:latin typeface="Cambria Math" panose="02040503050406030204" pitchFamily="18" charset="0"/>
                          <a:ea typeface="Cambria Math" panose="02040503050406030204" pitchFamily="18" charset="0"/>
                          <a:cs typeface="Arial" panose="020B0604020202020204" pitchFamily="34" charset="0"/>
                        </a:rPr>
                        <m:t>=</m:t>
                      </m:r>
                      <m:f>
                        <m:fPr>
                          <m:ctrlPr>
                            <a:rPr lang="es-ES" sz="1200" b="0" i="1" dirty="0" smtClean="0">
                              <a:latin typeface="Cambria Math" panose="02040503050406030204" pitchFamily="18" charset="0"/>
                              <a:ea typeface="Cambria Math" panose="02040503050406030204" pitchFamily="18" charset="0"/>
                              <a:cs typeface="Arial" panose="020B0604020202020204" pitchFamily="34" charset="0"/>
                            </a:rPr>
                          </m:ctrlPr>
                        </m:fPr>
                        <m:num>
                          <m:r>
                            <m:rPr>
                              <m:nor/>
                            </m:rPr>
                            <a:rPr lang="es-ES" sz="1200" dirty="0">
                              <a:latin typeface="Cambria Math" panose="02040503050406030204" pitchFamily="18" charset="0"/>
                              <a:ea typeface="Cambria Math" panose="02040503050406030204" pitchFamily="18" charset="0"/>
                              <a:cs typeface="Arial" panose="020B0604020202020204" pitchFamily="34" charset="0"/>
                            </a:rPr>
                            <m:t>2</m:t>
                          </m:r>
                          <m:r>
                            <m:rPr>
                              <m:sty m:val="p"/>
                            </m:rPr>
                            <a:rPr lang="el-GR" sz="1200" i="1" dirty="0">
                              <a:latin typeface="Cambria Math" panose="02040503050406030204" pitchFamily="18" charset="0"/>
                              <a:ea typeface="Cambria Math" panose="02040503050406030204" pitchFamily="18" charset="0"/>
                              <a:cs typeface="Arial" panose="020B0604020202020204" pitchFamily="34" charset="0"/>
                            </a:rPr>
                            <m:t>π</m:t>
                          </m:r>
                          <m:r>
                            <a:rPr lang="es-ES" sz="1200" i="1" dirty="0">
                              <a:latin typeface="Cambria Math" panose="02040503050406030204" pitchFamily="18" charset="0"/>
                              <a:ea typeface="Cambria Math" panose="02040503050406030204" pitchFamily="18" charset="0"/>
                              <a:cs typeface="Arial" panose="020B0604020202020204" pitchFamily="34" charset="0"/>
                            </a:rPr>
                            <m:t>𝑚</m:t>
                          </m:r>
                          <m:r>
                            <a:rPr lang="es-ES" sz="1200" i="1" dirty="0">
                              <a:latin typeface="Cambria Math" panose="02040503050406030204" pitchFamily="18" charset="0"/>
                              <a:ea typeface="Cambria Math" panose="02040503050406030204" pitchFamily="18" charset="0"/>
                              <a:cs typeface="Arial" panose="020B0604020202020204" pitchFamily="34" charset="0"/>
                            </a:rPr>
                            <m:t>𝜆</m:t>
                          </m:r>
                        </m:num>
                        <m:den>
                          <m:r>
                            <a:rPr lang="es-ES" sz="1200" i="1" dirty="0">
                              <a:latin typeface="Cambria Math" panose="02040503050406030204" pitchFamily="18" charset="0"/>
                              <a:ea typeface="Cambria Math" panose="02040503050406030204" pitchFamily="18" charset="0"/>
                              <a:cs typeface="Arial" panose="020B0604020202020204" pitchFamily="34" charset="0"/>
                            </a:rPr>
                            <m:t>𝜋</m:t>
                          </m:r>
                          <m:sSub>
                            <m:sSubPr>
                              <m:ctrlPr>
                                <a:rPr lang="es-ES" sz="1200" i="1" dirty="0">
                                  <a:latin typeface="Cambria Math" panose="02040503050406030204" pitchFamily="18" charset="0"/>
                                  <a:ea typeface="Cambria Math" panose="02040503050406030204" pitchFamily="18" charset="0"/>
                                  <a:cs typeface="Arial" panose="020B0604020202020204" pitchFamily="34" charset="0"/>
                                </a:rPr>
                              </m:ctrlPr>
                            </m:sSubPr>
                            <m:e>
                              <m:r>
                                <a:rPr lang="es-ES" sz="1200" i="1" dirty="0">
                                  <a:latin typeface="Cambria Math" panose="02040503050406030204" pitchFamily="18" charset="0"/>
                                  <a:ea typeface="Cambria Math" panose="02040503050406030204" pitchFamily="18" charset="0"/>
                                  <a:cs typeface="Arial" panose="020B0604020202020204" pitchFamily="34" charset="0"/>
                                </a:rPr>
                                <m:t>𝑛</m:t>
                              </m:r>
                            </m:e>
                            <m:sub>
                              <m:r>
                                <a:rPr lang="es-ES" sz="1200" i="1" dirty="0">
                                  <a:latin typeface="Cambria Math" panose="02040503050406030204" pitchFamily="18" charset="0"/>
                                  <a:ea typeface="Cambria Math" panose="02040503050406030204" pitchFamily="18" charset="0"/>
                                  <a:cs typeface="Arial" panose="020B0604020202020204" pitchFamily="34" charset="0"/>
                                </a:rPr>
                                <m:t>𝑒𝑓𝑓</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 </m:t>
                              </m:r>
                            </m:sub>
                          </m:sSub>
                        </m:den>
                      </m:f>
                      <m:r>
                        <a:rPr lang="es-ES" sz="1200" b="0" i="1" dirty="0" smtClean="0">
                          <a:latin typeface="Cambria Math" panose="02040503050406030204" pitchFamily="18" charset="0"/>
                          <a:ea typeface="Cambria Math" panose="02040503050406030204" pitchFamily="18" charset="0"/>
                          <a:cs typeface="Arial" panose="020B0604020202020204" pitchFamily="34" charset="0"/>
                        </a:rPr>
                        <m:t>=</m:t>
                      </m:r>
                      <m:f>
                        <m:fPr>
                          <m:ctrlPr>
                            <a:rPr lang="es-ES" sz="1200" b="0" i="1" dirty="0" smtClean="0">
                              <a:latin typeface="Cambria Math" panose="02040503050406030204" pitchFamily="18" charset="0"/>
                              <a:ea typeface="Cambria Math" panose="02040503050406030204" pitchFamily="18" charset="0"/>
                              <a:cs typeface="Arial" panose="020B0604020202020204" pitchFamily="34" charset="0"/>
                            </a:rPr>
                          </m:ctrlPr>
                        </m:fPr>
                        <m:num>
                          <m:r>
                            <a:rPr lang="es-ES" sz="1200" b="0" i="1" dirty="0" smtClean="0">
                              <a:latin typeface="Cambria Math" panose="02040503050406030204" pitchFamily="18" charset="0"/>
                              <a:ea typeface="Cambria Math" panose="02040503050406030204" pitchFamily="18" charset="0"/>
                              <a:cs typeface="Arial" panose="020B0604020202020204" pitchFamily="34" charset="0"/>
                            </a:rPr>
                            <m:t>2</m:t>
                          </m:r>
                          <m:r>
                            <a:rPr lang="es-ES" sz="1200" i="1" dirty="0">
                              <a:latin typeface="Cambria Math" panose="02040503050406030204" pitchFamily="18" charset="0"/>
                              <a:ea typeface="Cambria Math" panose="02040503050406030204" pitchFamily="18" charset="0"/>
                              <a:cs typeface="Arial" panose="020B0604020202020204" pitchFamily="34" charset="0"/>
                            </a:rPr>
                            <m:t>𝑚</m:t>
                          </m:r>
                          <m:r>
                            <a:rPr lang="es-ES" sz="1200" i="1" dirty="0">
                              <a:latin typeface="Cambria Math" panose="02040503050406030204" pitchFamily="18" charset="0"/>
                              <a:ea typeface="Cambria Math" panose="02040503050406030204" pitchFamily="18" charset="0"/>
                              <a:cs typeface="Arial" panose="020B0604020202020204" pitchFamily="34" charset="0"/>
                            </a:rPr>
                            <m:t>𝜆</m:t>
                          </m:r>
                        </m:num>
                        <m:den>
                          <m:sSub>
                            <m:sSubPr>
                              <m:ctrlPr>
                                <a:rPr lang="es-ES" sz="1200" b="0" i="1" dirty="0" smtClean="0">
                                  <a:latin typeface="Cambria Math" panose="02040503050406030204" pitchFamily="18" charset="0"/>
                                  <a:ea typeface="Cambria Math" panose="02040503050406030204" pitchFamily="18" charset="0"/>
                                  <a:cs typeface="Arial" panose="020B0604020202020204" pitchFamily="34" charset="0"/>
                                </a:rPr>
                              </m:ctrlPr>
                            </m:sSubPr>
                            <m:e>
                              <m:r>
                                <a:rPr lang="es-ES" sz="1200" b="0" i="1" dirty="0" smtClean="0">
                                  <a:latin typeface="Cambria Math" panose="02040503050406030204" pitchFamily="18" charset="0"/>
                                  <a:ea typeface="Cambria Math" panose="02040503050406030204" pitchFamily="18" charset="0"/>
                                  <a:cs typeface="Arial" panose="020B0604020202020204" pitchFamily="34" charset="0"/>
                                </a:rPr>
                                <m:t>𝑛</m:t>
                              </m:r>
                            </m:e>
                            <m:sub>
                              <m:r>
                                <a:rPr lang="es-ES" sz="1200" b="0" i="1" dirty="0" smtClean="0">
                                  <a:latin typeface="Cambria Math" panose="02040503050406030204" pitchFamily="18" charset="0"/>
                                  <a:ea typeface="Cambria Math" panose="02040503050406030204" pitchFamily="18" charset="0"/>
                                  <a:cs typeface="Arial" panose="020B0604020202020204" pitchFamily="34" charset="0"/>
                                </a:rPr>
                                <m:t>𝑒𝑓𝑓</m:t>
                              </m:r>
                            </m:sub>
                          </m:sSub>
                        </m:den>
                      </m:f>
                    </m:oMath>
                  </m:oMathPara>
                </a14:m>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s-ES" sz="1200" dirty="0" err="1">
                    <a:latin typeface="Arial" panose="020B0604020202020204" pitchFamily="34" charset="0"/>
                    <a:cs typeface="Arial" panose="020B0604020202020204" pitchFamily="34" charset="0"/>
                  </a:rPr>
                  <a:t>Taking</a:t>
                </a:r>
                <a:r>
                  <a:rPr lang="es-ES" sz="1200" dirty="0">
                    <a:latin typeface="Arial" panose="020B0604020202020204" pitchFamily="34" charset="0"/>
                    <a:cs typeface="Arial" panose="020B0604020202020204" pitchFamily="34" charset="0"/>
                  </a:rPr>
                  <a:t> m=20:</a:t>
                </a:r>
              </a:p>
              <a:p>
                <a:pPr algn="just"/>
                <a14:m>
                  <m:oMathPara xmlns:m="http://schemas.openxmlformats.org/officeDocument/2006/math">
                    <m:oMathParaPr>
                      <m:jc m:val="centerGroup"/>
                    </m:oMathParaPr>
                    <m:oMath xmlns:m="http://schemas.openxmlformats.org/officeDocument/2006/math">
                      <m:r>
                        <a:rPr lang="es-ES" sz="1200" i="1" dirty="0">
                          <a:latin typeface="Cambria Math" panose="02040503050406030204" pitchFamily="18" charset="0"/>
                          <a:ea typeface="Cambria Math" panose="02040503050406030204" pitchFamily="18" charset="0"/>
                          <a:cs typeface="Arial" panose="020B0604020202020204" pitchFamily="34" charset="0"/>
                        </a:rPr>
                        <m:t>∆</m:t>
                      </m:r>
                      <m:r>
                        <a:rPr lang="es-ES" sz="1200" i="1" dirty="0">
                          <a:latin typeface="Cambria Math" panose="02040503050406030204" pitchFamily="18" charset="0"/>
                          <a:ea typeface="Cambria Math" panose="02040503050406030204" pitchFamily="18" charset="0"/>
                          <a:cs typeface="Arial" panose="020B0604020202020204" pitchFamily="34" charset="0"/>
                        </a:rPr>
                        <m:t>𝐿</m:t>
                      </m:r>
                      <m:r>
                        <a:rPr lang="es-ES" sz="1200" i="1" dirty="0">
                          <a:latin typeface="Cambria Math" panose="02040503050406030204" pitchFamily="18" charset="0"/>
                          <a:ea typeface="Cambria Math" panose="02040503050406030204" pitchFamily="18" charset="0"/>
                          <a:cs typeface="Arial" panose="020B0604020202020204" pitchFamily="34" charset="0"/>
                        </a:rPr>
                        <m:t>=</m:t>
                      </m:r>
                      <m:f>
                        <m:fPr>
                          <m:ctrlPr>
                            <a:rPr lang="es-ES" sz="1200" i="1" dirty="0">
                              <a:latin typeface="Cambria Math" panose="02040503050406030204" pitchFamily="18" charset="0"/>
                              <a:ea typeface="Cambria Math" panose="02040503050406030204" pitchFamily="18" charset="0"/>
                              <a:cs typeface="Arial" panose="020B0604020202020204" pitchFamily="34" charset="0"/>
                            </a:rPr>
                          </m:ctrlPr>
                        </m:fPr>
                        <m:num>
                          <m:r>
                            <a:rPr lang="es-ES" sz="1200" i="1" dirty="0">
                              <a:latin typeface="Cambria Math" panose="02040503050406030204" pitchFamily="18" charset="0"/>
                              <a:ea typeface="Cambria Math" panose="02040503050406030204" pitchFamily="18" charset="0"/>
                              <a:cs typeface="Arial" panose="020B0604020202020204" pitchFamily="34" charset="0"/>
                            </a:rPr>
                            <m:t>2</m:t>
                          </m:r>
                          <m:r>
                            <a:rPr lang="es-ES" sz="1200" b="0" i="1" dirty="0" smtClean="0">
                              <a:latin typeface="Cambria Math" panose="02040503050406030204" pitchFamily="18" charset="0"/>
                              <a:ea typeface="Cambria Math" panose="02040503050406030204" pitchFamily="18" charset="0"/>
                              <a:cs typeface="Arial" panose="020B0604020202020204" pitchFamily="34" charset="0"/>
                            </a:rPr>
                            <m:t>0</m:t>
                          </m:r>
                          <m:r>
                            <a:rPr lang="es-ES" sz="1200" i="1" dirty="0">
                              <a:latin typeface="Cambria Math" panose="02040503050406030204" pitchFamily="18" charset="0"/>
                              <a:ea typeface="Cambria Math" panose="02040503050406030204" pitchFamily="18" charset="0"/>
                              <a:cs typeface="Arial" panose="020B0604020202020204" pitchFamily="34" charset="0"/>
                            </a:rPr>
                            <m:t>𝜆</m:t>
                          </m:r>
                        </m:num>
                        <m:den>
                          <m:sSub>
                            <m:sSubPr>
                              <m:ctrlPr>
                                <a:rPr lang="es-ES" sz="1200" i="1" dirty="0">
                                  <a:latin typeface="Cambria Math" panose="02040503050406030204" pitchFamily="18" charset="0"/>
                                  <a:ea typeface="Cambria Math" panose="02040503050406030204" pitchFamily="18" charset="0"/>
                                  <a:cs typeface="Arial" panose="020B0604020202020204" pitchFamily="34" charset="0"/>
                                </a:rPr>
                              </m:ctrlPr>
                            </m:sSubPr>
                            <m:e>
                              <m:r>
                                <a:rPr lang="es-ES" sz="1200" i="1" dirty="0">
                                  <a:latin typeface="Cambria Math" panose="02040503050406030204" pitchFamily="18" charset="0"/>
                                  <a:ea typeface="Cambria Math" panose="02040503050406030204" pitchFamily="18" charset="0"/>
                                  <a:cs typeface="Arial" panose="020B0604020202020204" pitchFamily="34" charset="0"/>
                                </a:rPr>
                                <m:t>𝑛</m:t>
                              </m:r>
                            </m:e>
                            <m:sub>
                              <m:r>
                                <a:rPr lang="es-ES" sz="1200" i="1" dirty="0">
                                  <a:latin typeface="Cambria Math" panose="02040503050406030204" pitchFamily="18" charset="0"/>
                                  <a:ea typeface="Cambria Math" panose="02040503050406030204" pitchFamily="18" charset="0"/>
                                  <a:cs typeface="Arial" panose="020B0604020202020204" pitchFamily="34" charset="0"/>
                                </a:rPr>
                                <m:t>𝑒𝑓𝑓</m:t>
                              </m:r>
                            </m:sub>
                          </m:sSub>
                        </m:den>
                      </m:f>
                    </m:oMath>
                  </m:oMathPara>
                </a14:m>
                <a:endParaRPr lang="es-E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the code, the value of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at 1550 nm is obtained, and 𝜆 =1550nm is also used. From this, the corresponding plots are generated, where we observe that at 1550 nm the magnitude in logarithmic scale reaches approximately −300 </a:t>
                </a:r>
                <a:r>
                  <a:rPr lang="en-US" sz="1200" dirty="0" err="1">
                    <a:latin typeface="Arial" panose="020B0604020202020204" pitchFamily="34" charset="0"/>
                    <a:cs typeface="Arial" panose="020B0604020202020204" pitchFamily="34" charset="0"/>
                  </a:rPr>
                  <a:t>dB.</a:t>
                </a:r>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FDE3A197-9508-F9F1-1FEB-FF883D78C151}"/>
                  </a:ext>
                </a:extLst>
              </p:cNvPr>
              <p:cNvSpPr txBox="1">
                <a:spLocks noRot="1" noChangeAspect="1" noMove="1" noResize="1" noEditPoints="1" noAdjustHandles="1" noChangeArrowheads="1" noChangeShapeType="1" noTextEdit="1"/>
              </p:cNvSpPr>
              <p:nvPr/>
            </p:nvSpPr>
            <p:spPr>
              <a:xfrm>
                <a:off x="608012" y="1623666"/>
                <a:ext cx="7010559" cy="3992118"/>
              </a:xfrm>
              <a:prstGeom prst="rect">
                <a:avLst/>
              </a:prstGeom>
              <a:blipFill>
                <a:blip r:embed="rId5"/>
                <a:stretch>
                  <a:fillRect/>
                </a:stretch>
              </a:blipFill>
              <a:ln w="28575">
                <a:solidFill>
                  <a:srgbClr val="E0700D"/>
                </a:solidFill>
              </a:ln>
            </p:spPr>
            <p:txBody>
              <a:bodyPr/>
              <a:lstStyle/>
              <a:p>
                <a:r>
                  <a:rPr lang="es-CO">
                    <a:noFill/>
                  </a:rPr>
                  <a:t> </a:t>
                </a:r>
              </a:p>
            </p:txBody>
          </p:sp>
        </mc:Fallback>
      </mc:AlternateContent>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5" name="Imagen 4">
            <a:extLst>
              <a:ext uri="{FF2B5EF4-FFF2-40B4-BE49-F238E27FC236}">
                <a16:creationId xmlns:a16="http://schemas.microsoft.com/office/drawing/2014/main" id="{DFB23D65-11D2-E477-D1ED-308D0BBCFB0F}"/>
              </a:ext>
            </a:extLst>
          </p:cNvPr>
          <p:cNvPicPr>
            <a:picLocks noChangeAspect="1"/>
          </p:cNvPicPr>
          <p:nvPr/>
        </p:nvPicPr>
        <p:blipFill>
          <a:blip r:embed="rId6"/>
          <a:stretch>
            <a:fillRect/>
          </a:stretch>
        </p:blipFill>
        <p:spPr>
          <a:xfrm>
            <a:off x="8175514" y="1290000"/>
            <a:ext cx="3140308" cy="2520000"/>
          </a:xfrm>
          <a:prstGeom prst="rect">
            <a:avLst/>
          </a:prstGeom>
        </p:spPr>
      </p:pic>
      <p:pic>
        <p:nvPicPr>
          <p:cNvPr id="8" name="Imagen 7">
            <a:extLst>
              <a:ext uri="{FF2B5EF4-FFF2-40B4-BE49-F238E27FC236}">
                <a16:creationId xmlns:a16="http://schemas.microsoft.com/office/drawing/2014/main" id="{3E49DFA5-129A-625C-3599-6B75236A43E9}"/>
              </a:ext>
            </a:extLst>
          </p:cNvPr>
          <p:cNvPicPr>
            <a:picLocks noChangeAspect="1"/>
          </p:cNvPicPr>
          <p:nvPr/>
        </p:nvPicPr>
        <p:blipFill>
          <a:blip r:embed="rId7"/>
          <a:stretch>
            <a:fillRect/>
          </a:stretch>
        </p:blipFill>
        <p:spPr>
          <a:xfrm>
            <a:off x="8124877" y="3880800"/>
            <a:ext cx="3228923" cy="2520000"/>
          </a:xfrm>
          <a:prstGeom prst="rect">
            <a:avLst/>
          </a:prstGeom>
        </p:spPr>
      </p:pic>
    </p:spTree>
    <p:extLst>
      <p:ext uri="{BB962C8B-B14F-4D97-AF65-F5344CB8AC3E}">
        <p14:creationId xmlns:p14="http://schemas.microsoft.com/office/powerpoint/2010/main" val="3660438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0BA23-35B2-D9E5-7980-513FD62608D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538AF2-BF1E-EF54-D743-66F1B79EA251}"/>
              </a:ext>
            </a:extLst>
          </p:cNvPr>
          <p:cNvSpPr txBox="1">
            <a:spLocks noGrp="1"/>
          </p:cNvSpPr>
          <p:nvPr>
            <p:ph type="title"/>
          </p:nvPr>
        </p:nvSpPr>
        <p:spPr>
          <a:xfrm>
            <a:off x="502195" y="-6887"/>
            <a:ext cx="10994410" cy="443711"/>
          </a:xfrm>
          <a:prstGeom prst="rect">
            <a:avLst/>
          </a:prstGeom>
        </p:spPr>
        <p:txBody>
          <a:bodyPr vert="horz" wrap="square" lIns="0" tIns="12700" rIns="0" bIns="0" rtlCol="0">
            <a:spAutoFit/>
          </a:bodyPr>
          <a:lstStyle/>
          <a:p>
            <a:pPr marL="12700">
              <a:lnSpc>
                <a:spcPct val="100000"/>
              </a:lnSpc>
              <a:spcBef>
                <a:spcPts val="100"/>
              </a:spcBef>
            </a:pPr>
            <a:r>
              <a:rPr lang="en-US" sz="2800" dirty="0"/>
              <a:t>Extra assessments </a:t>
            </a:r>
            <a:endParaRPr lang="en-US" sz="2800" b="0" dirty="0">
              <a:latin typeface="+mj-lt"/>
              <a:cs typeface="Lucida Sans"/>
            </a:endParaRPr>
          </a:p>
        </p:txBody>
      </p:sp>
      <p:pic>
        <p:nvPicPr>
          <p:cNvPr id="83" name="Gráfico 82">
            <a:extLst>
              <a:ext uri="{FF2B5EF4-FFF2-40B4-BE49-F238E27FC236}">
                <a16:creationId xmlns:a16="http://schemas.microsoft.com/office/drawing/2014/main" id="{1A8E1F07-EF11-E47D-377F-53B82A6C75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77625" y="6356057"/>
            <a:ext cx="6409575" cy="363174"/>
          </a:xfrm>
          <a:prstGeom prst="rect">
            <a:avLst/>
          </a:prstGeom>
        </p:spPr>
      </p:pic>
      <p:sp>
        <p:nvSpPr>
          <p:cNvPr id="84" name="Marcador de número de diapositiva 83">
            <a:extLst>
              <a:ext uri="{FF2B5EF4-FFF2-40B4-BE49-F238E27FC236}">
                <a16:creationId xmlns:a16="http://schemas.microsoft.com/office/drawing/2014/main" id="{7AF9FDDA-4BE1-02EF-DE16-81440E0B18D9}"/>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4" name="Marcador de texto 2">
            <a:extLst>
              <a:ext uri="{FF2B5EF4-FFF2-40B4-BE49-F238E27FC236}">
                <a16:creationId xmlns:a16="http://schemas.microsoft.com/office/drawing/2014/main" id="{638C9B24-9961-8108-24A0-DF2DAF3E1686}"/>
              </a:ext>
            </a:extLst>
          </p:cNvPr>
          <p:cNvSpPr txBox="1">
            <a:spLocks/>
          </p:cNvSpPr>
          <p:nvPr/>
        </p:nvSpPr>
        <p:spPr>
          <a:xfrm>
            <a:off x="6606200" y="407294"/>
            <a:ext cx="4977787"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algn="just"/>
            <a:endParaRPr lang="en-US" sz="1600" kern="0" dirty="0">
              <a:solidFill>
                <a:sysClr val="windowText" lastClr="000000"/>
              </a:solidFill>
            </a:endParaRPr>
          </a:p>
        </p:txBody>
      </p:sp>
      <p:sp>
        <p:nvSpPr>
          <p:cNvPr id="2" name="CuadroTexto 1">
            <a:extLst>
              <a:ext uri="{FF2B5EF4-FFF2-40B4-BE49-F238E27FC236}">
                <a16:creationId xmlns:a16="http://schemas.microsoft.com/office/drawing/2014/main" id="{4A0FCE55-C80A-05CF-8F18-B295D9FBB56D}"/>
              </a:ext>
            </a:extLst>
          </p:cNvPr>
          <p:cNvSpPr txBox="1"/>
          <p:nvPr/>
        </p:nvSpPr>
        <p:spPr>
          <a:xfrm>
            <a:off x="6630220" y="2576053"/>
            <a:ext cx="4929745" cy="323165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In the first two cases, the length of the arms was taken as 2000 um. As we can see, the change of material modifies the effective indices, which in turn changes the FSR, since it is directly related to the variation of the refractive index.</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the first case, this corresponds to the smallest refractive index change, the second case corresponds to the largest refractive index change, and the third case represents the intermediate index change. This shows that the larger the refractive index difference, the smaller the FSR.</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the case of using </a:t>
            </a:r>
            <a:r>
              <a:rPr lang="en-US" sz="1200" dirty="0" err="1">
                <a:latin typeface="Arial" panose="020B0604020202020204" pitchFamily="34" charset="0"/>
                <a:cs typeface="Arial" panose="020B0604020202020204" pitchFamily="34" charset="0"/>
              </a:rPr>
              <a:t>SiNx</a:t>
            </a:r>
            <a:r>
              <a:rPr lang="en-US" sz="1200" dirty="0">
                <a:latin typeface="Arial" panose="020B0604020202020204" pitchFamily="34" charset="0"/>
                <a:cs typeface="Arial" panose="020B0604020202020204" pitchFamily="34" charset="0"/>
              </a:rPr>
              <a:t> with air cladding, it is possible to design a sensor, where the substance to be detected is placed in the surrounding region so that it interacts with the waveguide, thereby slightly modifying the effective index of the waveguide.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 similar situation could occur in the case of </a:t>
            </a:r>
            <a:r>
              <a:rPr lang="en-US" sz="1200" dirty="0" err="1">
                <a:latin typeface="Arial" panose="020B0604020202020204" pitchFamily="34" charset="0"/>
                <a:cs typeface="Arial" panose="020B0604020202020204" pitchFamily="34" charset="0"/>
              </a:rPr>
              <a:t>SiNx</a:t>
            </a:r>
            <a:r>
              <a:rPr lang="en-US" sz="1200" dirty="0">
                <a:latin typeface="Arial" panose="020B0604020202020204" pitchFamily="34" charset="0"/>
                <a:cs typeface="Arial" panose="020B0604020202020204" pitchFamily="34" charset="0"/>
              </a:rPr>
              <a:t> with water cladding.</a:t>
            </a:r>
          </a:p>
        </p:txBody>
      </p:sp>
      <p:sp>
        <p:nvSpPr>
          <p:cNvPr id="6" name="Marcador de pie de página 2">
            <a:extLst>
              <a:ext uri="{FF2B5EF4-FFF2-40B4-BE49-F238E27FC236}">
                <a16:creationId xmlns:a16="http://schemas.microsoft.com/office/drawing/2014/main" id="{DEBE76A6-1AE3-A7C5-EC5E-45F3C5560F86}"/>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5" name="Imagen 4">
            <a:extLst>
              <a:ext uri="{FF2B5EF4-FFF2-40B4-BE49-F238E27FC236}">
                <a16:creationId xmlns:a16="http://schemas.microsoft.com/office/drawing/2014/main" id="{41E13E7D-0ECF-954C-1644-4ECF4057A0D7}"/>
              </a:ext>
            </a:extLst>
          </p:cNvPr>
          <p:cNvPicPr>
            <a:picLocks noChangeAspect="1"/>
          </p:cNvPicPr>
          <p:nvPr/>
        </p:nvPicPr>
        <p:blipFill>
          <a:blip r:embed="rId5"/>
          <a:stretch>
            <a:fillRect/>
          </a:stretch>
        </p:blipFill>
        <p:spPr>
          <a:xfrm>
            <a:off x="3180000" y="457200"/>
            <a:ext cx="2916000" cy="2340000"/>
          </a:xfrm>
          <a:prstGeom prst="rect">
            <a:avLst/>
          </a:prstGeom>
        </p:spPr>
      </p:pic>
      <p:sp>
        <p:nvSpPr>
          <p:cNvPr id="7" name="CuadroTexto 6">
            <a:extLst>
              <a:ext uri="{FF2B5EF4-FFF2-40B4-BE49-F238E27FC236}">
                <a16:creationId xmlns:a16="http://schemas.microsoft.com/office/drawing/2014/main" id="{F2B3601B-4753-7AC0-5831-F61335BF5B21}"/>
              </a:ext>
            </a:extLst>
          </p:cNvPr>
          <p:cNvSpPr txBox="1"/>
          <p:nvPr/>
        </p:nvSpPr>
        <p:spPr>
          <a:xfrm>
            <a:off x="3844542" y="2721000"/>
            <a:ext cx="1850058" cy="461665"/>
          </a:xfrm>
          <a:prstGeom prst="rect">
            <a:avLst/>
          </a:prstGeom>
          <a:noFill/>
        </p:spPr>
        <p:txBody>
          <a:bodyPr wrap="none" rtlCol="0">
            <a:spAutoFit/>
          </a:bodyPr>
          <a:lstStyle/>
          <a:p>
            <a:pPr algn="ctr"/>
            <a:r>
              <a:rPr lang="en-US" sz="1200" b="1" i="1" dirty="0" err="1"/>
              <a:t>SiN_cladding</a:t>
            </a:r>
            <a:r>
              <a:rPr lang="en-US" sz="1200" b="1" i="1" dirty="0"/>
              <a:t> y  </a:t>
            </a:r>
            <a:r>
              <a:rPr lang="en-US" sz="1200" b="1" i="1" dirty="0" err="1"/>
              <a:t>SiN_water</a:t>
            </a:r>
            <a:endParaRPr lang="es-CO" sz="1200" b="1" i="1" dirty="0"/>
          </a:p>
          <a:p>
            <a:pPr algn="ctr"/>
            <a:r>
              <a:rPr lang="es-CO" sz="1200" dirty="0"/>
              <a:t>FSR es 0.04704705 </a:t>
            </a:r>
            <a:r>
              <a:rPr lang="es-CO" sz="1200" dirty="0" err="1"/>
              <a:t>um</a:t>
            </a:r>
            <a:endParaRPr lang="es-CO" sz="1200" dirty="0"/>
          </a:p>
        </p:txBody>
      </p:sp>
      <p:pic>
        <p:nvPicPr>
          <p:cNvPr id="9" name="Imagen 8">
            <a:extLst>
              <a:ext uri="{FF2B5EF4-FFF2-40B4-BE49-F238E27FC236}">
                <a16:creationId xmlns:a16="http://schemas.microsoft.com/office/drawing/2014/main" id="{56F65896-558C-50CE-8A2B-847F9915B07F}"/>
              </a:ext>
            </a:extLst>
          </p:cNvPr>
          <p:cNvPicPr>
            <a:picLocks noChangeAspect="1"/>
          </p:cNvPicPr>
          <p:nvPr/>
        </p:nvPicPr>
        <p:blipFill>
          <a:blip r:embed="rId6"/>
          <a:stretch>
            <a:fillRect/>
          </a:stretch>
        </p:blipFill>
        <p:spPr>
          <a:xfrm>
            <a:off x="152400" y="3283041"/>
            <a:ext cx="2916000" cy="2340000"/>
          </a:xfrm>
          <a:prstGeom prst="rect">
            <a:avLst/>
          </a:prstGeom>
        </p:spPr>
      </p:pic>
      <p:sp>
        <p:nvSpPr>
          <p:cNvPr id="10" name="CuadroTexto 9">
            <a:extLst>
              <a:ext uri="{FF2B5EF4-FFF2-40B4-BE49-F238E27FC236}">
                <a16:creationId xmlns:a16="http://schemas.microsoft.com/office/drawing/2014/main" id="{158EDBF9-E411-4DA7-A4B9-CC6F8F0E91EC}"/>
              </a:ext>
            </a:extLst>
          </p:cNvPr>
          <p:cNvSpPr txBox="1"/>
          <p:nvPr/>
        </p:nvSpPr>
        <p:spPr>
          <a:xfrm>
            <a:off x="669771" y="5533573"/>
            <a:ext cx="1890261" cy="523220"/>
          </a:xfrm>
          <a:prstGeom prst="rect">
            <a:avLst/>
          </a:prstGeom>
          <a:noFill/>
        </p:spPr>
        <p:txBody>
          <a:bodyPr wrap="none" rtlCol="0">
            <a:spAutoFit/>
          </a:bodyPr>
          <a:lstStyle/>
          <a:p>
            <a:r>
              <a:rPr lang="en-US" sz="1400" b="1" i="1" dirty="0" err="1"/>
              <a:t>SiN_cladding</a:t>
            </a:r>
            <a:r>
              <a:rPr lang="en-US" sz="1400" b="1" i="1" dirty="0"/>
              <a:t> y  </a:t>
            </a:r>
            <a:r>
              <a:rPr lang="en-US" sz="1400" b="1" i="1" dirty="0" err="1"/>
              <a:t>SiN_air</a:t>
            </a:r>
            <a:endParaRPr lang="en-US" sz="1400" b="1" i="1" dirty="0"/>
          </a:p>
          <a:p>
            <a:r>
              <a:rPr lang="es-CO" sz="1400" dirty="0"/>
              <a:t>FSR = 0.03973974 </a:t>
            </a:r>
            <a:r>
              <a:rPr lang="es-CO" sz="1400" dirty="0" err="1"/>
              <a:t>um</a:t>
            </a:r>
            <a:endParaRPr lang="es-CO" sz="1400" dirty="0"/>
          </a:p>
        </p:txBody>
      </p:sp>
      <p:sp>
        <p:nvSpPr>
          <p:cNvPr id="13" name="CuadroTexto 12">
            <a:extLst>
              <a:ext uri="{FF2B5EF4-FFF2-40B4-BE49-F238E27FC236}">
                <a16:creationId xmlns:a16="http://schemas.microsoft.com/office/drawing/2014/main" id="{272AED13-4A4A-9CEE-D453-8B196D9CBF18}"/>
              </a:ext>
            </a:extLst>
          </p:cNvPr>
          <p:cNvSpPr txBox="1"/>
          <p:nvPr/>
        </p:nvSpPr>
        <p:spPr>
          <a:xfrm>
            <a:off x="3502563" y="5522893"/>
            <a:ext cx="2496837" cy="954107"/>
          </a:xfrm>
          <a:prstGeom prst="rect">
            <a:avLst/>
          </a:prstGeom>
          <a:noFill/>
        </p:spPr>
        <p:txBody>
          <a:bodyPr wrap="none" rtlCol="0">
            <a:spAutoFit/>
          </a:bodyPr>
          <a:lstStyle/>
          <a:p>
            <a:pPr algn="ctr"/>
            <a:r>
              <a:rPr lang="en-US" sz="1400" b="1" i="1" dirty="0" err="1"/>
              <a:t>SiN_water</a:t>
            </a:r>
            <a:r>
              <a:rPr lang="en-US" sz="1400" b="1" i="1" dirty="0"/>
              <a:t> y  </a:t>
            </a:r>
            <a:r>
              <a:rPr lang="en-US" sz="1400" b="1" i="1" dirty="0" err="1"/>
              <a:t>SiN_air</a:t>
            </a:r>
            <a:endParaRPr lang="es-ES" sz="1400" b="1" i="1" dirty="0"/>
          </a:p>
          <a:p>
            <a:pPr algn="ctr"/>
            <a:r>
              <a:rPr lang="es-ES" sz="1400" dirty="0"/>
              <a:t>FSR = [0.03933934 0.01841842]</a:t>
            </a:r>
          </a:p>
          <a:p>
            <a:pPr algn="ctr"/>
            <a:r>
              <a:rPr lang="en-US" sz="1400" dirty="0"/>
              <a:t>L=8000</a:t>
            </a:r>
          </a:p>
          <a:p>
            <a:endParaRPr lang="es-CO" sz="1400" dirty="0"/>
          </a:p>
        </p:txBody>
      </p:sp>
      <p:pic>
        <p:nvPicPr>
          <p:cNvPr id="15" name="Imagen 14">
            <a:extLst>
              <a:ext uri="{FF2B5EF4-FFF2-40B4-BE49-F238E27FC236}">
                <a16:creationId xmlns:a16="http://schemas.microsoft.com/office/drawing/2014/main" id="{ACA14D7D-C237-FF93-7243-377E1C98DB93}"/>
              </a:ext>
            </a:extLst>
          </p:cNvPr>
          <p:cNvPicPr>
            <a:picLocks noChangeAspect="1"/>
          </p:cNvPicPr>
          <p:nvPr/>
        </p:nvPicPr>
        <p:blipFill>
          <a:blip r:embed="rId7"/>
          <a:stretch>
            <a:fillRect/>
          </a:stretch>
        </p:blipFill>
        <p:spPr>
          <a:xfrm>
            <a:off x="3180000" y="3283041"/>
            <a:ext cx="2916000" cy="2340000"/>
          </a:xfrm>
          <a:prstGeom prst="rect">
            <a:avLst/>
          </a:prstGeom>
        </p:spPr>
      </p:pic>
      <p:pic>
        <p:nvPicPr>
          <p:cNvPr id="20" name="Imagen 19">
            <a:extLst>
              <a:ext uri="{FF2B5EF4-FFF2-40B4-BE49-F238E27FC236}">
                <a16:creationId xmlns:a16="http://schemas.microsoft.com/office/drawing/2014/main" id="{944CDCF8-040D-D25B-9247-A9E7A8EE3300}"/>
              </a:ext>
            </a:extLst>
          </p:cNvPr>
          <p:cNvPicPr>
            <a:picLocks noChangeAspect="1"/>
          </p:cNvPicPr>
          <p:nvPr/>
        </p:nvPicPr>
        <p:blipFill>
          <a:blip r:embed="rId8"/>
          <a:stretch>
            <a:fillRect/>
          </a:stretch>
        </p:blipFill>
        <p:spPr>
          <a:xfrm>
            <a:off x="152400" y="457200"/>
            <a:ext cx="2962286" cy="2340000"/>
          </a:xfrm>
          <a:prstGeom prst="rect">
            <a:avLst/>
          </a:prstGeom>
        </p:spPr>
      </p:pic>
    </p:spTree>
    <p:extLst>
      <p:ext uri="{BB962C8B-B14F-4D97-AF65-F5344CB8AC3E}">
        <p14:creationId xmlns:p14="http://schemas.microsoft.com/office/powerpoint/2010/main" val="1141298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BA82E-CEBE-F38B-9321-13F213FB0C8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6FC06AA-E724-B66D-6384-D5DCE2D20CAA}"/>
              </a:ext>
            </a:extLst>
          </p:cNvPr>
          <p:cNvSpPr txBox="1">
            <a:spLocks noGrp="1"/>
          </p:cNvSpPr>
          <p:nvPr>
            <p:ph type="title"/>
          </p:nvPr>
        </p:nvSpPr>
        <p:spPr>
          <a:xfrm>
            <a:off x="460171" y="102418"/>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71BFD1CE-12B5-A10A-3CA6-159B2030B25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633C3D8-EC22-2418-B608-79F0CFBE1294}"/>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4" name="Marcador de texto 2">
            <a:extLst>
              <a:ext uri="{FF2B5EF4-FFF2-40B4-BE49-F238E27FC236}">
                <a16:creationId xmlns:a16="http://schemas.microsoft.com/office/drawing/2014/main" id="{40DAEC74-1052-5C21-5AB8-07A30F1DAB2E}"/>
              </a:ext>
            </a:extLst>
          </p:cNvPr>
          <p:cNvSpPr txBox="1">
            <a:spLocks/>
          </p:cNvSpPr>
          <p:nvPr/>
        </p:nvSpPr>
        <p:spPr>
          <a:xfrm>
            <a:off x="405582" y="4999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609D4F1-CF43-15F5-B5F5-F12E92F8533F}"/>
                  </a:ext>
                </a:extLst>
              </p:cNvPr>
              <p:cNvSpPr txBox="1"/>
              <p:nvPr/>
            </p:nvSpPr>
            <p:spPr>
              <a:xfrm>
                <a:off x="5913413" y="3657607"/>
                <a:ext cx="5973787"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When the interferometers are cascaded, we observe that the response changes to three maxima and three minima within the same wavelength interval. Therefore, the device can now filter three different signal bands at its outputs, meaning it can filter approximately from 1530 to 1540 nm, around 1540 to 1554 nm, and around 1554 to 1567 nm.</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Regarding the FSR, we observe that it changes from 28 nm for a single MZI to approximately 11 nm when the interferometers are cascaded.</a:t>
                </a:r>
              </a:p>
              <a:p>
                <a:pPr algn="just"/>
                <a:r>
                  <a:rPr lang="en-US" sz="1200" dirty="0">
                    <a:latin typeface="Arial" panose="020B0604020202020204" pitchFamily="34" charset="0"/>
                    <a:cs typeface="Arial" panose="020B0604020202020204" pitchFamily="34" charset="0"/>
                  </a:rPr>
                  <a:t>Finally, </a:t>
                </a:r>
                <a:r>
                  <a:rPr lang="en-US" sz="1200" dirty="0" err="1">
                    <a:latin typeface="Arial" panose="020B0604020202020204" pitchFamily="34" charset="0"/>
                    <a:cs typeface="Arial" panose="020B0604020202020204" pitchFamily="34" charset="0"/>
                  </a:rPr>
                  <a:t>i</a:t>
                </a:r>
                <a:r>
                  <a:rPr lang="en-US" sz="1200" dirty="0">
                    <a:latin typeface="Arial" panose="020B0604020202020204" pitchFamily="34" charset="0"/>
                    <a:cs typeface="Arial" panose="020B0604020202020204" pitchFamily="34" charset="0"/>
                  </a:rPr>
                  <a:t> performed a simulation to observe what happens if we use only one MZI with</a:t>
                </a:r>
                <a:r>
                  <a:rPr lang="es-ES" sz="1200" dirty="0">
                    <a:cs typeface="Arial" panose="020B0604020202020204" pitchFamily="34" charset="0"/>
                  </a:rPr>
                  <a:t> </a:t>
                </a:r>
                <a14:m>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𝐿</m:t>
                        </m:r>
                      </m:e>
                      <m:sub>
                        <m:r>
                          <a:rPr lang="es-ES" sz="1200" i="1">
                            <a:latin typeface="Cambria Math" panose="02040503050406030204" pitchFamily="18" charset="0"/>
                            <a:cs typeface="Arial" panose="020B0604020202020204" pitchFamily="34" charset="0"/>
                          </a:rPr>
                          <m:t>𝑢</m:t>
                        </m:r>
                      </m:sub>
                    </m:sSub>
                    <m:r>
                      <a:rPr lang="es-ES" sz="1200" i="1">
                        <a:latin typeface="Cambria Math" panose="02040503050406030204" pitchFamily="18" charset="0"/>
                        <a:cs typeface="Arial" panose="020B0604020202020204" pitchFamily="34" charset="0"/>
                      </a:rPr>
                      <m:t>=5</m:t>
                    </m:r>
                    <m:r>
                      <a:rPr lang="es-ES" sz="1200" b="0" i="1" smtClean="0">
                        <a:latin typeface="Cambria Math" panose="02040503050406030204" pitchFamily="18" charset="0"/>
                        <a:cs typeface="Arial" panose="020B0604020202020204" pitchFamily="34" charset="0"/>
                      </a:rPr>
                      <m:t>0</m:t>
                    </m:r>
                    <m:r>
                      <a:rPr lang="es-ES" sz="1200" i="1">
                        <a:latin typeface="Cambria Math" panose="02040503050406030204" pitchFamily="18" charset="0"/>
                        <a:cs typeface="Arial" panose="020B0604020202020204" pitchFamily="34" charset="0"/>
                      </a:rPr>
                      <m:t> </m:t>
                    </m:r>
                    <m:r>
                      <a:rPr lang="es-ES" sz="1200" i="1">
                        <a:latin typeface="Cambria Math" panose="02040503050406030204" pitchFamily="18" charset="0"/>
                        <a:ea typeface="Cambria Math" panose="02040503050406030204" pitchFamily="18" charset="0"/>
                        <a:cs typeface="Arial" panose="020B0604020202020204" pitchFamily="34" charset="0"/>
                      </a:rPr>
                      <m:t>𝜇</m:t>
                    </m:r>
                    <m:r>
                      <a:rPr lang="es-ES" sz="1200" i="1">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 and </a:t>
                </a:r>
                <a14:m>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𝐿</m:t>
                        </m:r>
                      </m:e>
                      <m:sub>
                        <m:r>
                          <a:rPr lang="es-ES" sz="1200" i="1">
                            <a:latin typeface="Cambria Math" panose="02040503050406030204" pitchFamily="18" charset="0"/>
                            <a:cs typeface="Arial" panose="020B0604020202020204" pitchFamily="34" charset="0"/>
                          </a:rPr>
                          <m:t>𝑑</m:t>
                        </m:r>
                      </m:sub>
                    </m:sSub>
                    <m:r>
                      <a:rPr lang="es-ES" sz="1200" i="1">
                        <a:latin typeface="Cambria Math" panose="02040503050406030204" pitchFamily="18" charset="0"/>
                        <a:cs typeface="Arial" panose="020B0604020202020204" pitchFamily="34" charset="0"/>
                      </a:rPr>
                      <m:t>=</m:t>
                    </m:r>
                    <m:r>
                      <a:rPr lang="es-ES" sz="1200" b="0" i="1" smtClean="0">
                        <a:latin typeface="Cambria Math" panose="02040503050406030204" pitchFamily="18" charset="0"/>
                        <a:cs typeface="Arial" panose="020B0604020202020204" pitchFamily="34" charset="0"/>
                      </a:rPr>
                      <m:t>10</m:t>
                    </m:r>
                    <m:r>
                      <a:rPr lang="es-ES" sz="1200" i="1">
                        <a:latin typeface="Cambria Math" panose="02040503050406030204" pitchFamily="18" charset="0"/>
                        <a:cs typeface="Arial" panose="020B0604020202020204" pitchFamily="34" charset="0"/>
                      </a:rPr>
                      <m:t> </m:t>
                    </m:r>
                    <m:r>
                      <a:rPr lang="es-ES" sz="1200" i="1">
                        <a:latin typeface="Cambria Math" panose="02040503050406030204" pitchFamily="18" charset="0"/>
                        <a:ea typeface="Cambria Math" panose="02040503050406030204" pitchFamily="18" charset="0"/>
                        <a:cs typeface="Arial" panose="020B0604020202020204" pitchFamily="34" charset="0"/>
                      </a:rPr>
                      <m:t>𝜇</m:t>
                    </m:r>
                    <m:r>
                      <a:rPr lang="es-ES" sz="1200" i="1">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 which corresponds to the total path length behavior of the two arms of the MZI. The result shows that we obtain a very similar response.</a:t>
                </a:r>
              </a:p>
            </p:txBody>
          </p:sp>
        </mc:Choice>
        <mc:Fallback xmlns="">
          <p:sp>
            <p:nvSpPr>
              <p:cNvPr id="2" name="CuadroTexto 1">
                <a:extLst>
                  <a:ext uri="{FF2B5EF4-FFF2-40B4-BE49-F238E27FC236}">
                    <a16:creationId xmlns:a16="http://schemas.microsoft.com/office/drawing/2014/main" id="{D609D4F1-CF43-15F5-B5F5-F12E92F8533F}"/>
                  </a:ext>
                </a:extLst>
              </p:cNvPr>
              <p:cNvSpPr txBox="1">
                <a:spLocks noRot="1" noChangeAspect="1" noMove="1" noResize="1" noEditPoints="1" noAdjustHandles="1" noChangeArrowheads="1" noChangeShapeType="1" noTextEdit="1"/>
              </p:cNvSpPr>
              <p:nvPr/>
            </p:nvSpPr>
            <p:spPr>
              <a:xfrm>
                <a:off x="5913413" y="3657607"/>
                <a:ext cx="5973787" cy="2123658"/>
              </a:xfrm>
              <a:prstGeom prst="rect">
                <a:avLst/>
              </a:prstGeom>
              <a:blipFill>
                <a:blip r:embed="rId5"/>
                <a:stretch>
                  <a:fillRect b="-283"/>
                </a:stretch>
              </a:blipFill>
              <a:ln w="28575">
                <a:solidFill>
                  <a:srgbClr val="E0700D"/>
                </a:solidFill>
              </a:ln>
            </p:spPr>
            <p:txBody>
              <a:bodyPr/>
              <a:lstStyle/>
              <a:p>
                <a:r>
                  <a:rPr lang="es-CO">
                    <a:noFill/>
                  </a:rPr>
                  <a:t> </a:t>
                </a:r>
              </a:p>
            </p:txBody>
          </p:sp>
        </mc:Fallback>
      </mc:AlternateContent>
      <p:sp>
        <p:nvSpPr>
          <p:cNvPr id="6" name="Marcador de pie de página 2">
            <a:extLst>
              <a:ext uri="{FF2B5EF4-FFF2-40B4-BE49-F238E27FC236}">
                <a16:creationId xmlns:a16="http://schemas.microsoft.com/office/drawing/2014/main" id="{1AAE88B0-5961-DE09-697B-1F68171869EE}"/>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9" name="Imagen 8">
            <a:extLst>
              <a:ext uri="{FF2B5EF4-FFF2-40B4-BE49-F238E27FC236}">
                <a16:creationId xmlns:a16="http://schemas.microsoft.com/office/drawing/2014/main" id="{77309D4D-66E0-DFBD-A961-A217F8049F99}"/>
              </a:ext>
            </a:extLst>
          </p:cNvPr>
          <p:cNvPicPr>
            <a:picLocks noChangeAspect="1"/>
          </p:cNvPicPr>
          <p:nvPr/>
        </p:nvPicPr>
        <p:blipFill>
          <a:blip r:embed="rId6"/>
          <a:stretch>
            <a:fillRect/>
          </a:stretch>
        </p:blipFill>
        <p:spPr>
          <a:xfrm>
            <a:off x="133573" y="1333686"/>
            <a:ext cx="2691692" cy="2160000"/>
          </a:xfrm>
          <a:prstGeom prst="rect">
            <a:avLst/>
          </a:prstGeom>
        </p:spPr>
      </p:pic>
      <p:pic>
        <p:nvPicPr>
          <p:cNvPr id="10" name="Imagen 9">
            <a:extLst>
              <a:ext uri="{FF2B5EF4-FFF2-40B4-BE49-F238E27FC236}">
                <a16:creationId xmlns:a16="http://schemas.microsoft.com/office/drawing/2014/main" id="{1FDDB07F-835C-42C3-F69A-610B5D4EC622}"/>
              </a:ext>
            </a:extLst>
          </p:cNvPr>
          <p:cNvPicPr>
            <a:picLocks noChangeAspect="1"/>
          </p:cNvPicPr>
          <p:nvPr/>
        </p:nvPicPr>
        <p:blipFill>
          <a:blip r:embed="rId7"/>
          <a:stretch>
            <a:fillRect/>
          </a:stretch>
        </p:blipFill>
        <p:spPr>
          <a:xfrm>
            <a:off x="95595" y="3555000"/>
            <a:ext cx="2729670" cy="2160000"/>
          </a:xfrm>
          <a:prstGeom prst="rect">
            <a:avLst/>
          </a:prstGeom>
        </p:spPr>
      </p:pic>
      <p:pic>
        <p:nvPicPr>
          <p:cNvPr id="14" name="Imagen 13">
            <a:extLst>
              <a:ext uri="{FF2B5EF4-FFF2-40B4-BE49-F238E27FC236}">
                <a16:creationId xmlns:a16="http://schemas.microsoft.com/office/drawing/2014/main" id="{F6E9BE04-3A6C-892B-CDCB-FED4134902BE}"/>
              </a:ext>
            </a:extLst>
          </p:cNvPr>
          <p:cNvPicPr>
            <a:picLocks noChangeAspect="1"/>
          </p:cNvPicPr>
          <p:nvPr/>
        </p:nvPicPr>
        <p:blipFill>
          <a:blip r:embed="rId8"/>
          <a:stretch>
            <a:fillRect/>
          </a:stretch>
        </p:blipFill>
        <p:spPr>
          <a:xfrm>
            <a:off x="2843703" y="3555000"/>
            <a:ext cx="2729670" cy="2160000"/>
          </a:xfrm>
          <a:prstGeom prst="rect">
            <a:avLst/>
          </a:prstGeom>
        </p:spPr>
      </p:pic>
      <p:pic>
        <p:nvPicPr>
          <p:cNvPr id="19" name="Imagen 18">
            <a:extLst>
              <a:ext uri="{FF2B5EF4-FFF2-40B4-BE49-F238E27FC236}">
                <a16:creationId xmlns:a16="http://schemas.microsoft.com/office/drawing/2014/main" id="{4B118D86-820A-7DEB-3856-E7D62688A6FE}"/>
              </a:ext>
            </a:extLst>
          </p:cNvPr>
          <p:cNvPicPr>
            <a:picLocks noChangeAspect="1"/>
          </p:cNvPicPr>
          <p:nvPr/>
        </p:nvPicPr>
        <p:blipFill>
          <a:blip r:embed="rId9"/>
          <a:stretch>
            <a:fillRect/>
          </a:stretch>
        </p:blipFill>
        <p:spPr>
          <a:xfrm>
            <a:off x="5670895" y="1350015"/>
            <a:ext cx="2691692" cy="2160000"/>
          </a:xfrm>
          <a:prstGeom prst="rect">
            <a:avLst/>
          </a:prstGeom>
        </p:spPr>
      </p:pic>
      <p:pic>
        <p:nvPicPr>
          <p:cNvPr id="21" name="Imagen 20">
            <a:extLst>
              <a:ext uri="{FF2B5EF4-FFF2-40B4-BE49-F238E27FC236}">
                <a16:creationId xmlns:a16="http://schemas.microsoft.com/office/drawing/2014/main" id="{6922A48E-8F14-1C8A-2291-80292FB63A79}"/>
              </a:ext>
            </a:extLst>
          </p:cNvPr>
          <p:cNvPicPr>
            <a:picLocks noChangeAspect="1"/>
          </p:cNvPicPr>
          <p:nvPr/>
        </p:nvPicPr>
        <p:blipFill>
          <a:blip r:embed="rId10"/>
          <a:stretch>
            <a:fillRect/>
          </a:stretch>
        </p:blipFill>
        <p:spPr>
          <a:xfrm>
            <a:off x="2914633" y="1337315"/>
            <a:ext cx="2691692" cy="2160000"/>
          </a:xfrm>
          <a:prstGeom prst="rect">
            <a:avLst/>
          </a:prstGeom>
        </p:spPr>
      </p:pic>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EE24892-12C0-A21F-B193-3B59ABA45CFE}"/>
                  </a:ext>
                </a:extLst>
              </p:cNvPr>
              <p:cNvSpPr txBox="1"/>
              <p:nvPr/>
            </p:nvSpPr>
            <p:spPr>
              <a:xfrm>
                <a:off x="8451955" y="2309686"/>
                <a:ext cx="3435245"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In this case, I used two MZIs with delay imbalance. One has </a:t>
                </a:r>
                <a14:m>
                  <m:oMath xmlns:m="http://schemas.openxmlformats.org/officeDocument/2006/math">
                    <m:sSub>
                      <m:sSubPr>
                        <m:ctrlPr>
                          <a:rPr lang="es-ES" sz="1200" b="0" i="1" smtClean="0">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𝐿</m:t>
                        </m:r>
                      </m:e>
                      <m:sub>
                        <m:r>
                          <a:rPr lang="es-ES" sz="1200" b="0" i="1" smtClean="0">
                            <a:latin typeface="Cambria Math" panose="02040503050406030204" pitchFamily="18" charset="0"/>
                            <a:cs typeface="Arial" panose="020B0604020202020204" pitchFamily="34" charset="0"/>
                          </a:rPr>
                          <m:t>𝑢</m:t>
                        </m:r>
                      </m:sub>
                    </m:sSub>
                    <m:r>
                      <a:rPr lang="es-ES" sz="1200" b="0" i="1" smtClean="0">
                        <a:latin typeface="Cambria Math" panose="02040503050406030204" pitchFamily="18" charset="0"/>
                        <a:cs typeface="Arial" panose="020B0604020202020204" pitchFamily="34" charset="0"/>
                      </a:rPr>
                      <m:t>=5 </m:t>
                    </m:r>
                    <m:r>
                      <a:rPr lang="es-ES" sz="1200" b="0" i="1" smtClean="0">
                        <a:latin typeface="Cambria Math" panose="02040503050406030204" pitchFamily="18" charset="0"/>
                        <a:ea typeface="Cambria Math" panose="02040503050406030204" pitchFamily="18" charset="0"/>
                        <a:cs typeface="Arial" panose="020B0604020202020204" pitchFamily="34" charset="0"/>
                      </a:rPr>
                      <m:t>𝜇</m:t>
                    </m:r>
                    <m:r>
                      <a:rPr lang="es-ES" sz="1200" b="0" i="1" smtClean="0">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 and </a:t>
                </a:r>
                <a14:m>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𝐿</m:t>
                        </m:r>
                      </m:e>
                      <m:sub>
                        <m:r>
                          <a:rPr lang="es-ES" sz="1200" b="0" i="1" smtClean="0">
                            <a:latin typeface="Cambria Math" panose="02040503050406030204" pitchFamily="18" charset="0"/>
                            <a:cs typeface="Arial" panose="020B0604020202020204" pitchFamily="34" charset="0"/>
                          </a:rPr>
                          <m:t>𝑑</m:t>
                        </m:r>
                      </m:sub>
                    </m:sSub>
                    <m:r>
                      <a:rPr lang="es-ES" sz="1200" i="1">
                        <a:latin typeface="Cambria Math" panose="02040503050406030204" pitchFamily="18" charset="0"/>
                        <a:cs typeface="Arial" panose="020B0604020202020204" pitchFamily="34" charset="0"/>
                      </a:rPr>
                      <m:t>=</m:t>
                    </m:r>
                    <m:r>
                      <a:rPr lang="es-ES" sz="1200" b="0" i="1" smtClean="0">
                        <a:latin typeface="Cambria Math" panose="02040503050406030204" pitchFamily="18" charset="0"/>
                        <a:cs typeface="Arial" panose="020B0604020202020204" pitchFamily="34" charset="0"/>
                      </a:rPr>
                      <m:t>2</m:t>
                    </m:r>
                    <m:r>
                      <a:rPr lang="es-ES" sz="1200" i="1">
                        <a:latin typeface="Cambria Math" panose="02040503050406030204" pitchFamily="18" charset="0"/>
                        <a:cs typeface="Arial" panose="020B0604020202020204" pitchFamily="34" charset="0"/>
                      </a:rPr>
                      <m:t>5 </m:t>
                    </m:r>
                    <m:r>
                      <a:rPr lang="es-ES" sz="1200" i="1">
                        <a:latin typeface="Cambria Math" panose="02040503050406030204" pitchFamily="18" charset="0"/>
                        <a:ea typeface="Cambria Math" panose="02040503050406030204" pitchFamily="18" charset="0"/>
                        <a:cs typeface="Arial" panose="020B0604020202020204" pitchFamily="34" charset="0"/>
                      </a:rPr>
                      <m:t>𝜇</m:t>
                    </m:r>
                    <m:r>
                      <a:rPr lang="es-ES" sz="1200" i="1">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 while the other has</a:t>
                </a:r>
                <a14:m>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b="0" i="1" smtClean="0">
                            <a:latin typeface="Cambria Math" panose="02040503050406030204" pitchFamily="18" charset="0"/>
                            <a:cs typeface="Arial" panose="020B0604020202020204" pitchFamily="34" charset="0"/>
                          </a:rPr>
                          <m:t> </m:t>
                        </m:r>
                        <m:r>
                          <a:rPr lang="es-ES" sz="1200" i="1">
                            <a:latin typeface="Cambria Math" panose="02040503050406030204" pitchFamily="18" charset="0"/>
                            <a:cs typeface="Arial" panose="020B0604020202020204" pitchFamily="34" charset="0"/>
                          </a:rPr>
                          <m:t>𝐿</m:t>
                        </m:r>
                      </m:e>
                      <m:sub>
                        <m:r>
                          <a:rPr lang="es-ES" sz="1200" i="1">
                            <a:latin typeface="Cambria Math" panose="02040503050406030204" pitchFamily="18" charset="0"/>
                            <a:cs typeface="Arial" panose="020B0604020202020204" pitchFamily="34" charset="0"/>
                          </a:rPr>
                          <m:t>𝑢</m:t>
                        </m:r>
                      </m:sub>
                    </m:sSub>
                    <m:r>
                      <a:rPr lang="es-ES" sz="1200" i="1">
                        <a:latin typeface="Cambria Math" panose="02040503050406030204" pitchFamily="18" charset="0"/>
                        <a:cs typeface="Arial" panose="020B0604020202020204" pitchFamily="34" charset="0"/>
                      </a:rPr>
                      <m:t>=</m:t>
                    </m:r>
                    <m:r>
                      <a:rPr lang="es-ES" sz="1200" b="0" i="1" smtClean="0">
                        <a:latin typeface="Cambria Math" panose="02040503050406030204" pitchFamily="18" charset="0"/>
                        <a:cs typeface="Arial" panose="020B0604020202020204" pitchFamily="34" charset="0"/>
                      </a:rPr>
                      <m:t>2</m:t>
                    </m:r>
                    <m:r>
                      <a:rPr lang="es-ES" sz="1200" i="1">
                        <a:latin typeface="Cambria Math" panose="02040503050406030204" pitchFamily="18" charset="0"/>
                        <a:cs typeface="Arial" panose="020B0604020202020204" pitchFamily="34" charset="0"/>
                      </a:rPr>
                      <m:t>5 </m:t>
                    </m:r>
                    <m:r>
                      <a:rPr lang="es-ES" sz="1200" i="1">
                        <a:latin typeface="Cambria Math" panose="02040503050406030204" pitchFamily="18" charset="0"/>
                        <a:ea typeface="Cambria Math" panose="02040503050406030204" pitchFamily="18" charset="0"/>
                        <a:cs typeface="Arial" panose="020B0604020202020204" pitchFamily="34" charset="0"/>
                      </a:rPr>
                      <m:t>𝜇</m:t>
                    </m:r>
                    <m:r>
                      <a:rPr lang="es-ES" sz="1200" i="1">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 and </a:t>
                </a:r>
                <a14:m>
                  <m:oMath xmlns:m="http://schemas.openxmlformats.org/officeDocument/2006/math">
                    <m:sSub>
                      <m:sSubPr>
                        <m:ctrlPr>
                          <a:rPr lang="es-ES" sz="1200" i="1">
                            <a:latin typeface="Cambria Math" panose="02040503050406030204" pitchFamily="18" charset="0"/>
                            <a:cs typeface="Arial" panose="020B0604020202020204" pitchFamily="34" charset="0"/>
                          </a:rPr>
                        </m:ctrlPr>
                      </m:sSubPr>
                      <m:e>
                        <m:r>
                          <a:rPr lang="es-ES" sz="1200" i="1">
                            <a:latin typeface="Cambria Math" panose="02040503050406030204" pitchFamily="18" charset="0"/>
                            <a:cs typeface="Arial" panose="020B0604020202020204" pitchFamily="34" charset="0"/>
                          </a:rPr>
                          <m:t>𝐿</m:t>
                        </m:r>
                      </m:e>
                      <m:sub>
                        <m:r>
                          <a:rPr lang="es-ES" sz="1200" b="0" i="1" smtClean="0">
                            <a:latin typeface="Cambria Math" panose="02040503050406030204" pitchFamily="18" charset="0"/>
                            <a:cs typeface="Arial" panose="020B0604020202020204" pitchFamily="34" charset="0"/>
                          </a:rPr>
                          <m:t>𝑑</m:t>
                        </m:r>
                      </m:sub>
                    </m:sSub>
                    <m:r>
                      <a:rPr lang="es-ES" sz="1200" i="1">
                        <a:latin typeface="Cambria Math" panose="02040503050406030204" pitchFamily="18" charset="0"/>
                        <a:cs typeface="Arial" panose="020B0604020202020204" pitchFamily="34" charset="0"/>
                      </a:rPr>
                      <m:t>=5 </m:t>
                    </m:r>
                    <m:r>
                      <a:rPr lang="es-ES" sz="1200" i="1">
                        <a:latin typeface="Cambria Math" panose="02040503050406030204" pitchFamily="18" charset="0"/>
                        <a:ea typeface="Cambria Math" panose="02040503050406030204" pitchFamily="18" charset="0"/>
                        <a:cs typeface="Arial" panose="020B0604020202020204" pitchFamily="34" charset="0"/>
                      </a:rPr>
                      <m:t>𝜇</m:t>
                    </m:r>
                    <m:r>
                      <a:rPr lang="es-ES" sz="1200" i="1">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 In the previous case, shown in slide 5, the response of MZI 2 could be observed, where H22​ had one maximum and two minima.</a:t>
                </a:r>
              </a:p>
            </p:txBody>
          </p:sp>
        </mc:Choice>
        <mc:Fallback xmlns="">
          <p:sp>
            <p:nvSpPr>
              <p:cNvPr id="22" name="CuadroTexto 21">
                <a:extLst>
                  <a:ext uri="{FF2B5EF4-FFF2-40B4-BE49-F238E27FC236}">
                    <a16:creationId xmlns:a16="http://schemas.microsoft.com/office/drawing/2014/main" id="{AEE24892-12C0-A21F-B193-3B59ABA45CFE}"/>
                  </a:ext>
                </a:extLst>
              </p:cNvPr>
              <p:cNvSpPr txBox="1">
                <a:spLocks noRot="1" noChangeAspect="1" noMove="1" noResize="1" noEditPoints="1" noAdjustHandles="1" noChangeArrowheads="1" noChangeShapeType="1" noTextEdit="1"/>
              </p:cNvSpPr>
              <p:nvPr/>
            </p:nvSpPr>
            <p:spPr>
              <a:xfrm>
                <a:off x="8451955" y="2309686"/>
                <a:ext cx="3435245" cy="1200329"/>
              </a:xfrm>
              <a:prstGeom prst="rect">
                <a:avLst/>
              </a:prstGeom>
              <a:blipFill>
                <a:blip r:embed="rId11"/>
                <a:stretch>
                  <a:fillRect b="-990"/>
                </a:stretch>
              </a:blipFill>
              <a:ln w="28575">
                <a:solidFill>
                  <a:srgbClr val="E0700D"/>
                </a:solidFill>
              </a:ln>
            </p:spPr>
            <p:txBody>
              <a:bodyPr/>
              <a:lstStyle/>
              <a:p>
                <a:r>
                  <a:rPr lang="es-CO">
                    <a:noFill/>
                  </a:rPr>
                  <a:t> </a:t>
                </a:r>
              </a:p>
            </p:txBody>
          </p:sp>
        </mc:Fallback>
      </mc:AlternateContent>
    </p:spTree>
    <p:extLst>
      <p:ext uri="{BB962C8B-B14F-4D97-AF65-F5344CB8AC3E}">
        <p14:creationId xmlns:p14="http://schemas.microsoft.com/office/powerpoint/2010/main" val="192398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14</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9625</TotalTime>
  <Words>2658</Words>
  <Application>Microsoft Office PowerPoint</Application>
  <PresentationFormat>Panorámica</PresentationFormat>
  <Paragraphs>219</Paragraphs>
  <Slides>14</Slides>
  <Notes>11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14</vt:i4>
      </vt:variant>
    </vt:vector>
  </HeadingPairs>
  <TitlesOfParts>
    <vt:vector size="22" baseType="lpstr">
      <vt:lpstr>Aptos</vt:lpstr>
      <vt:lpstr>Arial</vt:lpstr>
      <vt:lpstr>Calibri</vt:lpstr>
      <vt:lpstr>Cambria Math</vt:lpstr>
      <vt:lpstr>Courier New</vt:lpstr>
      <vt:lpstr>Lucida Sans</vt:lpstr>
      <vt:lpstr>Wingdings</vt:lpstr>
      <vt:lpstr>Office Theme</vt:lpstr>
      <vt:lpstr>Presentación de PowerPoint</vt:lpstr>
      <vt:lpstr>Instructions General</vt:lpstr>
      <vt:lpstr>ASSESSMENT #1 – Recap from theory – Balanced MZI  </vt:lpstr>
      <vt:lpstr>ASSESSMENT #1 – Recap from theory – Phase Imbalance MZI </vt:lpstr>
      <vt:lpstr>ASSESSMENT #1 – Recap from theory – Delay Imbalance MZI </vt:lpstr>
      <vt:lpstr>ASSESSMENT #1 – Recap from theory – Delay Imbalance MZI </vt:lpstr>
      <vt:lpstr>ASSESSMENT #1 – Recap from theory – Amplitude Imbalance MZI </vt:lpstr>
      <vt:lpstr>ASSESSMENT #2 – Recap from theory – Calculation of ΔL  </vt:lpstr>
      <vt:lpstr>ASSESSMENT #2 – Recap from theory – Calculation of ΔL  </vt:lpstr>
      <vt:lpstr>ASSESSMENT #3 – SAX implementation  </vt:lpstr>
      <vt:lpstr>Extra assessments </vt:lpstr>
      <vt:lpstr>Extra assessments </vt:lpstr>
      <vt:lpstr>Extra assessments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Paula Daniela Ortiz Cuervo</cp:lastModifiedBy>
  <cp:revision>31</cp:revision>
  <dcterms:created xsi:type="dcterms:W3CDTF">2025-01-27T02:46:57Z</dcterms:created>
  <dcterms:modified xsi:type="dcterms:W3CDTF">2026-03-16T20:39:12Z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